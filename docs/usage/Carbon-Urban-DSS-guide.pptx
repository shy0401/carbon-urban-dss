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Carbon Urban DSS는 공공데이터로 도시의 에너지와 운영 탄소를 500m 격자 단위로 보고, 개발 계획과 감축 노력을 계산하는 의사결정 지원 도구입니다. 오른쪽은 지도 분석의 첫 화면(전국)입니다.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일을 합니다. 보기, 계산, 기록. 그리고 네 가지 원칙을 지킵니다. 특히 자료가 없는 곳을 0으로 채우지 않는 것이 이 도구의 가장 중요한 규칙입니다.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Desktop을 켜고 바탕화면 실행 파일을 누르면 필요한 서비스가 모두 뜹니다. 같은 PC에서는 localhost:5173, 다른 기기에서는 외부 주소와 비밀번호로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메뉴는 10개입니다. 위쪽 표제란은 지금 보고 있는 범위를 알려 주고, 오른쪽 선택 상자에서 시·도, 시·군·구, 분석연도를 고르면 모든 화면에 함께 적용됩니다.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 분석은 다섯 걸음입니다. 전국에서 시·도를 고르고, 시·도 안의 시·군·구를 비교하고, 필요하면 시·도 전체 500m 격자를 보고, 시·군·구 지도에서 격자별 지표를 보고, 마지막으로 읍면동 단위로 모아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화면은 전국입니다. 시·도를 지도에서 누르거나 왼쪽 메뉴에서 고르면 됩니다. 색은 전국 어디에나 있는 자료만 씁니다. SGIS 인구·가구, 500m 격자 통계, K-apt 단지 목록, 한전 시군구별 전력판매량, 온실가스종합정보센터 지역 인벤토리입니다.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전북을 고른 모습입니다. 인구 증감률로 보면 완주군은 늘고 부안·익산은 줄었습니다. 왼쪽 목록의 점은 그 시·군·구에 어느 수준의 자료가 있는지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수원시를 고른 모습입니다. 수원은 상세 자료가 있어 K-apt 359단지, 건축HUB 1만 5천 지번의 에너지 관측이 있습니다. 지도 열기를 누르면 3단계 시·군·구 지도로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머리의 선택 상자로 전국 어디든 고를 수 있습니다. 아직 지도가 없는 곳은 고르는 순간 전국 공통 자료로 기본 지도를 만들고, 끝나면 보고 있던 화면이 스스로 다시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경기도 전체 500m 격자입니다. 격자마다 SGIS 500m 공식 통계가 붙습니다. 비밀보호 때문에 작은 값은 0 또는 5로 바뀌어 있고 잡음이 있다는 점을 범례와 상세에 적어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전주시 지도입니다. 지표는 10개 묶음 36개이고, 격자 색은 한 번에 하나만 칠합니다. 빗금 격자는 그 지표를 계산할 자료가 없는 곳이지 0이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격자를 누르면 오른쪽 상세가 열립니다. 이 격자는 2000년 1만 2천여 명에서 2024년 7천여 명으로 줄었습니다. 연도별 값 표에서 "없음"은 그해 통계가 없다는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읍면동을 고르면 격자 값을 겹친 면적 비율로 동에 모읍니다. 합계 지표는 값 곱하기 비율의 합, 비율 지표는 가중 평균입니다. 덮음이 낮으면 합계가 작게 나온다는 점을 함께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지금 고른 격자의 핵심 지표입니다. 값마다 산식과 근거 범위가 아래에 붙습니다. 분석 화면은 기상과 에너지의 관계, 인구, 용도지역을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지역 시뮬레이션은 동이나 개발 예정지 같은 구역 단위로 봅니다. 과거와 현재, 개발 전후 영향, 그리고 목표 감축률을 넣었을 때 필요한 노력을 계산합니다.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선택 격자에 계획안을 넣어 에너지와 탄소를 계산합니다. 3D 배치에서는 기존 건물과 계획 블록을 함께 보고 그림자를 확인하며, 법적 상한과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화면은 추정이 얼마나 맞는지 공간 교차검증으로 보여 줍니다. 검토 보고서는 계획안을 비교하는 한국어 보고서이며 근거 해시로 같은 결과를 다시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수집 데이터 화면에서 빠진 자료를 한 번에 받습니다. 호출 한도가 있는 자료는 다음 날 자동으로 이어 받습니다. 전국 지역 화면에서는 지역마다 상세 자료를 모읍니다.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값을 읽을 때는 배지를 먼저 보세요. 관측, 계산, 추정, 시나리오, 대체, 자료 없음 여섯 가지입니다. 자료 없음은 0이 아니라는 점이 가장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전국으로 되는 것은 인구·주택·공동주택 지표와 시·군·구 단위 전력 판매량·공식 온실가스입니다. 건물·격자 단위 에너지와 탄소는 상세 자료를 모은 전주와 수원에만 있고, 완주군을 모으는 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한전 시군구별 전력판매량, 지역 온실가스 인벤토리, 도시가스 판매량, 연도별 전력 배출계수는 받아서 전국 지도에 붙였습니다. 남은 것은 SGIS 500m 빠진 블록 재신청과 건물·지적 전국 파일, K-apt 한도 상향입니다.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 안의 사용 방법 메뉴와 GitHub README, docs/USAGE.md에 같은 내용을 더 자세히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C7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안내 · 2026-09-29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4E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시·도에서 500m 격자까지,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4E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공공데이터로 보는 도시 에너지·탄소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4E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지원 도구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9410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→ 시·도 → 시·군·구 → 읍면동 → 500m 격자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453128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453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507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계획안·개발 전후·목표 감축 노력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20056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50200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5074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출처·산식이 붙은 검토 보고서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C7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선도소프트 캡스톤 · 화면은 PC에서 실제로 찍은 모습입니다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914400"/>
            <a:ext cx="5943600" cy="3714750"/>
          </a:xfrm>
          <a:prstGeom prst="rect">
            <a:avLst/>
          </a:prstGeom>
          <a:solidFill>
            <a:srgbClr val="FFFFFF"/>
          </a:solidFill>
          <a:ln w="12700">
            <a:solidFill>
              <a:srgbClr val="3E5C5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전국 지도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932688"/>
            <a:ext cx="5907024" cy="3691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 도구인가요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" cy="822960"/>
          </a:xfrm>
          <a:prstGeom prst="ellipse">
            <a:avLst/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48132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어디든 지도로 비교합니다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83664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시·도와 시·군·구를 인구·주택·공동주택 지표로 비교하고, 시·군·구 안에서는 500m 격자와 읍면동으로 에너지·탄소·건물·용도지역을 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822960" cy="822960"/>
          </a:xfrm>
          <a:prstGeom prst="ellipse">
            <a:avLst/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44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96265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계획과 목표를 숫자로 확인합니다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36499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층수·동수·세대로 계획안의 에너지·탄소를 계산하고, 구역의 개발 전후 변화와 목표 감축률에 필요한 효율 개선·재생에너지 양을 구합니다.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425696"/>
            <a:ext cx="822960" cy="822960"/>
          </a:xfrm>
          <a:prstGeom prst="ellipse">
            <a:avLst/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4256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44398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붙은 보고서로 남깁니다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8463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계획안 비교와 지역 검토를 한국어 보고서로 만들고 마크다운·PDF로 내려받습니다. 모든 값에 출처와 산식이 붙습니다.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1463040"/>
            <a:ext cx="4050792" cy="4663440"/>
          </a:xfrm>
          <a:prstGeom prst="roundRect">
            <a:avLst>
              <a:gd name="adj" fmla="val 1806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지키는 원칙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01000" y="2240280"/>
            <a:ext cx="292608" cy="29260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01000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2402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실측·계산·추정·시나리오를 나눕니다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5694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값마다 근거 유형 배지가 붙습니다.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01000" y="3182112"/>
            <a:ext cx="292608" cy="29260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0100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31821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값은 0이 아닙니다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35112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빗금과 "자료 없음"으로, 그 까닭과 함께 보여 줍니다.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01000" y="4123944"/>
            <a:ext cx="292608" cy="29260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0100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1239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출처와 산식을 붙입니다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44531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범례·상세·보고서에 같은 설명이 나옵니다.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01000" y="5065776"/>
            <a:ext cx="292608" cy="29260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0100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0657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단계 1차 추정입니다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5394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적합성이나 넷제로 달성을 판정하지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켜고 접속하기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Desktop 켜기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PC에서 Docker Desktop을 먼저 켭니다. 첫 실행은 1~2분 걸립니다.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26060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79392" y="150876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178308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3712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실행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8346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바탕화면의 "Carbon Urban DSS 서버 실행"을 두 번 누릅니다. DB·API·수집 작업자·화면·로컬 AI·외부 접속 터널을 차례로 준비하고 브라우저를 엽니다.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60604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01584" y="150876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78308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75904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8346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PC: http://localhost:5173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기기: 런처가 만든 외부 주소 + 비밀번호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(주소 data/deployment/public-url.txt)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6EBDD"/>
          </a:solidFill>
          <a:ln w="12700">
            <a:solidFill>
              <a:srgbClr val="F6EB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77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 둘 점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13892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주소는 PC와 Docker가 켜져 있는 동안만 열리고, 런처를 다시 실행하면 바뀔 수 있습니다.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수집(특히 호출 한도가 있는 K-apt·건축HUB)은 PC에서 계속 돌아갑니다. 한도에 걸리면 다음 날 00:20에 스스로 이어 받습니다.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기능이 보이지 않으면 런처를 다시 실행하세요(새 코드로 다시 빌드합니다).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메뉴 10개와 위쪽 표제란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71600"/>
            <a:ext cx="11311128" cy="111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표제란과 지역 선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11274552" cy="10812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5877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표제란: 분석 지역 · 연도 · 격자 · 선택 격자 · 최근 수집일 · 모드   |   선택 상자: 시·도 → 시·군·구 → 분석연도 (모든 화면에 함께 적용)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1363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지역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31546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시·군·구 개요와 지역 준비·상세 자료 수집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44768" y="301752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7648" y="31363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973568" y="31546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격자의 관측 에너지·전력 탄소·도시 형태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675888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7947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분석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3813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→ 시·도 → 시·군·구 → 읍면동 → 500m 격자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44768" y="3675888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27648" y="37947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973568" y="3813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난방도일과 월별 에너지, 행정동 인구, 용도지역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334256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44531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286000" y="4471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모델의 공간 교차검증과 저장된 검증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144768" y="4334256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27648" y="44531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시뮬레이션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973568" y="4471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구역의 과거·현재, 개발 전후, 목표 감축 노력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4992624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51114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286000" y="51297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계획안 계산, 최적안 탐색, 3D 배치·일조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144768" y="4992624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27648" y="51114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데이터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973568" y="51297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자료 전부 수집, 출처 상태, 파일 업로드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5650992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76986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보고서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286000" y="5788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계획안 최대 3개 비교 보고서, 내려받기·인쇄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144768" y="5650992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27648" y="576986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방법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973568" y="5788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사용법, 지표·레이어 설명, 문제 해결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분석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전국에서 500m 격자까지, 다섯 걸음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057400" cy="2514600"/>
          </a:xfrm>
          <a:prstGeom prst="roundRect">
            <a:avLst>
              <a:gd name="adj" fmla="val 4444"/>
            </a:avLst>
          </a:prstGeom>
          <a:solidFill>
            <a:srgbClr val="1F3A33"/>
          </a:solidFill>
          <a:ln w="9525">
            <a:solidFill>
              <a:srgbClr val="1F3A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4E7A6C"/>
          </a:solidFill>
          <a:ln w="12700">
            <a:solidFill>
              <a:srgbClr val="4E7A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A9C7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16곳 비교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지도나 메뉴에서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시·도를 고릅니다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6517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61488" y="1600200"/>
            <a:ext cx="2057400" cy="2514600"/>
          </a:xfrm>
          <a:prstGeom prst="roundRect">
            <a:avLst>
              <a:gd name="adj" fmla="val 4444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0088" y="182880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008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시·군·구 비교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시·도의 시·군·구가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지표로 칠해집니다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18888" y="26517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65776" y="1600200"/>
            <a:ext cx="2057400" cy="2514600"/>
          </a:xfrm>
          <a:prstGeom prst="roundRect">
            <a:avLst>
              <a:gd name="adj" fmla="val 4444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94376" y="182880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94376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94376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격자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94376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전체 500m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294376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SGIS 500m 격자로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전체를 봅니다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23176" y="26517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370064" y="1600200"/>
            <a:ext cx="2057400" cy="2514600"/>
          </a:xfrm>
          <a:prstGeom prst="roundRect">
            <a:avLst>
              <a:gd name="adj" fmla="val 4444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98664" y="182880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98664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598664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시·군·구 지도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598664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500m 분석 격자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598664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에너지·탄소·건물·용도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등 36개 지표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427464" y="26517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674352" y="1600200"/>
            <a:ext cx="2057400" cy="2514600"/>
          </a:xfrm>
          <a:prstGeom prst="roundRect">
            <a:avLst>
              <a:gd name="adj" fmla="val 4444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02952" y="1828800"/>
            <a:ext cx="457200" cy="4572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0295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902952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읍면동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902952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 단위 합계·비교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902952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지표를 동으로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모으고 동끼리 비교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4480560"/>
            <a:ext cx="11274552" cy="1325880"/>
          </a:xfrm>
          <a:prstGeom prst="roundRect">
            <a:avLst>
              <a:gd name="adj" fmla="val 551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4663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주소로 바로 열기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501091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전국: /map   ·   시·도 고른 상태: /map?view=national&amp;sido=52   ·   시·군·구까지: /map?view=national&amp;sido=52&amp;sgg=52130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500m 격자: /map?view=province&amp;sido=41   ·   시·군·구 지도: /map?view=region (머리에서 고른 지역)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분석 ① 전국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지도나 메뉴에서 시·도를 고릅니다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7534656" cy="48443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01-national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48077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46304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고르기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17922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지도에서 시·도를 누르거나 왼쪽 메뉴(도 / 특별시·광역시)에서 고릅니다. 지도 위 이름표도 누를 수 있습니다.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75320" y="2505456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5237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바꾸기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28346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"시·도 색"에서 인구·주택·단지와 전력(한전)·온실가스(GIR) 등 14개 지표 중 하나를 고릅니다.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3547872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3566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 읽기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87705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구간별 색과 곳 수, 빗금은 "빠진 블록·통계 없음"(0 아님). "정의·출처·활용"을 펼치면 설명이 나옵니다.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분석 ② 시·도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시·도의 시·군·구를 비교합니다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7534656" cy="48443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02-national-sido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48077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46304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요약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179222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위에 인구·밀도·증감률·단지 수와 상세 자료·기본 지도 지역 수가 나옵니다.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75320" y="2304288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322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시·군·구 순위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263347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지표 순서로 시·군·구가 나열됩니다. ● 상세 자료 ◐ 기본 지도 ○ 지도 없음.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3145536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31638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구간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4747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안 시·군·구끼리 나눈 구간입니다. 인구 증감률은 감소(초록)·증가(갈색)로 칠합니다.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75320" y="4169664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532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4187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시·군·구 누르기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732520" y="44988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지도나 목록에서 누르면 다음 장의 요약이 열립니다. 위쪽 "전국 ›"으로 돌아갑니다.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분석 ③ 시·군·구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요약을 보고 시·군·구 지도로 들어갑니다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7534656" cy="48443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03-national-sgg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48077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46304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공통 지표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179222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인구·가구·밀도, 500m 격자로 모은 증감률·주택·종사자, K-apt 단지 수.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75320" y="2322576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3408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관측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265176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K-apt 월별 에너지 단지 수와 건축HUB 건물 에너지 지번 수. 없으면 "상세 자료 수집"으로 모읍니다.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3364992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33832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열기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6941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"지도 열기 (읍면동 포함)"를 누르면 그 시·군·구가 분석 지역이 됩니다. 처음 여는 곳은 전국 자료로 몇 초 만에 기본 지도를 만듭니다.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바꾸기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화면에서든 시·도 → 시·군·구로 고릅니다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71600"/>
            <a:ext cx="7900416" cy="7907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머리의 시·도·시·군·구 선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863840" cy="754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331720"/>
            <a:ext cx="7863840" cy="1170432"/>
          </a:xfrm>
          <a:prstGeom prst="roundRect">
            <a:avLst>
              <a:gd name="adj" fmla="val 6250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532888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5146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시·군·구 목록 묶음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843784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자료(에너지·건물·용도지역) / 기본 지도(전국 공통 자료) / 지도 없음(처음 열면 몇 초)으로 나눠 보여 줍니다. "전국 지도에서 고르기"도 있습니다.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657600"/>
            <a:ext cx="7863840" cy="1170432"/>
          </a:xfrm>
          <a:prstGeom prst="roundRect">
            <a:avLst>
              <a:gd name="adj" fmla="val 6250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3858768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84048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지도가 없으면 먼저 만듭니다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169664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없는 곳을 고르면 머리 아래에 "지도를 만드는 중" 알림이 뜨고, 끝나면 멈췄던 화면이 스스로 다시 읽습니다. 여러 화면이 같은 요청 하나를 나눠 씁니다.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983480"/>
            <a:ext cx="7863840" cy="1170432"/>
          </a:xfrm>
          <a:prstGeom prst="roundRect">
            <a:avLst>
              <a:gd name="adj" fmla="val 6250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5184648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5193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51663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지도 지역 안내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5495544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에너지·탄소·건물·용도지역이 없는 곳은 분석 화면 위에 "값은 비어 있으며 0이 아님"을 알리고, 상세 자료 수집으로 이어 줍니다.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98280" y="1298448"/>
            <a:ext cx="2458869" cy="4956048"/>
          </a:xfrm>
          <a:prstGeom prst="roundRect">
            <a:avLst>
              <a:gd name="adj" fmla="val 5578"/>
            </a:avLst>
          </a:prstGeom>
          <a:solidFill>
            <a:srgbClr val="1C2622"/>
          </a:solidFill>
          <a:ln w="12700">
            <a:solidFill>
              <a:srgbClr val="1C262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1" descr="휴대폰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008" y="1353312"/>
            <a:ext cx="2239413" cy="4846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098280" y="6327648"/>
            <a:ext cx="24588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휴대폰에서도 같은 순서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분석 ④ 시·도 500m 격자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전체를 SGIS 500m 격자로 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7534656" cy="48443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04-province-grid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48077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46304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500m 격자 자체의 통계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17922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SGIS 자료제공 신청분(2000~2024): 인구·가구·주택·종사자와 2015년 대비 인구 증감률. 첫 지표는 500m 인구입니다.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75320" y="2505456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5237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1km 비율과 공동주택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28346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 이상·노후 주택·아파트 비율은 소속 1km 격자 값, K-apt 단지 수와 평균 사용승인연도는 격자 안에서 센 값.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3547872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3566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누르기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87705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격자의 시·군·구 지도(읍면동 포함)로 들어갑니다. 제주는 이 화면에서만 뺍니다.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분석 ⑤ 시·군·구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500m 분석 격자에 지표 36개와 레이어 8개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7534656" cy="48443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05-region-map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48077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75320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묶음 (격자 색은 한 번에 하나)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75320" y="1810512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18105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관측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030968" y="1810512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30968" y="18105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원단위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75320" y="2212848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22128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030968" y="2212848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30968" y="22128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전체 에너지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75320" y="2615184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261518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형태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030968" y="2615184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30968" y="261518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75320" y="3017520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301752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토지이용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030968" y="3017520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30968" y="301752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SGIS 500m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75320" y="3419856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41985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SGIS 1km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0030968" y="3419856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30968" y="341985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3931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426110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건물·공동주택 단지·용도지역·행정동 인구는 "겹쳐 보기"에서 한 번에 하나만 켭니다. 격자·경계선·읍면동 경계·배경지도는 따로 켜고 끕니다.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52303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누르기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8275320" y="55412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격자가 모든 화면의 선택 격자가 되고 오른쪽에 상세가 열립니다.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분석 ⑤ 격자 상세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격자의 지표와 2000~2024년 인구 변화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7534656" cy="48443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19-sgis500-detail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48077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46304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지표와 격자 지표 8개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17922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지표 값과 근거, 연간 전력·가스·원단위·탄소·건물 수·건폐율·용적률, 월별 관측, 기상.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75320" y="2505456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5237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SGIS 500m 격자 자체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283464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인구·가구·주택·종사자와 2015년 대비 증감. 연도별 인구 선과 13개 연도 값 표.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3364992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33832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비밀보호 표시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6941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 5 미만은 0·5, 사업체 3 미만은 0·3으로 바뀌고 그 이상은 ±7(±4) 잡음이 있습니다. "없음"은 통계 없음(0 아님).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분석 ⑥ 읍면동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지표를 행정동으로 모으고 동끼리 비교합니다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5522976" cy="35544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06-region-dong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517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27064" y="1353312"/>
            <a:ext cx="5522976" cy="35544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u07-dong-compare-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71600"/>
            <a:ext cx="5486400" cy="35178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읍면동 고르기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38581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왼쪽 "읍면동"에서 동을 고르면 경계가 굵어지고 밖은 옅어집니다. 공식 인구·가구와 지표를 동으로 모은 값이 나옵니다.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245352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동별 비교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245352" y="538581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"동별 비교"를 누르면 지금 지표로 행정동 순위가 나옵니다. "덮음"은 값 있는 격자가 덮는 동 면적 비율입니다.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· 분석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격자와 지역을 숫자로 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5522976" cy="35544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08-dashboard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517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27064" y="1353312"/>
            <a:ext cx="5522976" cy="35544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u09-analysis-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71600"/>
            <a:ext cx="5486400" cy="35178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38581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격자의 전력·가스·전력 탄소·원단위·건폐율·용적률 카드, 지역 전체 수집 합계, 월별 관측과 관측 범위(24개월 중 몇 달).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245352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245352" y="538581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난방도일과 월별 에너지의 관계, 행정동 인구, 격자 안 용도지역 면적, 포함된 출처. 해석 범위를 판단하는 화면입니다.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시뮬레이션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구역을 골라 과거·현재·개발 영향·감축 노력을 계산합니다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7534656" cy="48443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10-area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48077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75320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 고르는 방법 5가지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75320" y="1810512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18105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030968" y="1810512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30968" y="18105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(100~5,000m)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75320" y="2212848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22128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그리기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030968" y="2212848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30968" y="22128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용도지역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75320" y="2615184"/>
            <a:ext cx="1664208" cy="329184"/>
          </a:xfrm>
          <a:prstGeom prst="roundRect">
            <a:avLst>
              <a:gd name="adj" fmla="val 16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261518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격자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75320" y="315468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732520" y="3172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과거와 현재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34838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2015~2025 연도별 전력(관측·추정), 개발 이력, 기상·인구. 연도 슬라이더로 준공 단지를 봅니다.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275320" y="416052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732520" y="4178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전후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732520" y="44897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연도 앞뒤 1~5년 평균을 비교하고, 이 개발만의 연면적·전력 증가를 추정합니다.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75320" y="498348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75320" y="4992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732520" y="50017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감축 노력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8732520" y="53126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감축률을 넣으면 필요한 감축량, 효율 개선률, 재생에너지 상쇄량이 나옵니다. 지역 보고서로 저장합니다.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계획안을 계산하고 3D로 배치·일조를 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7534656" cy="48443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11-simulation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48077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46304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조건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17922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층수 빠른 설정(5~40층)이나 직접 입력: 대지·동수·건축면적·세대·인구·효율·태양광·녹지.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75320" y="246888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487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최적안 탐색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2798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세대수·인구를 만족하는 후보를 같은 조건에서 항상 같은 순서로 보여 줍니다.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75320" y="329184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3310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배치·일조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6210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공식 건물과 계획 블록을 같은 축척으로 세우고, 동지·춘분·하지 시각의 그림자와 닿는 건물 수를 봅니다.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75320" y="4297680"/>
            <a:ext cx="329184" cy="329184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532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4315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상한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732520" y="46268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 → 시행령 제84·85조 → 국토계획법 제79조 순서의 건폐율·용적률 상한과 비교합니다.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검토 보고서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추정의 신뢰도를 확인하고 결과를 남깁니다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5522976" cy="35544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12-model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517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27064" y="1353312"/>
            <a:ext cx="5522976" cy="35544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u14-reports-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71600"/>
            <a:ext cx="5486400" cy="35178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38581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전력·가스 원단위 모델을 2km 공간 블록 교차검증으로 평가합니다(nMAE·R²). 관측이 부족하면 성능을 만들지 않고 "학습 자료 부족"으로 표시합니다.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245352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보고서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245352" y="538581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연도·격자의 계획안을 최대 3개 골라 보고서를 만듭니다. 요약 → 대상지 → 현황 → 계획안 비교 → 유의사항 → 출처 순서, 마크다운·PDF.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수집 · 전국 지역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채우고 지역을 준비합니다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5522976" cy="35544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u13-data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517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27064" y="1353312"/>
            <a:ext cx="5522976" cy="35544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7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u15-regions-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71600"/>
            <a:ext cx="5486400" cy="35178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데이터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38581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"빠진 자료 전부 수집"으로 연도·자료별 빈칸을 한 번에 받습니다. 한도에 걸리면 00:20에 이어 받고, API로 못 받는 자료는 수동 자료 목록과 파일 업로드로 넣습니다.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245352" y="5074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지역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245352" y="538581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시·군·구 표와 지도, 전국 기초 자료 상태. 고른 지역의 "상세 자료 수집"은 격자 → 행정동 → 건물·용도지역 → 에너지 순서로 받습니다.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읽는 법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값에는 어디서 왔는지 표시가 붙습니다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공공기관이 측정·공표한 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61104" y="14630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5ECF4"/>
          </a:solidFill>
          <a:ln w="12700">
            <a:solidFill>
              <a:srgbClr val="E5EC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9704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5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9704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관측값에 공식 계수·면적을 곱한 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14630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EBDA"/>
          </a:solidFill>
          <a:ln w="12700">
            <a:solidFill>
              <a:srgbClr val="F4EB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가정이 들어간 근사값 (차트 점선)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CE8F4"/>
          </a:solidFill>
          <a:ln w="12700">
            <a:solidFill>
              <a:srgbClr val="ECE8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4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계획안 입력에 따른 가정 결과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1104" y="2697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6EBDD"/>
          </a:solidFill>
          <a:ln w="12700">
            <a:solidFill>
              <a:srgbClr val="F6EB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9704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7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489704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자료가 없어 다른 출처를 쓴 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5008" y="2697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1F0EA"/>
          </a:solidFill>
          <a:ln w="12700">
            <a:solidFill>
              <a:srgbClr val="F1F0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3608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없음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계산하지 않음. 빗금·"—"·사유, 0 아님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알아 둘 규칙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80560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값은 12개월 모두 관측된 지번만 씁니다. 일부 달만 있는 지번은 빼고, 그 수를 함께 적습니다.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통계(인구·가구)는 격자로 나눠 배분하지 않습니다. 격자에는 SGIS 격자 통계를 따로 씁니다.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탄소는 그해 말까지 공표된 GIR 계수(2022~2024년 0.4781, 2025년 0.4541)를, 도시가스는 "가정" 계수(0.1826)를 따로 표시해 씁니다.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500m 합계는 파일이 있는 블록에 사는 사람이 99% 이상일 때만 보여 주고, 빠진 몫을 적습니다.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현황 (2026-09-30, PC 실측)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전국에 있는 자료와 지역에만 있는 자료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단위 시·군·구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24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 행정구역 20,560개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463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3,562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377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(SGIS 2024)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724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 17 · 시·군·구 252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463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22,543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377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K-apt 공동주택 단지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724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포함 전국 목록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1463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236만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377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SGIS 500m 격자 통계 행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2724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2000~2024, 2024년 19.6만 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E2EEE8"/>
          </a:solidFill>
          <a:ln w="12700">
            <a:solidFill>
              <a:srgbClr val="E2E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어디나 할 수 있는 분석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9319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인구·가구·밀도, 2015→2024 인구 증감, 주택·종사자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연령·노후 주택·아파트 비율 (1km 격자 2024)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판매량(한전 2015~2025)·온실가스(GIR 2010~2023)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시·군·구든 기본 지도(수 초), 조례 상한 160곳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333756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4F6F4"/>
          </a:solidFill>
          <a:ln w="9525">
            <a:solidFill>
              <a:srgbClr val="D9D7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자료가 있는 곳만 (전주시 · 수원시)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9319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 건물 에너지 (전주 2024~2025, 수원 2025)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K-apt 월별 에너지 (수원은 호출 한도로 이어 받는 중)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 13.4만 건, VWorld 건물·필지·용도지역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에너지·탄소 모델 학습과 검증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보충하면 전국 분석이 넓어지는 자료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931920"/>
                <a:gridCol w="651967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가능해지는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SGIS 500m 격자 통계 다시 신청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17개 블록(제주·강원 북부·서남해 섬 등 약 110만 명)과 다마 블록 사업체·종사자·주택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건물에너지 전국 파일 (전기·가스)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한도 없이 어느 시·군·구든 건물 에너지 (건축HUB, 전국 약 7,600만 행)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GIS건물통합정보·연속지적·용도지역 파일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없이 전국 상세 지도 (건물·필지·용도지역, V-World 시·도별 SHP)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K-apt API 호출 한도 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시·군·구 공동주택 에너지를 며칠 안에 (운영계정 신청)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도시가스 배출계수·열량 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가스 탄소의 가정 계수(0.1826) 교체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 승인 전력 배출계수 적용 여부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05B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2025-12-18 공표 (2023년 0.4173 · 21~23 평균 0.4330), 적용하면 2025년 전력 탄소 약 5~8% 감소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230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2026-09-30 받아 적용: 한전 시군구별 전력판매량(2015~2025), GIR 지역 온실가스 인벤토리(시·군·구 2010~2023), 가스공사 시·도 도시가스 판매량, 공표 회차별 전력 배출계수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자세한 목록과 링크: 앱 "수집 데이터 → 수동 자료", 저장소 docs/NATIONWIDE_DATA.md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사용 안내 · 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알아보기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4E7A6C"/>
          </a:solidFill>
          <a:ln w="12700">
            <a:solidFill>
              <a:srgbClr val="4E7A6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92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647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안의 "사용 방법"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30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C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/guide · 화면별 사용법, 지표 36개와 레이어 설명, 값 읽는 법, 문제 해결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411480" cy="411480"/>
          </a:xfrm>
          <a:prstGeom prst="ellipse">
            <a:avLst/>
          </a:prstGeom>
          <a:solidFill>
            <a:srgbClr val="4E7A6C"/>
          </a:solidFill>
          <a:ln w="12700">
            <a:solidFill>
              <a:srgbClr val="4E7A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523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README "사용 방법"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1181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C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github.com/shy0401/Carbon-Urban-DSS · 화면 사진과 순서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411480" cy="411480"/>
          </a:xfrm>
          <a:prstGeom prst="ellipse">
            <a:avLst/>
          </a:prstGeom>
          <a:solidFill>
            <a:srgbClr val="4E7A6C"/>
          </a:solidFill>
          <a:ln w="12700">
            <a:solidFill>
              <a:srgbClr val="4E7A6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398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자세한 사용 안내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1056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C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docs/USAGE.md · 이 발표 자료의 내용을 화면 사진과 함께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411480" cy="411480"/>
          </a:xfrm>
          <a:prstGeom prst="ellipse">
            <a:avLst/>
          </a:prstGeom>
          <a:solidFill>
            <a:srgbClr val="4E7A6C"/>
          </a:solidFill>
          <a:ln w="12700">
            <a:solidFill>
              <a:srgbClr val="4E7A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274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자료 현황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93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C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docs/NATIONWIDE_DATA.md · 있는 자료, 빠진 자료, 신청 방법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005840"/>
            <a:ext cx="5440680" cy="3400425"/>
          </a:xfrm>
          <a:prstGeom prst="rect">
            <a:avLst/>
          </a:prstGeom>
          <a:solidFill>
            <a:srgbClr val="FFFFFF"/>
          </a:solidFill>
          <a:ln w="12700">
            <a:solidFill>
              <a:srgbClr val="3E5C5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0" descr="사용 방법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1024128"/>
            <a:ext cx="5404104" cy="337756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09360" y="45262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C7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앱의 사용 방법 화면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Urban DSS 사용 안내</dc:title>
  <dc:subject>PptxGenJS Presentation</dc:subject>
  <dc:creator>Carbon Urban DSS 팀</dc:creator>
  <cp:lastModifiedBy>Carbon Urban DSS 팀</cp:lastModifiedBy>
  <cp:revision>1</cp:revision>
  <dcterms:created xsi:type="dcterms:W3CDTF">2026-09-30T09:50:27Z</dcterms:created>
  <dcterms:modified xsi:type="dcterms:W3CDTF">2026-09-30T09:50:27Z</dcterms:modified>
</cp:coreProperties>
</file>