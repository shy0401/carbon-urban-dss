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3.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4.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charts/chart5.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charts/chart6.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7.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C2622"/>
                </a:solidFill>
                <a:latin typeface="Malgun Gothic"/>
              </a:defRPr>
            </a:pPr>
            <a:r>
              <a:rPr sz="1250" b="0" i="0" u="none" strike="noStrike">
                <a:solidFill>
                  <a:srgbClr val="1C2622"/>
                </a:solidFill>
                <a:latin typeface="Malgun Gothic"/>
              </a:rPr>
              <a:t>연간 운영탄소 (tCO₂eq)</a:t>
            </a:r>
          </a:p>
        </c:rich>
      </c:tx>
      <c:layout/>
      <c:overlay val="0"/>
    </c:title>
    <c:autoTitleDeleted val="0"/>
    <c:plotArea>
      <c:layout/>
      <c:barChart>
        <c:barDir val="col"/>
        <c:grouping val="stacked"/>
        <c:varyColors val="0"/>
        <c:ser>
          <c:idx val="0"/>
          <c:order val="0"/>
          <c:tx>
            <c:strRef>
              <c:f>Sheet1!$B$1</c:f>
              <c:strCache>
                <c:ptCount val="1"/>
                <c:pt idx="0">
                  <c:v>전력 탄소</c:v>
                </c:pt>
              </c:strCache>
            </c:strRef>
          </c:tx>
          <c:spPr>
            <a:solidFill>
              <a:srgbClr val="1F7A55"/>
            </a:solidFill>
            <a:effectLst/>
          </c:spPr>
          <c:invertIfNegative val="0"/>
          <c:dLbls>
            <c:numFmt formatCode="#,##0" sourceLinked="0"/>
            <c:txPr>
              <a:bodyPr/>
              <a:lstStyle/>
              <a:p>
                <a:pPr>
                  <a:defRPr b="0" i="0" strike="noStrike" sz="1100" u="none">
                    <a:solidFill>
                      <a:srgbClr val="FFFFFF"/>
                    </a:solidFill>
                    <a:latin typeface="Malgun Gothic"/>
                  </a:defRPr>
                </a:pPr>
              </a:p>
            </c:txPr>
            <c:dLblPos val="ctr"/>
            <c:showLegendKey val="0"/>
            <c:showVal val="1"/>
            <c:showCatName val="0"/>
            <c:showSerName val="0"/>
            <c:showPercent val="0"/>
            <c:showBubbleSize val="0"/>
            <c:showLeaderLines val="0"/>
          </c:dLbls>
          <c:cat>
            <c:multiLvlStrRef>
              <c:f>Sheet1!$A$2:$A$4</c:f>
              <c:multiLvlStrCache>
                <c:ptCount val="3"/>
                <c:lvl>
                  <c:pt idx="0">
                    <c:v>A 일반</c:v>
                  </c:pt>
                  <c:pt idx="1">
                    <c:v>B 고효율</c:v>
                  </c:pt>
                  <c:pt idx="2">
                    <c:v>C 고효율+태양광</c:v>
                  </c:pt>
                </c:lvl>
              </c:multiLvlStrCache>
            </c:multiLvlStrRef>
          </c:cat>
          <c:val>
            <c:numRef>
              <c:f>Sheet1!$B$2:$B$4</c:f>
              <c:numCache>
                <c:formatCode>General</c:formatCode>
                <c:ptCount val="3"/>
                <c:pt idx="0">
                  <c:v>741</c:v>
                </c:pt>
                <c:pt idx="1">
                  <c:v>593</c:v>
                </c:pt>
                <c:pt idx="2">
                  <c:v>504</c:v>
                </c:pt>
              </c:numCache>
            </c:numRef>
          </c:val>
        </c:ser>
        <c:ser>
          <c:idx val="1"/>
          <c:order val="1"/>
          <c:tx>
            <c:strRef>
              <c:f>Sheet1!$C$1</c:f>
              <c:strCache>
                <c:ptCount val="1"/>
                <c:pt idx="0">
                  <c:v>가스 탄소(가정 계수)</c:v>
                </c:pt>
              </c:strCache>
            </c:strRef>
          </c:tx>
          <c:spPr>
            <a:solidFill>
              <a:srgbClr val="D9913A"/>
            </a:solidFill>
            <a:effectLst/>
          </c:spPr>
          <c:invertIfNegative val="0"/>
          <c:dLbls>
            <c:numFmt formatCode="#,##0" sourceLinked="0"/>
            <c:txPr>
              <a:bodyPr/>
              <a:lstStyle/>
              <a:p>
                <a:pPr>
                  <a:defRPr b="0" i="0" strike="noStrike" sz="1100" u="none">
                    <a:solidFill>
                      <a:srgbClr val="FFFFFF"/>
                    </a:solidFill>
                    <a:latin typeface="Malgun Gothic"/>
                  </a:defRPr>
                </a:pPr>
              </a:p>
            </c:txPr>
            <c:dLblPos val="ctr"/>
            <c:showLegendKey val="0"/>
            <c:showVal val="1"/>
            <c:showCatName val="0"/>
            <c:showSerName val="0"/>
            <c:showPercent val="0"/>
            <c:showBubbleSize val="0"/>
            <c:showLeaderLines val="0"/>
          </c:dLbls>
          <c:cat>
            <c:multiLvlStrRef>
              <c:f>Sheet1!$A$2:$A$4</c:f>
              <c:multiLvlStrCache>
                <c:ptCount val="3"/>
                <c:lvl>
                  <c:pt idx="0">
                    <c:v>A 일반</c:v>
                  </c:pt>
                  <c:pt idx="1">
                    <c:v>B 고효율</c:v>
                  </c:pt>
                  <c:pt idx="2">
                    <c:v>C 고효율+태양광</c:v>
                  </c:pt>
                </c:lvl>
              </c:multiLvlStrCache>
            </c:multiLvlStrRef>
          </c:cat>
          <c:val>
            <c:numRef>
              <c:f>Sheet1!$C$2:$C$4</c:f>
              <c:numCache>
                <c:formatCode>General</c:formatCode>
                <c:ptCount val="3"/>
                <c:pt idx="0">
                  <c:v>620</c:v>
                </c:pt>
                <c:pt idx="1">
                  <c:v>496</c:v>
                </c:pt>
                <c:pt idx="2">
                  <c:v>496</c:v>
                </c:pt>
              </c:numCache>
            </c:numRef>
          </c:val>
        </c:ser>
        <c:dLbls>
          <c:numFmt formatCode="#,##0" sourceLinked="0"/>
          <c:txPr>
            <a:bodyPr/>
            <a:lstStyle/>
            <a:p>
              <a:pPr>
                <a:defRPr b="0" i="0" strike="noStrike" sz="1100" u="none">
                  <a:solidFill>
                    <a:srgbClr val="FFFFFF"/>
                  </a:solidFill>
                  <a:latin typeface="Malgun Gothic"/>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05B55"/>
                </a:solidFill>
                <a:latin typeface="Malgun Gothic"/>
              </a:defRPr>
            </a:pPr>
            <a:endParaRPr lang="en-US"/>
          </a:p>
        </c:txPr>
        <c:crossAx val="2094734552"/>
        <c:crosses val="autoZero"/>
        <c:auto val="1"/>
        <c:lblAlgn val="ctr"/>
        <c:noMultiLvlLbl val="1"/>
      </c:catAx>
      <c:valAx>
        <c:axId val="2094734552"/>
        <c:scaling>
          <c:orientation val="minMax"/>
          <c:max val="1500"/>
          <c:min val="0"/>
        </c:scaling>
        <c:delete val="0"/>
        <c:axPos val="l"/>
        <c:majorGridlines>
          <c:spPr>
            <a:ln w="9525" cap="flat">
              <a:solidFill>
                <a:srgbClr val="E6E4D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46E"/>
                </a:solidFill>
                <a:latin typeface="Malgun Gothic"/>
              </a:defRPr>
            </a:pPr>
            <a:endParaRPr lang="en-US"/>
          </a:p>
        </c:txPr>
        <c:crossAx val="2094734554"/>
        <c:crosses val="autoZero"/>
        <c:crossBetween val="between"/>
        <c:majorUnit val="300"/>
      </c:valAx>
      <c:spPr>
        <a:noFill/>
        <a:ln>
          <a:noFill/>
        </a:ln>
        <a:effectLst/>
      </c:spPr>
    </c:plotArea>
    <c:legend>
      <c:legendPos val="b"/>
      <c:overlay val="0"/>
      <c:txPr>
        <a:bodyPr/>
        <a:lstStyle/>
        <a:p>
          <a:pPr>
            <a:defRPr sz="1050">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C2622"/>
                </a:solidFill>
                <a:latin typeface="Malgun Gothic"/>
              </a:defRPr>
            </a:pPr>
            <a:r>
              <a:rPr sz="1250" b="0" i="0" u="none" strike="noStrike">
                <a:solidFill>
                  <a:srgbClr val="1C2622"/>
                </a:solidFill>
                <a:latin typeface="Malgun Gothic"/>
              </a:rPr>
              <a:t>월별 수요 (MWh) · 연 전력 3.06GWh · 연 가스 6.37GWh</a:t>
            </a:r>
          </a:p>
        </c:rich>
      </c:tx>
      <c:layout/>
      <c:overlay val="0"/>
    </c:title>
    <c:autoTitleDeleted val="0"/>
    <c:plotArea>
      <c:layout/>
      <c:barChart>
        <c:barDir val="col"/>
        <c:grouping val="clustered"/>
        <c:varyColors val="0"/>
        <c:ser>
          <c:idx val="0"/>
          <c:order val="0"/>
          <c:tx>
            <c:strRef>
              <c:f>Sheet1!$B$1</c:f>
              <c:strCache>
                <c:ptCount val="1"/>
                <c:pt idx="0">
                  <c:v>전력</c:v>
                </c:pt>
              </c:strCache>
            </c:strRef>
          </c:tx>
          <c:spPr>
            <a:solidFill>
              <a:srgbClr val="1F7A55"/>
            </a:solidFill>
            <a:effectLst/>
          </c:spPr>
          <c:invertIfNegative val="0"/>
          <c:dLbls>
            <c:numFmt formatCode="#,##0" sourceLinked="0"/>
            <c:txPr>
              <a:bodyPr/>
              <a:lstStyle/>
              <a:p>
                <a:pPr>
                  <a:defRPr b="0" i="0" strike="noStrike" sz="1100" u="none">
                    <a:solidFill>
                      <a:srgbClr val="1C2622"/>
                    </a:solidFill>
                    <a:latin typeface="Malgun Gothic"/>
                  </a:defRPr>
                </a:pPr>
              </a:p>
            </c:txPr>
            <c:showLegendKey val="0"/>
            <c:showVal val="0"/>
            <c:showCatName val="0"/>
            <c:showSerName val="0"/>
            <c:showPercent val="0"/>
            <c:showBubbleSize val="0"/>
            <c:showLeaderLines val="0"/>
          </c:dLbls>
          <c:cat>
            <c:multiLvlStrRef>
              <c:f>Sheet1!$A$2:$A$13</c:f>
              <c:multiLvlStrCache>
                <c:ptCount val="12"/>
                <c:lvl>
                  <c:pt idx="0">
                    <c:v>1월</c:v>
                  </c:pt>
                  <c:pt idx="1">
                    <c:v>2월</c:v>
                  </c:pt>
                  <c:pt idx="2">
                    <c:v>3월</c:v>
                  </c:pt>
                  <c:pt idx="3">
                    <c:v>4월</c:v>
                  </c:pt>
                  <c:pt idx="4">
                    <c:v>5월</c:v>
                  </c:pt>
                  <c:pt idx="5">
                    <c:v>6월</c:v>
                  </c:pt>
                  <c:pt idx="6">
                    <c:v>7월</c:v>
                  </c:pt>
                  <c:pt idx="7">
                    <c:v>8월</c:v>
                  </c:pt>
                  <c:pt idx="8">
                    <c:v>9월</c:v>
                  </c:pt>
                  <c:pt idx="9">
                    <c:v>10월</c:v>
                  </c:pt>
                  <c:pt idx="10">
                    <c:v>11월</c:v>
                  </c:pt>
                  <c:pt idx="11">
                    <c:v>12월</c:v>
                  </c:pt>
                </c:lvl>
              </c:multiLvlStrCache>
            </c:multiLvlStrRef>
          </c:cat>
          <c:val>
            <c:numRef>
              <c:f>Sheet1!$B$2:$B$13</c:f>
              <c:numCache>
                <c:formatCode>General</c:formatCode>
                <c:ptCount val="12"/>
                <c:pt idx="0">
                  <c:v>260</c:v>
                </c:pt>
                <c:pt idx="1">
                  <c:v>264</c:v>
                </c:pt>
                <c:pt idx="2">
                  <c:v>229</c:v>
                </c:pt>
                <c:pt idx="3">
                  <c:v>236</c:v>
                </c:pt>
                <c:pt idx="4">
                  <c:v>216</c:v>
                </c:pt>
                <c:pt idx="5">
                  <c:v>223</c:v>
                </c:pt>
                <c:pt idx="6">
                  <c:v>270</c:v>
                </c:pt>
                <c:pt idx="7">
                  <c:v>346</c:v>
                </c:pt>
                <c:pt idx="8">
                  <c:v>319</c:v>
                </c:pt>
                <c:pt idx="9">
                  <c:v>234</c:v>
                </c:pt>
                <c:pt idx="10">
                  <c:v>229</c:v>
                </c:pt>
                <c:pt idx="11">
                  <c:v>234</c:v>
                </c:pt>
              </c:numCache>
            </c:numRef>
          </c:val>
        </c:ser>
        <c:ser>
          <c:idx val="1"/>
          <c:order val="1"/>
          <c:tx>
            <c:strRef>
              <c:f>Sheet1!$C$1</c:f>
              <c:strCache>
                <c:ptCount val="1"/>
                <c:pt idx="0">
                  <c:v>가스(kWh 환산)</c:v>
                </c:pt>
              </c:strCache>
            </c:strRef>
          </c:tx>
          <c:spPr>
            <a:solidFill>
              <a:srgbClr val="D9913A"/>
            </a:solidFill>
            <a:effectLst/>
          </c:spPr>
          <c:invertIfNegative val="0"/>
          <c:dLbls>
            <c:numFmt formatCode="#,##0" sourceLinked="0"/>
            <c:txPr>
              <a:bodyPr/>
              <a:lstStyle/>
              <a:p>
                <a:pPr>
                  <a:defRPr b="0" i="0" strike="noStrike" sz="1100" u="none">
                    <a:solidFill>
                      <a:srgbClr val="1C2622"/>
                    </a:solidFill>
                    <a:latin typeface="Malgun Gothic"/>
                  </a:defRPr>
                </a:pPr>
              </a:p>
            </c:txPr>
            <c:showLegendKey val="0"/>
            <c:showVal val="0"/>
            <c:showCatName val="0"/>
            <c:showSerName val="0"/>
            <c:showPercent val="0"/>
            <c:showBubbleSize val="0"/>
            <c:showLeaderLines val="0"/>
          </c:dLbls>
          <c:cat>
            <c:multiLvlStrRef>
              <c:f>Sheet1!$A$2:$A$13</c:f>
              <c:multiLvlStrCache>
                <c:ptCount val="12"/>
                <c:lvl>
                  <c:pt idx="0">
                    <c:v>1월</c:v>
                  </c:pt>
                  <c:pt idx="1">
                    <c:v>2월</c:v>
                  </c:pt>
                  <c:pt idx="2">
                    <c:v>3월</c:v>
                  </c:pt>
                  <c:pt idx="3">
                    <c:v>4월</c:v>
                  </c:pt>
                  <c:pt idx="4">
                    <c:v>5월</c:v>
                  </c:pt>
                  <c:pt idx="5">
                    <c:v>6월</c:v>
                  </c:pt>
                  <c:pt idx="6">
                    <c:v>7월</c:v>
                  </c:pt>
                  <c:pt idx="7">
                    <c:v>8월</c:v>
                  </c:pt>
                  <c:pt idx="8">
                    <c:v>9월</c:v>
                  </c:pt>
                  <c:pt idx="9">
                    <c:v>10월</c:v>
                  </c:pt>
                  <c:pt idx="10">
                    <c:v>11월</c:v>
                  </c:pt>
                  <c:pt idx="11">
                    <c:v>12월</c:v>
                  </c:pt>
                </c:lvl>
              </c:multiLvlStrCache>
            </c:multiLvlStrRef>
          </c:cat>
          <c:val>
            <c:numRef>
              <c:f>Sheet1!$C$2:$C$13</c:f>
              <c:numCache>
                <c:formatCode>General</c:formatCode>
                <c:ptCount val="12"/>
                <c:pt idx="0">
                  <c:v>1131</c:v>
                </c:pt>
                <c:pt idx="1">
                  <c:v>1187</c:v>
                </c:pt>
                <c:pt idx="2">
                  <c:v>718</c:v>
                </c:pt>
                <c:pt idx="3">
                  <c:v>475</c:v>
                </c:pt>
                <c:pt idx="4">
                  <c:v>322</c:v>
                </c:pt>
                <c:pt idx="5">
                  <c:v>204</c:v>
                </c:pt>
                <c:pt idx="6">
                  <c:v>171</c:v>
                </c:pt>
                <c:pt idx="7">
                  <c:v>148</c:v>
                </c:pt>
                <c:pt idx="8">
                  <c:v>161</c:v>
                </c:pt>
                <c:pt idx="9">
                  <c:v>276</c:v>
                </c:pt>
                <c:pt idx="10">
                  <c:v>613</c:v>
                </c:pt>
                <c:pt idx="11">
                  <c:v>961</c:v>
                </c:pt>
              </c:numCache>
            </c:numRef>
          </c:val>
        </c:ser>
        <c:dLbls>
          <c:numFmt formatCode="#,##0" sourceLinked="0"/>
          <c:txPr>
            <a:bodyPr/>
            <a:lstStyle/>
            <a:p>
              <a:pPr>
                <a:defRPr b="0" i="0" strike="noStrike" sz="1100" u="none">
                  <a:solidFill>
                    <a:srgbClr val="1C2622"/>
                  </a:solidFill>
                  <a:latin typeface="Malgun Gothic"/>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05B55"/>
                </a:solidFill>
                <a:latin typeface="Malgun Gothic"/>
              </a:defRPr>
            </a:pPr>
            <a:endParaRPr lang="en-US"/>
          </a:p>
        </c:txPr>
        <c:crossAx val="2094734552"/>
        <c:crosses val="autoZero"/>
        <c:auto val="1"/>
        <c:lblAlgn val="ctr"/>
        <c:noMultiLvlLbl val="1"/>
      </c:catAx>
      <c:valAx>
        <c:axId val="2094734552"/>
        <c:scaling>
          <c:orientation val="minMax"/>
          <c:max val="1400"/>
          <c:min val="0"/>
        </c:scaling>
        <c:delete val="0"/>
        <c:axPos val="l"/>
        <c:majorGridlines>
          <c:spPr>
            <a:ln w="9525" cap="flat">
              <a:solidFill>
                <a:srgbClr val="E6E4D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46E"/>
                </a:solidFill>
                <a:latin typeface="Malgun Gothic"/>
              </a:defRPr>
            </a:pPr>
            <a:endParaRPr lang="en-US"/>
          </a:p>
        </c:txPr>
        <c:crossAx val="2094734554"/>
        <c:crosses val="autoZero"/>
        <c:crossBetween val="between"/>
        <c:majorUnit val="200"/>
      </c:valAx>
      <c:spPr>
        <a:noFill/>
        <a:ln>
          <a:noFill/>
        </a:ln>
        <a:effectLst/>
      </c:spPr>
    </c:plotArea>
    <c:legend>
      <c:legendPos val="b"/>
      <c:overlay val="0"/>
      <c:txPr>
        <a:bodyPr/>
        <a:lstStyle/>
        <a:p>
          <a:pPr>
            <a:defRPr sz="1100">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C2622"/>
                </a:solidFill>
                <a:latin typeface="Malgun Gothic"/>
              </a:defRPr>
            </a:pPr>
            <a:r>
              <a:rPr sz="1250" b="0" i="0" u="none" strike="noStrike">
                <a:solidFill>
                  <a:srgbClr val="1C2622"/>
                </a:solidFill>
                <a:latin typeface="Malgun Gothic"/>
              </a:rPr>
              <a:t>구역 공동주택 전력 탄소 (t/년)</a:t>
            </a:r>
          </a:p>
        </c:rich>
      </c:tx>
      <c:layout/>
      <c:overlay val="0"/>
    </c:title>
    <c:autoTitleDeleted val="0"/>
    <c:plotArea>
      <c:layout/>
      <c:barChart>
        <c:barDir val="col"/>
        <c:grouping val="clustered"/>
        <c:varyColors val="0"/>
        <c:ser>
          <c:idx val="0"/>
          <c:order val="0"/>
          <c:tx>
            <c:strRef>
              <c:f>Sheet1!$B$1</c:f>
              <c:strCache>
                <c:ptCount val="1"/>
                <c:pt idx="0">
                  <c:v>tCO₂eq</c:v>
                </c:pt>
              </c:strCache>
            </c:strRef>
          </c:tx>
          <c:spPr>
            <a:solidFill>
              <a:srgbClr val="3D6FB8"/>
            </a:solidFill>
            <a:effectLst/>
          </c:spPr>
          <c:invertIfNegative val="0"/>
          <c:dLbls>
            <c:numFmt formatCode="#,##0" sourceLinked="0"/>
            <c:txPr>
              <a:bodyPr/>
              <a:lstStyle/>
              <a:p>
                <a:pPr>
                  <a:defRPr b="0" i="0" strike="noStrike" sz="1100" u="none">
                    <a:solidFill>
                      <a:srgbClr val="1C2622"/>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3D6FB8"/>
              </a:solidFill>
              <a:effectLst/>
            </c:spPr>
          </c:dPt>
          <c:dPt>
            <c:idx val="1"/>
            <c:invertIfNegative val="0"/>
            <c:bubble3D val="0"/>
            <c:spPr>
              <a:solidFill>
                <a:srgbClr val="D9913A"/>
              </a:solidFill>
              <a:effectLst/>
            </c:spPr>
          </c:dPt>
          <c:dPt>
            <c:idx val="2"/>
            <c:invertIfNegative val="0"/>
            <c:bubble3D val="0"/>
            <c:spPr>
              <a:solidFill>
                <a:srgbClr val="1F7A55"/>
              </a:solidFill>
              <a:effectLst/>
            </c:spPr>
          </c:dPt>
          <c:cat>
            <c:multiLvlStrRef>
              <c:f>Sheet1!$A$2:$A$4</c:f>
              <c:multiLvlStrCache>
                <c:ptCount val="3"/>
                <c:lvl>
                  <c:pt idx="0">
                    <c:v>2025 기준</c:v>
                  </c:pt>
                  <c:pt idx="1">
                    <c:v>신축 반영(BAU)</c:v>
                  </c:pt>
                  <c:pt idx="2">
                    <c:v>목표 (−20%)</c:v>
                  </c:pt>
                </c:lvl>
              </c:multiLvlStrCache>
            </c:multiLvlStrRef>
          </c:cat>
          <c:val>
            <c:numRef>
              <c:f>Sheet1!$B$2:$B$4</c:f>
              <c:numCache>
                <c:formatCode>General</c:formatCode>
                <c:ptCount val="3"/>
                <c:pt idx="0">
                  <c:v>38015</c:v>
                </c:pt>
                <c:pt idx="1">
                  <c:v>39283</c:v>
                </c:pt>
                <c:pt idx="2">
                  <c:v>30412</c:v>
                </c:pt>
              </c:numCache>
            </c:numRef>
          </c:val>
        </c:ser>
        <c:dLbls>
          <c:numFmt formatCode="#,##0" sourceLinked="0"/>
          <c:txPr>
            <a:bodyPr/>
            <a:lstStyle/>
            <a:p>
              <a:pPr>
                <a:defRPr b="0" i="0" strike="noStrike" sz="1100" u="none">
                  <a:solidFill>
                    <a:srgbClr val="1C2622"/>
                  </a:solidFill>
                  <a:latin typeface="Malgun Gothic"/>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05B55"/>
                </a:solidFill>
                <a:latin typeface="Malgun Gothic"/>
              </a:defRPr>
            </a:pPr>
            <a:endParaRPr lang="en-US"/>
          </a:p>
        </c:txPr>
        <c:crossAx val="2094734552"/>
        <c:crosses val="autoZero"/>
        <c:auto val="1"/>
        <c:lblAlgn val="ctr"/>
        <c:noMultiLvlLbl val="1"/>
      </c:catAx>
      <c:valAx>
        <c:axId val="2094734552"/>
        <c:scaling>
          <c:orientation val="minMax"/>
          <c:max val="45000"/>
          <c:min val="0"/>
        </c:scaling>
        <c:delete val="0"/>
        <c:axPos val="l"/>
        <c:majorGridlines>
          <c:spPr>
            <a:ln w="9525" cap="flat">
              <a:solidFill>
                <a:srgbClr val="E6E4D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46E"/>
                </a:solidFill>
                <a:latin typeface="Malgun Gothic"/>
              </a:defRPr>
            </a:pPr>
            <a:endParaRPr lang="en-US"/>
          </a:p>
        </c:txPr>
        <c:crossAx val="2094734554"/>
        <c:crosses val="autoZero"/>
        <c:crossBetween val="between"/>
        <c:majorUnit val="1500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C2622"/>
                </a:solidFill>
                <a:latin typeface="Malgun Gothic"/>
              </a:defRPr>
            </a:pPr>
            <a:r>
              <a:rPr sz="1250" b="0" i="0" u="none" strike="noStrike">
                <a:solidFill>
                  <a:srgbClr val="1C2622"/>
                </a:solidFill>
                <a:latin typeface="Malgun Gothic"/>
              </a:rPr>
              <a:t>전주 공동주택 격자의 세대당 연간 전력 분포 (kWh, 141곳)</a:t>
            </a:r>
          </a:p>
        </c:rich>
      </c:tx>
      <c:layout/>
      <c:overlay val="0"/>
    </c:title>
    <c:autoTitleDeleted val="0"/>
    <c:plotArea>
      <c:layout/>
      <c:barChart>
        <c:barDir val="bar"/>
        <c:grouping val="clustered"/>
        <c:varyColors val="0"/>
        <c:ser>
          <c:idx val="0"/>
          <c:order val="0"/>
          <c:tx>
            <c:strRef>
              <c:f>Sheet1!$B$1</c:f>
              <c:strCache>
                <c:ptCount val="1"/>
                <c:pt idx="0">
                  <c:v>세대당 연 전력</c:v>
                </c:pt>
              </c:strCache>
            </c:strRef>
          </c:tx>
          <c:spPr>
            <a:solidFill>
              <a:srgbClr val="1F7A55"/>
            </a:solidFill>
            <a:effectLst/>
          </c:spPr>
          <c:invertIfNegative val="0"/>
          <c:dLbls>
            <c:numFmt formatCode="#,##0" sourceLinked="0"/>
            <c:txPr>
              <a:bodyPr/>
              <a:lstStyle/>
              <a:p>
                <a:pPr>
                  <a:defRPr b="0" i="0" strike="noStrike" sz="1100" u="none">
                    <a:solidFill>
                      <a:srgbClr val="1C2622"/>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1F7A55"/>
              </a:solidFill>
              <a:effectLst/>
            </c:spPr>
          </c:dPt>
          <c:dPt>
            <c:idx val="1"/>
            <c:invertIfNegative val="0"/>
            <c:bubble3D val="0"/>
            <c:spPr>
              <a:solidFill>
                <a:srgbClr val="1F7A55"/>
              </a:solidFill>
              <a:effectLst/>
            </c:spPr>
          </c:dPt>
          <c:dPt>
            <c:idx val="2"/>
            <c:invertIfNegative val="0"/>
            <c:bubble3D val="0"/>
            <c:spPr>
              <a:solidFill>
                <a:srgbClr val="1F7A55"/>
              </a:solidFill>
              <a:effectLst/>
            </c:spPr>
          </c:dPt>
          <c:dPt>
            <c:idx val="3"/>
            <c:invertIfNegative val="0"/>
            <c:bubble3D val="0"/>
            <c:spPr>
              <a:solidFill>
                <a:srgbClr val="1F7A55"/>
              </a:solidFill>
              <a:effectLst/>
            </c:spPr>
          </c:dPt>
          <c:dPt>
            <c:idx val="4"/>
            <c:invertIfNegative val="0"/>
            <c:bubble3D val="0"/>
            <c:spPr>
              <a:solidFill>
                <a:srgbClr val="D9913A"/>
              </a:solidFill>
              <a:effectLst/>
            </c:spPr>
          </c:dPt>
          <c:dPt>
            <c:idx val="5"/>
            <c:invertIfNegative val="0"/>
            <c:bubble3D val="0"/>
            <c:spPr>
              <a:solidFill>
                <a:srgbClr val="1F7A55"/>
              </a:solidFill>
              <a:effectLst/>
            </c:spPr>
          </c:dPt>
          <c:cat>
            <c:multiLvlStrRef>
              <c:f>Sheet1!$A$2:$A$7</c:f>
              <c:multiLvlStrCache>
                <c:ptCount val="6"/>
                <c:lvl>
                  <c:pt idx="0">
                    <c:v>하위 10%</c:v>
                  </c:pt>
                  <c:pt idx="1">
                    <c:v>하위 25%</c:v>
                  </c:pt>
                  <c:pt idx="2">
                    <c:v>중앙값</c:v>
                  </c:pt>
                  <c:pt idx="3">
                    <c:v>상위 25%</c:v>
                  </c:pt>
                  <c:pt idx="4">
                    <c:v>A단지(가상)</c:v>
                  </c:pt>
                  <c:pt idx="5">
                    <c:v>상위 10%</c:v>
                  </c:pt>
                </c:lvl>
              </c:multiLvlStrCache>
            </c:multiLvlStrRef>
          </c:cat>
          <c:val>
            <c:numRef>
              <c:f>Sheet1!$B$2:$B$7</c:f>
              <c:numCache>
                <c:formatCode>General</c:formatCode>
                <c:ptCount val="6"/>
                <c:pt idx="0">
                  <c:v>3389</c:v>
                </c:pt>
                <c:pt idx="1">
                  <c:v>3771</c:v>
                </c:pt>
                <c:pt idx="2">
                  <c:v>4476</c:v>
                </c:pt>
                <c:pt idx="3">
                  <c:v>5297</c:v>
                </c:pt>
                <c:pt idx="4">
                  <c:v>5500</c:v>
                </c:pt>
                <c:pt idx="5">
                  <c:v>6132</c:v>
                </c:pt>
              </c:numCache>
            </c:numRef>
          </c:val>
        </c:ser>
        <c:dLbls>
          <c:numFmt formatCode="#,##0" sourceLinked="0"/>
          <c:txPr>
            <a:bodyPr/>
            <a:lstStyle/>
            <a:p>
              <a:pPr>
                <a:defRPr b="0" i="0" strike="noStrike" sz="1100" u="none">
                  <a:solidFill>
                    <a:srgbClr val="1C2622"/>
                  </a:solidFill>
                  <a:latin typeface="Malgun Gothic"/>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05B55"/>
                </a:solidFill>
                <a:latin typeface="Malgun Gothic"/>
              </a:defRPr>
            </a:pPr>
            <a:endParaRPr lang="en-US"/>
          </a:p>
        </c:txPr>
        <c:crossAx val="2094734552"/>
        <c:crosses val="autoZero"/>
        <c:auto val="1"/>
        <c:lblAlgn val="ctr"/>
        <c:noMultiLvlLbl val="1"/>
      </c:catAx>
      <c:valAx>
        <c:axId val="2094734552"/>
        <c:scaling>
          <c:orientation val="minMax"/>
          <c:max val="7000"/>
          <c:min val="0"/>
        </c:scaling>
        <c:delete val="0"/>
        <c:axPos val="b"/>
        <c:majorGridlines>
          <c:spPr>
            <a:ln w="9525" cap="flat">
              <a:solidFill>
                <a:srgbClr val="E6E4DD"/>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6B746E"/>
                </a:solidFill>
                <a:latin typeface="Malgun Gothic"/>
              </a:defRPr>
            </a:pPr>
            <a:endParaRPr lang="en-US"/>
          </a:p>
        </c:txPr>
        <c:crossAx val="2094734554"/>
        <c:crosses val="autoZero"/>
        <c:crossBetween val="between"/>
        <c:majorUnit val="1000"/>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C2622"/>
                </a:solidFill>
                <a:latin typeface="Malgun Gothic"/>
              </a:defRPr>
            </a:pPr>
            <a:r>
              <a:rPr sz="1250" b="0" i="0" u="none" strike="noStrike">
                <a:solidFill>
                  <a:srgbClr val="1C2622"/>
                </a:solidFill>
                <a:latin typeface="Malgun Gothic"/>
              </a:rPr>
              <a:t>공동주택 연간 전력 (GWh)</a:t>
            </a:r>
          </a:p>
        </c:rich>
      </c:tx>
      <c:layout/>
      <c:overlay val="0"/>
    </c:title>
    <c:autoTitleDeleted val="0"/>
    <c:plotArea>
      <c:layout/>
      <c:barChart>
        <c:barDir val="col"/>
        <c:grouping val="clustered"/>
        <c:varyColors val="0"/>
        <c:ser>
          <c:idx val="0"/>
          <c:order val="0"/>
          <c:tx>
            <c:strRef>
              <c:f>Sheet1!$B$1</c:f>
              <c:strCache>
                <c:ptCount val="1"/>
                <c:pt idx="0">
                  <c:v>개발 전 (2021~22 평균)</c:v>
                </c:pt>
              </c:strCache>
            </c:strRef>
          </c:tx>
          <c:spPr>
            <a:solidFill>
              <a:srgbClr val="3D6FB8"/>
            </a:solidFill>
            <a:effectLst/>
          </c:spPr>
          <c:invertIfNegative val="0"/>
          <c:dLbls>
            <c:numFmt formatCode="0.0" sourceLinked="0"/>
            <c:txPr>
              <a:bodyPr/>
              <a:lstStyle/>
              <a:p>
                <a:pPr>
                  <a:defRPr b="0" i="0" strike="noStrike" sz="1100" u="none">
                    <a:solidFill>
                      <a:srgbClr val="1C2622"/>
                    </a:solidFill>
                    <a:latin typeface="Malgun Gothic"/>
                  </a:defRPr>
                </a:pPr>
              </a:p>
            </c:txPr>
            <c:showLegendKey val="0"/>
            <c:showVal val="1"/>
            <c:showCatName val="0"/>
            <c:showSerName val="0"/>
            <c:showPercent val="0"/>
            <c:showBubbleSize val="0"/>
            <c:showLeaderLines val="0"/>
          </c:dLbls>
          <c:cat>
            <c:multiLvlStrRef>
              <c:f>Sheet1!$A$2:$A$3</c:f>
              <c:multiLvlStrCache>
                <c:ptCount val="2"/>
                <c:lvl>
                  <c:pt idx="0">
                    <c:v>구역 합계</c:v>
                  </c:pt>
                  <c:pt idx="1">
                    <c:v>같은 103개 단지</c:v>
                  </c:pt>
                </c:lvl>
              </c:multiLvlStrCache>
            </c:multiLvlStrRef>
          </c:cat>
          <c:val>
            <c:numRef>
              <c:f>Sheet1!$B$2:$B$3</c:f>
              <c:numCache>
                <c:formatCode>General</c:formatCode>
                <c:ptCount val="2"/>
                <c:pt idx="0">
                  <c:v>216.9</c:v>
                </c:pt>
                <c:pt idx="1">
                  <c:v>199.2</c:v>
                </c:pt>
              </c:numCache>
            </c:numRef>
          </c:val>
        </c:ser>
        <c:ser>
          <c:idx val="1"/>
          <c:order val="1"/>
          <c:tx>
            <c:strRef>
              <c:f>Sheet1!$C$1</c:f>
              <c:strCache>
                <c:ptCount val="1"/>
                <c:pt idx="0">
                  <c:v>개발 후 (2024~25 평균)</c:v>
                </c:pt>
              </c:strCache>
            </c:strRef>
          </c:tx>
          <c:spPr>
            <a:solidFill>
              <a:srgbClr val="1F7A55"/>
            </a:solidFill>
            <a:effectLst/>
          </c:spPr>
          <c:invertIfNegative val="0"/>
          <c:dLbls>
            <c:numFmt formatCode="0.0" sourceLinked="0"/>
            <c:txPr>
              <a:bodyPr/>
              <a:lstStyle/>
              <a:p>
                <a:pPr>
                  <a:defRPr b="0" i="0" strike="noStrike" sz="1100" u="none">
                    <a:solidFill>
                      <a:srgbClr val="1C2622"/>
                    </a:solidFill>
                    <a:latin typeface="Malgun Gothic"/>
                  </a:defRPr>
                </a:pPr>
              </a:p>
            </c:txPr>
            <c:showLegendKey val="0"/>
            <c:showVal val="1"/>
            <c:showCatName val="0"/>
            <c:showSerName val="0"/>
            <c:showPercent val="0"/>
            <c:showBubbleSize val="0"/>
            <c:showLeaderLines val="0"/>
          </c:dLbls>
          <c:cat>
            <c:multiLvlStrRef>
              <c:f>Sheet1!$A$2:$A$3</c:f>
              <c:multiLvlStrCache>
                <c:ptCount val="2"/>
                <c:lvl>
                  <c:pt idx="0">
                    <c:v>구역 합계</c:v>
                  </c:pt>
                  <c:pt idx="1">
                    <c:v>같은 103개 단지</c:v>
                  </c:pt>
                </c:lvl>
              </c:multiLvlStrCache>
            </c:multiLvlStrRef>
          </c:cat>
          <c:val>
            <c:numRef>
              <c:f>Sheet1!$C$2:$C$3</c:f>
              <c:numCache>
                <c:formatCode>General</c:formatCode>
                <c:ptCount val="2"/>
                <c:pt idx="0">
                  <c:v>338.9</c:v>
                </c:pt>
                <c:pt idx="1">
                  <c:v>208.7</c:v>
                </c:pt>
              </c:numCache>
            </c:numRef>
          </c:val>
        </c:ser>
        <c:dLbls>
          <c:numFmt formatCode="0.0" sourceLinked="0"/>
          <c:txPr>
            <a:bodyPr/>
            <a:lstStyle/>
            <a:p>
              <a:pPr>
                <a:defRPr b="0" i="0" strike="noStrike" sz="1100" u="none">
                  <a:solidFill>
                    <a:srgbClr val="1C2622"/>
                  </a:solidFill>
                  <a:latin typeface="Malgun Gothic"/>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05B55"/>
                </a:solidFill>
                <a:latin typeface="Malgun Gothic"/>
              </a:defRPr>
            </a:pPr>
            <a:endParaRPr lang="en-US"/>
          </a:p>
        </c:txPr>
        <c:crossAx val="2094734552"/>
        <c:crosses val="autoZero"/>
        <c:auto val="1"/>
        <c:lblAlgn val="ctr"/>
        <c:noMultiLvlLbl val="1"/>
      </c:catAx>
      <c:valAx>
        <c:axId val="2094734552"/>
        <c:scaling>
          <c:orientation val="minMax"/>
          <c:max val="400"/>
          <c:min val="0"/>
        </c:scaling>
        <c:delete val="0"/>
        <c:axPos val="l"/>
        <c:majorGridlines>
          <c:spPr>
            <a:ln w="9525" cap="flat">
              <a:solidFill>
                <a:srgbClr val="E6E4D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46E"/>
                </a:solidFill>
                <a:latin typeface="Malgun Gothic"/>
              </a:defRPr>
            </a:pPr>
            <a:endParaRPr lang="en-US"/>
          </a:p>
        </c:txPr>
        <c:crossAx val="2094734554"/>
        <c:crosses val="autoZero"/>
        <c:crossBetween val="between"/>
        <c:majorUnit val="100"/>
      </c:valAx>
      <c:spPr>
        <a:noFill/>
        <a:ln>
          <a:noFill/>
        </a:ln>
        <a:effectLst/>
      </c:spPr>
    </c:plotArea>
    <c:legend>
      <c:legendPos val="b"/>
      <c:overlay val="0"/>
      <c:txPr>
        <a:bodyPr/>
        <a:lstStyle/>
        <a:p>
          <a:pPr>
            <a:defRPr sz="1050">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C2622"/>
                </a:solidFill>
                <a:latin typeface="Malgun Gothic"/>
              </a:defRPr>
            </a:pPr>
            <a:r>
              <a:rPr sz="1250" b="0" i="0" u="none" strike="noStrike">
                <a:solidFill>
                  <a:srgbClr val="1C2622"/>
                </a:solidFill>
                <a:latin typeface="Malgun Gothic"/>
              </a:rPr>
              <a:t>건물 전력 증감률 2018→2025 (%)</a:t>
            </a:r>
          </a:p>
        </c:rich>
      </c:tx>
      <c:layout/>
      <c:overlay val="0"/>
    </c:title>
    <c:autoTitleDeleted val="0"/>
    <c:plotArea>
      <c:layout/>
      <c:barChart>
        <c:barDir val="bar"/>
        <c:grouping val="clustered"/>
        <c:varyColors val="0"/>
        <c:ser>
          <c:idx val="0"/>
          <c:order val="0"/>
          <c:tx>
            <c:strRef>
              <c:f>Sheet1!$B$1</c:f>
              <c:strCache>
                <c:ptCount val="1"/>
                <c:pt idx="0">
                  <c:v>건물 전력 증감률</c:v>
                </c:pt>
              </c:strCache>
            </c:strRef>
          </c:tx>
          <c:spPr>
            <a:solidFill>
              <a:srgbClr val="1F7A55"/>
            </a:solidFill>
            <a:effectLst/>
          </c:spPr>
          <c:invertIfNegative val="0"/>
          <c:dLbls>
            <c:numFmt formatCode="0.0" sourceLinked="0"/>
            <c:txPr>
              <a:bodyPr/>
              <a:lstStyle/>
              <a:p>
                <a:pPr>
                  <a:defRPr b="0" i="0" strike="noStrike" sz="950" u="none">
                    <a:solidFill>
                      <a:srgbClr val="1C2622"/>
                    </a:solidFill>
                    <a:latin typeface="Malgun Gothic"/>
                  </a:defRPr>
                </a:pPr>
              </a:p>
            </c:txPr>
            <c:showLegendKey val="0"/>
            <c:showVal val="1"/>
            <c:showCatName val="0"/>
            <c:showSerName val="0"/>
            <c:showPercent val="0"/>
            <c:showBubbleSize val="0"/>
            <c:showLeaderLines val="0"/>
          </c:dLbls>
          <c:cat>
            <c:multiLvlStrRef>
              <c:f>Sheet1!$A$2:$A$15</c:f>
              <c:multiLvlStrCache>
                <c:ptCount val="14"/>
                <c:lvl>
                  <c:pt idx="0">
                    <c:v>완주군</c:v>
                  </c:pt>
                  <c:pt idx="1">
                    <c:v>순창군</c:v>
                  </c:pt>
                  <c:pt idx="2">
                    <c:v>진안군</c:v>
                  </c:pt>
                  <c:pt idx="3">
                    <c:v>고창군</c:v>
                  </c:pt>
                  <c:pt idx="4">
                    <c:v>임실군</c:v>
                  </c:pt>
                  <c:pt idx="5">
                    <c:v>전주시</c:v>
                  </c:pt>
                  <c:pt idx="6">
                    <c:v>장수군</c:v>
                  </c:pt>
                  <c:pt idx="7">
                    <c:v>군산시</c:v>
                  </c:pt>
                  <c:pt idx="8">
                    <c:v>김제시</c:v>
                  </c:pt>
                  <c:pt idx="9">
                    <c:v>익산시</c:v>
                  </c:pt>
                  <c:pt idx="10">
                    <c:v>정읍시</c:v>
                  </c:pt>
                  <c:pt idx="11">
                    <c:v>무주군</c:v>
                  </c:pt>
                  <c:pt idx="12">
                    <c:v>부안군</c:v>
                  </c:pt>
                  <c:pt idx="13">
                    <c:v>남원시</c:v>
                  </c:pt>
                </c:lvl>
              </c:multiLvlStrCache>
            </c:multiLvlStrRef>
          </c:cat>
          <c:val>
            <c:numRef>
              <c:f>Sheet1!$B$2:$B$15</c:f>
              <c:numCache>
                <c:formatCode>General</c:formatCode>
                <c:ptCount val="14"/>
                <c:pt idx="0">
                  <c:v>22.3</c:v>
                </c:pt>
                <c:pt idx="1">
                  <c:v>19</c:v>
                </c:pt>
                <c:pt idx="2">
                  <c:v>16.1</c:v>
                </c:pt>
                <c:pt idx="3">
                  <c:v>14.5</c:v>
                </c:pt>
                <c:pt idx="4">
                  <c:v>14.1</c:v>
                </c:pt>
                <c:pt idx="5">
                  <c:v>12.6</c:v>
                </c:pt>
                <c:pt idx="6">
                  <c:v>12.6</c:v>
                </c:pt>
                <c:pt idx="7">
                  <c:v>12.3</c:v>
                </c:pt>
                <c:pt idx="8">
                  <c:v>12.1</c:v>
                </c:pt>
                <c:pt idx="9">
                  <c:v>11.5</c:v>
                </c:pt>
                <c:pt idx="10">
                  <c:v>10.9</c:v>
                </c:pt>
                <c:pt idx="11">
                  <c:v>9.7</c:v>
                </c:pt>
                <c:pt idx="12">
                  <c:v>8.9</c:v>
                </c:pt>
                <c:pt idx="13">
                  <c:v>4.6</c:v>
                </c:pt>
              </c:numCache>
            </c:numRef>
          </c:val>
        </c:ser>
        <c:dLbls>
          <c:numFmt formatCode="0.0" sourceLinked="0"/>
          <c:txPr>
            <a:bodyPr/>
            <a:lstStyle/>
            <a:p>
              <a:pPr>
                <a:defRPr b="0" i="0" strike="noStrike" sz="950" u="none">
                  <a:solidFill>
                    <a:srgbClr val="1C2622"/>
                  </a:solidFill>
                  <a:latin typeface="Malgun Gothic"/>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05B55"/>
                </a:solidFill>
                <a:latin typeface="Malgun Gothic"/>
              </a:defRPr>
            </a:pPr>
            <a:endParaRPr lang="en-US"/>
          </a:p>
        </c:txPr>
        <c:crossAx val="2094734552"/>
        <c:crosses val="autoZero"/>
        <c:auto val="1"/>
        <c:lblAlgn val="ctr"/>
        <c:noMultiLvlLbl val="1"/>
      </c:catAx>
      <c:valAx>
        <c:axId val="2094734552"/>
        <c:scaling>
          <c:orientation val="minMax"/>
          <c:max val="25"/>
          <c:min val="0"/>
        </c:scaling>
        <c:delete val="0"/>
        <c:axPos val="b"/>
        <c:majorGridlines>
          <c:spPr>
            <a:ln w="9525" cap="flat">
              <a:solidFill>
                <a:srgbClr val="E6E4DD"/>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6B746E"/>
                </a:solidFill>
                <a:latin typeface="Malgun Gothic"/>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C2622"/>
                </a:solidFill>
                <a:latin typeface="Malgun Gothic"/>
              </a:defRPr>
            </a:pPr>
            <a:r>
              <a:rPr sz="1250" b="0" i="0" u="none" strike="noStrike">
                <a:solidFill>
                  <a:srgbClr val="1C2622"/>
                </a:solidFill>
                <a:latin typeface="Malgun Gothic"/>
              </a:rPr>
              <a:t>수원 공동주택 가스 원단위 중앙값 (kWh/㎡)</a:t>
            </a:r>
          </a:p>
        </c:rich>
      </c:tx>
      <c:layout/>
      <c:overlay val="0"/>
    </c:title>
    <c:autoTitleDeleted val="0"/>
    <c:plotArea>
      <c:layout/>
      <c:barChart>
        <c:barDir val="col"/>
        <c:grouping val="clustered"/>
        <c:varyColors val="0"/>
        <c:ser>
          <c:idx val="0"/>
          <c:order val="0"/>
          <c:tx>
            <c:strRef>
              <c:f>Sheet1!$B$1</c:f>
              <c:strCache>
                <c:ptCount val="1"/>
                <c:pt idx="0">
                  <c:v>가스 원단위</c:v>
                </c:pt>
              </c:strCache>
            </c:strRef>
          </c:tx>
          <c:spPr>
            <a:solidFill>
              <a:srgbClr val="3D6FB8"/>
            </a:solidFill>
            <a:effectLst/>
          </c:spPr>
          <c:invertIfNegative val="0"/>
          <c:dLbls>
            <c:numFmt formatCode="0.0" sourceLinked="0"/>
            <c:txPr>
              <a:bodyPr/>
              <a:lstStyle/>
              <a:p>
                <a:pPr>
                  <a:defRPr b="0" i="0" strike="noStrike" sz="1100" u="none">
                    <a:solidFill>
                      <a:srgbClr val="1C2622"/>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3D6FB8"/>
              </a:solidFill>
              <a:effectLst/>
            </c:spPr>
          </c:dPt>
          <c:dPt>
            <c:idx val="1"/>
            <c:invertIfNegative val="0"/>
            <c:bubble3D val="0"/>
            <c:spPr>
              <a:solidFill>
                <a:srgbClr val="D9913A"/>
              </a:solidFill>
              <a:effectLst/>
            </c:spPr>
          </c:dPt>
          <c:cat>
            <c:multiLvlStrRef>
              <c:f>Sheet1!$A$2:$A$3</c:f>
              <c:multiLvlStrCache>
                <c:ptCount val="2"/>
                <c:lvl>
                  <c:pt idx="0">
                    <c:v>지역난방 (258곳)</c:v>
                  </c:pt>
                  <c:pt idx="1">
                    <c:v>개별난방 (188곳)</c:v>
                  </c:pt>
                </c:lvl>
              </c:multiLvlStrCache>
            </c:multiLvlStrRef>
          </c:cat>
          <c:val>
            <c:numRef>
              <c:f>Sheet1!$B$2:$B$3</c:f>
              <c:numCache>
                <c:formatCode>General</c:formatCode>
                <c:ptCount val="2"/>
                <c:pt idx="0">
                  <c:v>3</c:v>
                </c:pt>
                <c:pt idx="1">
                  <c:v>71.8</c:v>
                </c:pt>
              </c:numCache>
            </c:numRef>
          </c:val>
        </c:ser>
        <c:dLbls>
          <c:numFmt formatCode="0.0" sourceLinked="0"/>
          <c:txPr>
            <a:bodyPr/>
            <a:lstStyle/>
            <a:p>
              <a:pPr>
                <a:defRPr b="0" i="0" strike="noStrike" sz="1100" u="none">
                  <a:solidFill>
                    <a:srgbClr val="1C2622"/>
                  </a:solidFill>
                  <a:latin typeface="Malgun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05B55"/>
                </a:solidFill>
                <a:latin typeface="Malgun Gothic"/>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E6E4D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46E"/>
                </a:solidFill>
                <a:latin typeface="Malgun Gothic"/>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Carbon Urban DSS를 소개하겠습니다. 공공데이터로 도시 건물의 에너지와 운영 탄소를 500m 격자 단위로 보고, 개발 계획이나 감축 목표가 이를 얼마나 바꾸는지 계산하는 의사결정 지원 도구입니다. 오늘은 지금까지 만든 것, 어떤 데이터를 쓰는지, 어떻게 쓰는지, 그리고 실제 기업과 기관이 어떻게 활용할 수 있는지 예시 열한 가지로 말씀드리겠습니다. 오른쪽은 전주시의 건물 전체 연간 전력을 읍면동별로 비교한 실제 화면입니다.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장으로 요약하면 이렇습니다. 건설사, 공급사, 지자체, 에너지 컨설팅, 관리사무소처럼 도시의 건물 에너지에 관심 있는 곳이 사용자입니다. 이들이 묻는 질문, 예를 들어 어디가 많이 쓰는지, 이 계획안의 탄소는 얼마인지, 감축 목표를 맞추려면 무엇이 필요한지에 답합니다. 근거는 국토부 건물 에너지, 한전 판매량, 온실가스 인벤토리, 통계청 인구, 건축물대장 같은 공공데이터입니다. 그리고 추정과 실측을 구분하고, 없는 값을 0으로 채우지 않는다는 원칙을 지킵니다.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한 일을 날짜순으로 보면, 9월 중순 계획안 비교와 보고서에서 시작해 디자인을 정리하고, 지역 시뮬레이션과 건물 에너지 전 지번 수집, 3D 배치와 조례 상한, 전국 지도와 읍면동 비교를 차례로 붙였습니다. 어제는 한전 전력과 온실가스 인벤토리를 받아 결과를 공식 통계와 맞대 보고 오류 여섯 가지를 고쳤습니다. 지금은 전국 229개 시군구를 공식 통계로 비교할 수 있고, 전주와 수원은 건물 단위 에너지까지 보고, 완주는 모으는 중입니다.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데이터 범위입니다. 이 도구의 데이터는 두 층입니다. 전국 어디에나 있는 공식 통계와, 지역을 골라 따로 모으는 건물 단위 상세 자료입니다.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전국 어느 시군구든 있는 자료입니다. 한전 전력판매량, 온실가스 인벤토리, 가스공사 도시가스 판매량, 통계청 인구와 격자 통계, 공동주택 단지 목록과 조례 상한입니다. 오른쪽은 지역을 골라 따로 모으는 상세 자료입니다. 국토부 건축HUB의 지번별 월 에너지, K-apt 관리비 에너지, 건축물대장, VWorld 공간 자료입니다. 상세 자료는 호출 한도가 있어 시군구 하나에 몇 시간에서 며칠이 걸리며, 지금은 전주와 수원에 있고 완주는 모으는 중입니다.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자료마다 덮는 기간이 다릅니다. 파란색 공식 통계는 대부분 2015년 무렵부터 있어 긴 추세를 볼 수 있습니다. 반면 주황색인 건물 단위 관측은 짧습니다. 국토부 건축HUB는 제공기관이 2024년부터만 주고, K-apt 관리비 에너지는 전주가 2022년부터 들어와 있으며 2015년부터 2021년은 하루 호출 한도 때문에 매일 이어 받고 있습니다. 그래서 장기 추세는 공식 통계로, 격자 단위 분포와 최근 변화는 상세 관측으로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준비 수준은 세 단계입니다. 전국 229개 시군구는 공식 통계로 비교합니다. 어느 시군구든 고르면 몇 초 만에 500m 격자와 읍면동 기본 지도를 만들어 인구와 주택 지표를 봅니다. 그리고 전주와 수원은 건물 단위 에너지까지 모아 시뮬레이션과 모델 검증을 할 수 있고, 완주는 모으는 중입니다. 새 지역도 화면에서 자료 준비를 누르면 상세 자료를 모으기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데이터를 얼마나 믿을 수 있는지도 점검했습니다. 건물 계량 전력은 한전 건물 전력의 76에서 79%를 담는데, 월별 상관계수가 0.996 이상이라 빠진 몫이 일정합니다. 그래서 격자나 동끼리 비교하거나 우선순위를 정하는 데는 바로 쓸 수 있습니다. 시 전체 총량은 0.77 정도로 나눠 보정해서 읽고, 계획안 계산은 격자 합계 수준에서 참고합니다. 가스 탄소는 가정 계수를 쓰고 지역난방 열은 아직 들어 있지 않습니다. 오늘 보여 드릴 예시도 이 범위 안에서 읽어 주시면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사용법입니다. 화면 순서대로 일곱 단계로 설명드리겠습니다.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화면은 왼쪽 메뉴 아홉 개로 되어 있습니다. 지도 분석에서 지역을 보고, 대시보드와 분석에서 격자를 자세히 보며, 시뮬레이션 두 가지로 계획과 목표를 계산하고, 검토 보고서로 남깁니다. 위쪽 머리에서 시도, 시군구, 연도를 고르면 모든 화면이 같은 범위로 바뀝니다.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단계는 지역 고르기입니다. 전국 지도에서 시도를 누르면 그 시도의 시군구가 같은 지표로 칠해집니다. 인구, 한전 전력, 온실가스 같은 열네 개 지표로 바꿀 수 있고, 시군구를 누르면 요약과 함께 지도 열기 버튼이 나옵니다. 왼쪽은 전국, 오른쪽은 경기도 안의 수원시를 고른 화면입니다.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번째는 지도 읽기입니다. 지표를 고르면 500m 격자가 칠해지고, 범례에서 정의와 산식, 활용법을 펼쳐 볼 수 있습니다. 빗금 격자는 자료가 없다는 뜻이지 0이 아닙니다. 격자를 누르면 오른쪽처럼 몇 개 지번을 관측했는지, 공식 격자 코드와 연도별 인구가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번째는 읍면동 비교입니다. 동을 고르면 경계와 공식 인구, 가구가 나오고, 동별 비교를 누르면 같은 지표로 모든 동의 순위를 봅니다. 함께 나오는 덮음 비율은 값이 있는 격자가 그 동의 얼마인지를 뜻하므로, 낮은 동은 비교에 주의해야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번째는 격자를 자세히 보는 단계입니다. 대시보드는 고른 격자의 전력, 가스, 탄소, 원단위를 산식과 함께 보여 주고, 달마다 관측이 있었는지도 표시합니다. 분석 화면에서는 난방도일과 에너지 관계, 행정동 인구, 용도지역 면적을 그래프로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번째는 계획안 시뮬레이션입니다. 대지면적, 동수, 동당 건축면적, 층수, 세대수를 넣고, 효율 계수와 태양광 비율을 정합니다. 효율 1.0은 지금 주변 건물 수준, 0.8은 20% 더 효율적인 설계라는 뜻입니다. 계산은 단순합니다. 그 격자에서 실제로 12개월 관측된 건물들의 월별 에너지를 연면적 비율만큼 늘리고, 효율과 태양광 몫을 곱합니다. 관측이 없는 격자는 지역 평균 원단위로 추정하고, 그 사실을 화면에 표시합니다. 용도지역 상한도 함께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번째는 지역 시뮬레이션입니다. 지도에 원이나 다각형을 그리면 그 구역의 연도별 전력과 준공 단지, 기상, 인구를 모읍니다. 준공 연도를 기준으로 개발 전후를 비교하는데, 보고하는 단지가 늘어난 것이 사용량 증가처럼 보이지 않도록 같은 단지끼리 비교합니다. 그리고 앞으로 늘어날 연면적과 목표 감축률을 넣으면 신축 건물이나 전체 건물이 효율을 얼마나 높여야 하는지, 태양광이 얼마나 필요한지 계산합니다.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일곱 번째는 기록과 자료 관리입니다. 검토 보고서는 계획안을 최대 세 개 골라 근거가 붙은 문서로 만들고 마크다운이나 PDF로 내려받습니다. 모델 화면에서는 모델 오차와 공식 통계 대조 결과를 보고, 수집 데이터 화면에서 자료별 수집 상태를 확인하고 빠진 자료를 받습니다.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활용 예시입니다. 건설사, 공급사, 지자체 같은 실제 업체나 기관이 물을 법한 질문을 열한 가지로 정리했습니다. 계획안과 목표는 가상의 입력이지만, 기준이 되는 에너지와 인구는 모두 PC에 쌓인 실제 데이터이고, 숫자는 이 도구가 그 위에서 계산한 결과입니다.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활용 예시는 열한 가지입니다. 건설사와 설계사무소의 계획안 비교, 공급사의 수요 예측, 지자체의 감축 목표, 에너지 컨설팅과 태양광 사업자의 영업 대상 찾기, 관리사무소의 비교, 개발 사후 평가, 광역 정책, 난방방식에 따른 가스 수요입니다. 모든 예시는 실제 관측 데이터를 기준으로 하고, 계획과 목표만 가상의 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예시는 시행사입니다. 전주 우아동 일대 격자에 480세대 단지를 짓는다고 하고, 일반 설계, 20% 고효율 설계, 고효율에 태양광 15%를 더한 설계를 비교했습니다. 이 격자에서 실제로 12개월 관측된 여섯 개 단지의 월별 에너지를 기준으로 계산합니다. 일반 설계는 연 1,361톤, 고효율은 1,089톤, 태양광까지 더하면 1,000톤으로 약 27% 줄어듭니다. 용적률 240%로 조례 상한 250% 안이라는 확인도 같이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번째는 설계사무소입니다. 같은 대지에서 400세대 이상을 넣어야 할 때, 층수와 동수를 바꿔 646개 후보를 계산하고 그중 조례 상한 안에 들면서 조건을 만족하는 44개를 골랐습니다. 총탄소가 가장 적은 안은 22층 2동 414세대, 탄소 차이 20% 안에서 세대를 가장 많이 넣는 안은 26층 2동 489세대입니다. 세대당 탄소는 세 후보가 거의 같습니다. 이 도구는 원단위를 선형으로 쓰기 때문에 제곱미터당 탄소는 같고 총량은 연면적에 비례한다는 점을 함께 말씀드립니다. 결국 세대수와 탄소를 한 표에 놓고 협의하는 데 쓰는 도구입니다.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번째는 같은 계획을 다른 도시에 놓아 보는 예시입니다. 예시 1의 고효율안을 수원 호매실 일대 격자에 그대로 넣었습니다. 전력은 비슷하지만 가스가 2.72에서 0.18기가와트시로 크게 작습니다. 수원의 기준 단지가 지역난방이기 때문인데, 지역난방 열의 탄소는 이 도구에 아직 없으므로 탄소가 적다고 단정하면 안 됩니다. 더 중요한 것은 법정 상한입니다. 수원은 이 위치의 조례 상한이 192%라 240% 계획은 넘고, 대지 대부분이 지구단위계획구역이라 그 계획을 먼저 봐야 한다고 알려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번째는 공급사 관점입니다. 1,000세대 단지가 들어오면 달마다 얼마나 쓸지를 계산했습니다. 연간 전력은 3.06기가와트시, 가스는 6.37기가와트시입니다. 전력은 8월이 가장 많고, 가스는 2월이 8월의 약 8배라 겨울 공급 여유가 핵심입니다. 주변 단지의 실제 월별 패턴을 그대로 쓰므로, 그해 기상이 크게 다르면 차이가 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번째는 지자체입니다. 전주 도심 반경 2킬로미터 구역에 연면적 10만 제곱미터가 새로 들어올 때, 이 구역 공동주택 전력 탄소를 20% 줄이려면 무엇이 필요한지 계산했습니다. 기준은 2025년 실제 관측 46개 단지, 연 38,015톤입니다. 신축이 더해지면 39,283톤이 되고, 목표는 30,412톤이라 8,871톤을 줄여야 합니다. 신축 건물만으로는 불가능하고, 기존 건물을 포함해 전체가 22.6% 효율을 높이거나 태양광 약 15메가와트가 필요합니다. 정책 목표의 현실성을 숫자로 보여 주는 예시입니다.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번째는 에너지 컨설팅 회사입니다. 지도에서 2000년 이전 준공 연면적이 절반 넘는 격자 가운데 공동주택 가스를 많이 쓰는 곳을 골랐습니다. 조건에 맞는 격자는 57곳이고, 상위 다섯 곳은 평화1동, 효자3동, 서신동, 인후3동 일대입니다. 가스 원단위도 전주 중앙값 65보다 대부분 높습니다. 이 다섯 곳에서 가스를 20%만 줄여도 연 21기가와트시, 약 3,878톤입니다. 격자를 누르면 단지 이름까지 나오므로 바로 제안서 대상 목록이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일곱 번째는 태양광 사업자입니다. 건물 전체 전력이 가장 큰 격자를 보면 송천2동, 효자5동, 혁신동, 금암2동 일대입니다. 상위 다섯 격자가 전주 계측 건물 전력의 8%를 씁니다. 한 격자 전력의 10%를 태양광으로 채우려면, kW당 연 1,300킬로와트시를 가정할 때 2.5에서 3.1메가와트가 필요합니다. 실제 설치 가능 면적은 현장 확인이 필요하지만, 어디부터 찾아갈지를 정하는 데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여덟 번째는 관리사무소나 자산운용사입니다. 전주 공동주택 격자 141곳의 세대당 연간 전력은 중앙값이 4,476킬로와트시, 상위 25%가 5,297을 넘습니다. 세대당 5,500을 쓰는 가상의 A단지는 상위 25% 안에 듭니다. 중앙값 수준까지만 낮춰도 연 512메가와트시, 약 233톤을 줄일 수 있습니다. 실제 단지라면 대시보드에서 자기 격자의 값과 근거를 바로 확인할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아홉 번째는 개발 사후 평가입니다. 전주 반경 4킬로미터 구역에서 2023년 준공을 기준으로 전후를 비교했습니다. 단순 합계로는 56% 늘어난 것처럼 보이지만, 두 기간 모두 보고한 같은 103개 단지만 비교하면 4.8% 증가입니다. 늘어난 대부분은 관리비 시스템에 보고하는 단지가 늘어난 효과였습니다. 이 도구가 같은 단지 비교를 기본으로 보여 주는 이유이고, 성과 평가에서 흔히 생기는 착시를 막아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열 번째는 도나 지역 에너지공사의 정책 담당자입니다. 전국 지도에서 전북을 고르면 14개 시군을 한전 판매량으로 비교합니다. 2018년 대비 건물 전력은 모든 시군에서 늘었고, 완주군과 순창군이 가장 많이 늘었습니다. 흥미로운 점은 같은 기간 온실가스 인벤토리의 건물 배출은 오히려 줄었다는 것입니다. 사용량이 줄어서가 아니라 전력 배출계수가 낮아졌기 때문입니다. 그래서 사용량과 배출을 같이 봐야 정책 효과를 제대로 판단할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열한 번째는 난방방식입니다. 수원의 공동주택은 지역난방 단지와 개별난방 단지가 섞여 있는데, 가스 원단위 중앙값이 지역난방은 제곱미터당 3, 개별난방은 72 킬로와트시로 약 24배 차이가 납니다. 연면적 8만5천 제곱미터 단지라면 지역난방일 때 연 0.26기가와트시, 개별난방일 때 6.1기가와트시입니다. 도시가스 공급사의 배관 용량이나 공급 계약 규모를 정할 때 바로 쓸 수 있습니다. 다만 지역난방의 열은 따로 공급되고 그 탄소는 이 도구에 아직 없으므로, 이 숫자로 탄소를 비교하면 안 됩니다. 이 차이를 반영해 수원 가스 모델의 오차를 127%에서 40%로 줄인 것도 이번 개선 중 하나였습니다.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전국에서 500m 격자까지 이어지는 지도와 두 가지 시뮬레이션, 근거가 붙은 보고서를 만들었습니다. 데이터는 전국 공식 통계와 지역 상세 자료 두 층이고, 계획안 비교부터 수요 예측, 감축 목표, 리모델링과 태양광 후보 찾기, 전국 비교까지 활용할 수 있습니다. 앞으로는 과거 자료를 마저 받고, 지역난방과 가스 기준을 확보하고, 상세 지역을 늘리겠습니다.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33"/>
        </a:solidFill>
      </p:bgPr>
    </p:bg>
    <p:spTree>
      <p:nvGrpSpPr>
        <p:cNvPr id="1" name=""/>
        <p:cNvGrpSpPr/>
        <p:nvPr/>
      </p:nvGrpSpPr>
      <p:grpSpPr>
        <a:xfrm>
          <a:off x="0" y="0"/>
          <a:ext cx="0" cy="0"/>
          <a:chOff x="0" y="0"/>
          <a:chExt cx="0" cy="0"/>
        </a:xfrm>
      </p:grpSpPr>
      <p:sp>
        <p:nvSpPr>
          <p:cNvPr id="2" name="Text 0"/>
          <p:cNvSpPr txBox="1"/>
          <p:nvPr/>
        </p:nvSpPr>
        <p:spPr>
          <a:xfrm>
            <a:off x="548640" y="822960"/>
            <a:ext cx="5120640" cy="274320"/>
          </a:xfrm>
          <a:prstGeom prst="rect">
            <a:avLst/>
          </a:prstGeom>
          <a:noFill/>
          <a:ln/>
        </p:spPr>
        <p:txBody>
          <a:bodyPr wrap="square" lIns="0" tIns="0" rIns="0" bIns="0" rtlCol="0" anchor="t"/>
          <a:lstStyle/>
          <a:p>
            <a:pPr indent="0" marL="0">
              <a:buNone/>
            </a:pPr>
            <a:r>
              <a:rPr lang="en-US" sz="1250" b="1" dirty="0">
                <a:solidFill>
                  <a:srgbClr val="A9C7BA"/>
                </a:solidFill>
                <a:latin typeface="Malgun Gothic" pitchFamily="34" charset="0"/>
                <a:ea typeface="Malgun Gothic" pitchFamily="34" charset="-122"/>
                <a:cs typeface="Malgun Gothic" pitchFamily="34" charset="-120"/>
              </a:rPr>
              <a:t>프로젝트 소개 · 사용법 · 활용 예시 · 2026-10-01</a:t>
            </a:r>
            <a:endParaRPr lang="en-US" sz="1250" dirty="0"/>
          </a:p>
        </p:txBody>
      </p:sp>
      <p:sp>
        <p:nvSpPr>
          <p:cNvPr id="3" name="Text 1"/>
          <p:cNvSpPr txBox="1"/>
          <p:nvPr/>
        </p:nvSpPr>
        <p:spPr>
          <a:xfrm>
            <a:off x="548640" y="1234440"/>
            <a:ext cx="5120640" cy="731520"/>
          </a:xfrm>
          <a:prstGeom prst="rect">
            <a:avLst/>
          </a:prstGeom>
          <a:noFill/>
          <a:ln/>
        </p:spPr>
        <p:txBody>
          <a:bodyPr wrap="square" lIns="0" tIns="0" rIns="0" bIns="0" rtlCol="0" anchor="t"/>
          <a:lstStyle/>
          <a:p>
            <a:pPr indent="0" marL="0">
              <a:buNone/>
            </a:pPr>
            <a:r>
              <a:rPr lang="en-US" sz="3800" b="1" dirty="0">
                <a:solidFill>
                  <a:srgbClr val="FFFFFF"/>
                </a:solidFill>
                <a:latin typeface="Malgun Gothic" pitchFamily="34" charset="0"/>
                <a:ea typeface="Malgun Gothic" pitchFamily="34" charset="-122"/>
                <a:cs typeface="Malgun Gothic" pitchFamily="34" charset="-120"/>
              </a:rPr>
              <a:t>Carbon Urban DSS</a:t>
            </a:r>
            <a:endParaRPr lang="en-US" sz="3800" dirty="0"/>
          </a:p>
        </p:txBody>
      </p:sp>
      <p:sp>
        <p:nvSpPr>
          <p:cNvPr id="4" name="Text 2"/>
          <p:cNvSpPr txBox="1"/>
          <p:nvPr/>
        </p:nvSpPr>
        <p:spPr>
          <a:xfrm>
            <a:off x="548640" y="2148840"/>
            <a:ext cx="5029200" cy="1280160"/>
          </a:xfrm>
          <a:prstGeom prst="rect">
            <a:avLst/>
          </a:prstGeom>
          <a:noFill/>
          <a:ln/>
        </p:spPr>
        <p:txBody>
          <a:bodyPr wrap="square" lIns="0" tIns="0" rIns="0" bIns="0" rtlCol="0" anchor="t"/>
          <a:lstStyle/>
          <a:p>
            <a:pPr indent="0" marL="0">
              <a:lnSpc>
                <a:spcPct val="115000"/>
              </a:lnSpc>
              <a:buNone/>
            </a:pPr>
            <a:r>
              <a:rPr lang="en-US" sz="1900" dirty="0">
                <a:solidFill>
                  <a:srgbClr val="E4EEE9"/>
                </a:solidFill>
                <a:latin typeface="Malgun Gothic" pitchFamily="34" charset="0"/>
                <a:ea typeface="Malgun Gothic" pitchFamily="34" charset="-122"/>
                <a:cs typeface="Malgun Gothic" pitchFamily="34" charset="-120"/>
              </a:rPr>
              <a:t>공공데이터로 도시 건물의</a:t>
            </a:r>
            <a:endParaRPr lang="en-US" sz="1900" dirty="0"/>
          </a:p>
          <a:p>
            <a:pPr indent="0" marL="0">
              <a:lnSpc>
                <a:spcPct val="115000"/>
              </a:lnSpc>
              <a:buNone/>
            </a:pPr>
            <a:r>
              <a:rPr lang="en-US" sz="1900" dirty="0">
                <a:solidFill>
                  <a:srgbClr val="E4EEE9"/>
                </a:solidFill>
                <a:latin typeface="Malgun Gothic" pitchFamily="34" charset="0"/>
                <a:ea typeface="Malgun Gothic" pitchFamily="34" charset="-122"/>
                <a:cs typeface="Malgun Gothic" pitchFamily="34" charset="-120"/>
              </a:rPr>
              <a:t>에너지·탄소를 보고,</a:t>
            </a:r>
            <a:endParaRPr lang="en-US" sz="1900" dirty="0"/>
          </a:p>
          <a:p>
            <a:pPr indent="0" marL="0">
              <a:lnSpc>
                <a:spcPct val="115000"/>
              </a:lnSpc>
              <a:buNone/>
            </a:pPr>
            <a:r>
              <a:rPr lang="en-US" sz="1900" dirty="0">
                <a:solidFill>
                  <a:srgbClr val="E4EEE9"/>
                </a:solidFill>
                <a:latin typeface="Malgun Gothic" pitchFamily="34" charset="0"/>
                <a:ea typeface="Malgun Gothic" pitchFamily="34" charset="-122"/>
                <a:cs typeface="Malgun Gothic" pitchFamily="34" charset="-120"/>
              </a:rPr>
              <a:t>계획의 영향을 계산하는 도구</a:t>
            </a:r>
            <a:endParaRPr lang="en-US" sz="1900" dirty="0"/>
          </a:p>
        </p:txBody>
      </p:sp>
      <p:sp>
        <p:nvSpPr>
          <p:cNvPr id="5" name="Shape 3"/>
          <p:cNvSpPr/>
          <p:nvPr/>
        </p:nvSpPr>
        <p:spPr>
          <a:xfrm>
            <a:off x="548640" y="3886200"/>
            <a:ext cx="1051560" cy="365760"/>
          </a:xfrm>
          <a:prstGeom prst="roundRect">
            <a:avLst>
              <a:gd name="adj" fmla="val 15000"/>
            </a:avLst>
          </a:prstGeom>
          <a:solidFill>
            <a:srgbClr val="2F5D50"/>
          </a:solidFill>
          <a:ln w="12700">
            <a:solidFill>
              <a:srgbClr val="2F5D50"/>
            </a:solidFill>
            <a:prstDash val="solid"/>
          </a:ln>
        </p:spPr>
      </p:sp>
      <p:sp>
        <p:nvSpPr>
          <p:cNvPr id="6" name="Text 4"/>
          <p:cNvSpPr txBox="1"/>
          <p:nvPr/>
        </p:nvSpPr>
        <p:spPr>
          <a:xfrm>
            <a:off x="548640" y="3886200"/>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지금까지</a:t>
            </a:r>
            <a:endParaRPr lang="en-US" sz="1200" dirty="0"/>
          </a:p>
        </p:txBody>
      </p:sp>
      <p:sp>
        <p:nvSpPr>
          <p:cNvPr id="7" name="Text 5"/>
          <p:cNvSpPr txBox="1"/>
          <p:nvPr/>
        </p:nvSpPr>
        <p:spPr>
          <a:xfrm>
            <a:off x="1783080" y="3941064"/>
            <a:ext cx="3931920" cy="292608"/>
          </a:xfrm>
          <a:prstGeom prst="rect">
            <a:avLst/>
          </a:prstGeom>
          <a:noFill/>
          <a:ln/>
        </p:spPr>
        <p:txBody>
          <a:bodyPr wrap="square" lIns="0" tIns="0" rIns="0" bIns="0" rtlCol="0" anchor="t"/>
          <a:lstStyle/>
          <a:p>
            <a:pPr indent="0" marL="0">
              <a:buNone/>
            </a:pPr>
            <a:r>
              <a:rPr lang="en-US" sz="1300" dirty="0">
                <a:solidFill>
                  <a:srgbClr val="FFFFFF"/>
                </a:solidFill>
                <a:latin typeface="Malgun Gothic" pitchFamily="34" charset="0"/>
                <a:ea typeface="Malgun Gothic" pitchFamily="34" charset="-122"/>
                <a:cs typeface="Malgun Gothic" pitchFamily="34" charset="-120"/>
              </a:rPr>
              <a:t>전국 지도부터 500m 격자·시뮬레이션·보고서까지</a:t>
            </a:r>
            <a:endParaRPr lang="en-US" sz="1300" dirty="0"/>
          </a:p>
        </p:txBody>
      </p:sp>
      <p:sp>
        <p:nvSpPr>
          <p:cNvPr id="8" name="Shape 6"/>
          <p:cNvSpPr/>
          <p:nvPr/>
        </p:nvSpPr>
        <p:spPr>
          <a:xfrm>
            <a:off x="548640" y="4453128"/>
            <a:ext cx="1051560" cy="365760"/>
          </a:xfrm>
          <a:prstGeom prst="roundRect">
            <a:avLst>
              <a:gd name="adj" fmla="val 15000"/>
            </a:avLst>
          </a:prstGeom>
          <a:solidFill>
            <a:srgbClr val="2F5D50"/>
          </a:solidFill>
          <a:ln w="12700">
            <a:solidFill>
              <a:srgbClr val="2F5D50"/>
            </a:solidFill>
            <a:prstDash val="solid"/>
          </a:ln>
        </p:spPr>
      </p:sp>
      <p:sp>
        <p:nvSpPr>
          <p:cNvPr id="9" name="Text 7"/>
          <p:cNvSpPr txBox="1"/>
          <p:nvPr/>
        </p:nvSpPr>
        <p:spPr>
          <a:xfrm>
            <a:off x="548640" y="445312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데이터</a:t>
            </a:r>
            <a:endParaRPr lang="en-US" sz="1200" dirty="0"/>
          </a:p>
        </p:txBody>
      </p:sp>
      <p:sp>
        <p:nvSpPr>
          <p:cNvPr id="10" name="Text 8"/>
          <p:cNvSpPr txBox="1"/>
          <p:nvPr/>
        </p:nvSpPr>
        <p:spPr>
          <a:xfrm>
            <a:off x="1783080" y="4507992"/>
            <a:ext cx="3931920" cy="292608"/>
          </a:xfrm>
          <a:prstGeom prst="rect">
            <a:avLst/>
          </a:prstGeom>
          <a:noFill/>
          <a:ln/>
        </p:spPr>
        <p:txBody>
          <a:bodyPr wrap="square" lIns="0" tIns="0" rIns="0" bIns="0" rtlCol="0" anchor="t"/>
          <a:lstStyle/>
          <a:p>
            <a:pPr indent="0" marL="0">
              <a:buNone/>
            </a:pPr>
            <a:r>
              <a:rPr lang="en-US" sz="1300" dirty="0">
                <a:solidFill>
                  <a:srgbClr val="FFFFFF"/>
                </a:solidFill>
                <a:latin typeface="Malgun Gothic" pitchFamily="34" charset="0"/>
                <a:ea typeface="Malgun Gothic" pitchFamily="34" charset="-122"/>
                <a:cs typeface="Malgun Gothic" pitchFamily="34" charset="-120"/>
              </a:rPr>
              <a:t>공공데이터 12종, 전국 공식 통계 + 지역 상세 자료</a:t>
            </a:r>
            <a:endParaRPr lang="en-US" sz="1300" dirty="0"/>
          </a:p>
        </p:txBody>
      </p:sp>
      <p:sp>
        <p:nvSpPr>
          <p:cNvPr id="11" name="Shape 9"/>
          <p:cNvSpPr/>
          <p:nvPr/>
        </p:nvSpPr>
        <p:spPr>
          <a:xfrm>
            <a:off x="548640" y="5020056"/>
            <a:ext cx="1051560" cy="365760"/>
          </a:xfrm>
          <a:prstGeom prst="roundRect">
            <a:avLst>
              <a:gd name="adj" fmla="val 15000"/>
            </a:avLst>
          </a:prstGeom>
          <a:solidFill>
            <a:srgbClr val="2F5D50"/>
          </a:solidFill>
          <a:ln w="12700">
            <a:solidFill>
              <a:srgbClr val="2F5D50"/>
            </a:solidFill>
            <a:prstDash val="solid"/>
          </a:ln>
        </p:spPr>
      </p:sp>
      <p:sp>
        <p:nvSpPr>
          <p:cNvPr id="12" name="Text 10"/>
          <p:cNvSpPr txBox="1"/>
          <p:nvPr/>
        </p:nvSpPr>
        <p:spPr>
          <a:xfrm>
            <a:off x="548640" y="5020056"/>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활용</a:t>
            </a:r>
            <a:endParaRPr lang="en-US" sz="1200" dirty="0"/>
          </a:p>
        </p:txBody>
      </p:sp>
      <p:sp>
        <p:nvSpPr>
          <p:cNvPr id="13" name="Text 11"/>
          <p:cNvSpPr txBox="1"/>
          <p:nvPr/>
        </p:nvSpPr>
        <p:spPr>
          <a:xfrm>
            <a:off x="1783080" y="5074920"/>
            <a:ext cx="3931920" cy="292608"/>
          </a:xfrm>
          <a:prstGeom prst="rect">
            <a:avLst/>
          </a:prstGeom>
          <a:noFill/>
          <a:ln/>
        </p:spPr>
        <p:txBody>
          <a:bodyPr wrap="square" lIns="0" tIns="0" rIns="0" bIns="0" rtlCol="0" anchor="t"/>
          <a:lstStyle/>
          <a:p>
            <a:pPr indent="0" marL="0">
              <a:buNone/>
            </a:pPr>
            <a:r>
              <a:rPr lang="en-US" sz="1300" dirty="0">
                <a:solidFill>
                  <a:srgbClr val="FFFFFF"/>
                </a:solidFill>
                <a:latin typeface="Malgun Gothic" pitchFamily="34" charset="0"/>
                <a:ea typeface="Malgun Gothic" pitchFamily="34" charset="-122"/>
                <a:cs typeface="Malgun Gothic" pitchFamily="34" charset="-120"/>
              </a:rPr>
              <a:t>건설·설계·공급사·지자체·ESCO 등 11가지 예시</a:t>
            </a:r>
            <a:endParaRPr lang="en-US" sz="1300" dirty="0"/>
          </a:p>
        </p:txBody>
      </p:sp>
      <p:sp>
        <p:nvSpPr>
          <p:cNvPr id="14" name="Text 12"/>
          <p:cNvSpPr txBox="1"/>
          <p:nvPr/>
        </p:nvSpPr>
        <p:spPr>
          <a:xfrm>
            <a:off x="548640" y="5989320"/>
            <a:ext cx="5120640" cy="274320"/>
          </a:xfrm>
          <a:prstGeom prst="rect">
            <a:avLst/>
          </a:prstGeom>
          <a:noFill/>
          <a:ln/>
        </p:spPr>
        <p:txBody>
          <a:bodyPr wrap="square" lIns="0" tIns="0" rIns="0" bIns="0" rtlCol="0" anchor="t"/>
          <a:lstStyle/>
          <a:p>
            <a:pPr indent="0" marL="0">
              <a:buNone/>
            </a:pPr>
            <a:r>
              <a:rPr lang="en-US" sz="1050" dirty="0">
                <a:solidFill>
                  <a:srgbClr val="A9C7BA"/>
                </a:solidFill>
                <a:latin typeface="Malgun Gothic" pitchFamily="34" charset="0"/>
                <a:ea typeface="Malgun Gothic" pitchFamily="34" charset="-122"/>
                <a:cs typeface="Malgun Gothic" pitchFamily="34" charset="-120"/>
              </a:rPr>
              <a:t>선도소프트 캡스톤 · 화면과 숫자는 PC 실데이터</a:t>
            </a:r>
            <a:endParaRPr lang="en-US" sz="1050" dirty="0"/>
          </a:p>
        </p:txBody>
      </p:sp>
      <p:sp>
        <p:nvSpPr>
          <p:cNvPr id="15" name="Shape 13"/>
          <p:cNvSpPr/>
          <p:nvPr/>
        </p:nvSpPr>
        <p:spPr>
          <a:xfrm>
            <a:off x="5806440" y="914400"/>
            <a:ext cx="5943600" cy="3714750"/>
          </a:xfrm>
          <a:prstGeom prst="rect">
            <a:avLst/>
          </a:prstGeom>
          <a:solidFill>
            <a:srgbClr val="FFFFFF"/>
          </a:solidFill>
          <a:ln w="12700">
            <a:solidFill>
              <a:srgbClr val="3E5C54"/>
            </a:solidFill>
            <a:prstDash val="solid"/>
          </a:ln>
          <a:effectLst>
            <a:outerShdw sx="100000" sy="100000" kx="0" ky="0" algn="bl" rotWithShape="0" blurRad="101600" dist="25400" dir="5400000">
              <a:srgbClr val="000000">
                <a:alpha val="16000"/>
              </a:srgbClr>
            </a:outerShdw>
          </a:effectLst>
        </p:spPr>
      </p:sp>
      <p:pic>
        <p:nvPicPr>
          <p:cNvPr id="16" name="Image 0" descr="전주시 건물 전체 연간 전력 지도와 읍면동 비교">    </p:cNvPr>
          <p:cNvPicPr>
            <a:picLocks noChangeAspect="1"/>
          </p:cNvPicPr>
          <p:nvPr/>
        </p:nvPicPr>
        <p:blipFill>
          <a:blip r:embed="rId1"/>
          <a:stretch>
            <a:fillRect/>
          </a:stretch>
        </p:blipFill>
        <p:spPr>
          <a:xfrm>
            <a:off x="5824728" y="932688"/>
            <a:ext cx="5907024" cy="36918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2</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한 장 요약</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누가, 무엇을, 어떤 데이터로 판단하나</a:t>
            </a:r>
            <a:endParaRPr lang="en-US" sz="2500" dirty="0"/>
          </a:p>
        </p:txBody>
      </p:sp>
      <p:sp>
        <p:nvSpPr>
          <p:cNvPr id="5" name="Shape 3"/>
          <p:cNvSpPr/>
          <p:nvPr/>
        </p:nvSpPr>
        <p:spPr>
          <a:xfrm>
            <a:off x="457200" y="1371600"/>
            <a:ext cx="3611880" cy="4160520"/>
          </a:xfrm>
          <a:prstGeom prst="roundRect">
            <a:avLst>
              <a:gd name="adj" fmla="val 2025"/>
            </a:avLst>
          </a:prstGeom>
          <a:solidFill>
            <a:srgbClr val="F4F6F4"/>
          </a:solidFill>
          <a:ln w="9525">
            <a:solidFill>
              <a:srgbClr val="D9D7CE"/>
            </a:solidFill>
            <a:prstDash val="solid"/>
          </a:ln>
        </p:spPr>
      </p:sp>
      <p:sp>
        <p:nvSpPr>
          <p:cNvPr id="6" name="Text 4"/>
          <p:cNvSpPr txBox="1"/>
          <p:nvPr/>
        </p:nvSpPr>
        <p:spPr>
          <a:xfrm>
            <a:off x="731520" y="1554480"/>
            <a:ext cx="3108960" cy="365760"/>
          </a:xfrm>
          <a:prstGeom prst="rect">
            <a:avLst/>
          </a:prstGeom>
          <a:noFill/>
          <a:ln/>
        </p:spPr>
        <p:txBody>
          <a:bodyPr wrap="square" lIns="0" tIns="0" rIns="0" bIns="0" rtlCol="0" anchor="t"/>
          <a:lstStyle/>
          <a:p>
            <a:pPr indent="0" marL="0">
              <a:buNone/>
            </a:pPr>
            <a:r>
              <a:rPr lang="en-US" sz="1700" b="1" dirty="0">
                <a:solidFill>
                  <a:srgbClr val="2F5D50"/>
                </a:solidFill>
                <a:latin typeface="Malgun Gothic" pitchFamily="34" charset="0"/>
                <a:ea typeface="Malgun Gothic" pitchFamily="34" charset="-122"/>
                <a:cs typeface="Malgun Gothic" pitchFamily="34" charset="-120"/>
              </a:rPr>
              <a:t>누가</a:t>
            </a:r>
            <a:endParaRPr lang="en-US" sz="1700" dirty="0"/>
          </a:p>
        </p:txBody>
      </p:sp>
      <p:sp>
        <p:nvSpPr>
          <p:cNvPr id="7" name="Shape 5"/>
          <p:cNvSpPr/>
          <p:nvPr/>
        </p:nvSpPr>
        <p:spPr>
          <a:xfrm>
            <a:off x="731520" y="2231136"/>
            <a:ext cx="128016" cy="128016"/>
          </a:xfrm>
          <a:prstGeom prst="ellipse">
            <a:avLst/>
          </a:prstGeom>
          <a:solidFill>
            <a:srgbClr val="2F5D50"/>
          </a:solidFill>
          <a:ln w="12700">
            <a:solidFill>
              <a:srgbClr val="2F5D50"/>
            </a:solidFill>
            <a:prstDash val="solid"/>
          </a:ln>
        </p:spPr>
      </p:sp>
      <p:sp>
        <p:nvSpPr>
          <p:cNvPr id="8" name="Text 6"/>
          <p:cNvSpPr txBox="1"/>
          <p:nvPr/>
        </p:nvSpPr>
        <p:spPr>
          <a:xfrm>
            <a:off x="1005840" y="2148840"/>
            <a:ext cx="2926080" cy="548640"/>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건설사·시행사·설계사무소</a:t>
            </a:r>
            <a:endParaRPr lang="en-US" sz="1250" dirty="0"/>
          </a:p>
        </p:txBody>
      </p:sp>
      <p:sp>
        <p:nvSpPr>
          <p:cNvPr id="9" name="Shape 7"/>
          <p:cNvSpPr/>
          <p:nvPr/>
        </p:nvSpPr>
        <p:spPr>
          <a:xfrm>
            <a:off x="731520" y="2871216"/>
            <a:ext cx="128016" cy="128016"/>
          </a:xfrm>
          <a:prstGeom prst="ellipse">
            <a:avLst/>
          </a:prstGeom>
          <a:solidFill>
            <a:srgbClr val="2F5D50"/>
          </a:solidFill>
          <a:ln w="12700">
            <a:solidFill>
              <a:srgbClr val="2F5D50"/>
            </a:solidFill>
            <a:prstDash val="solid"/>
          </a:ln>
        </p:spPr>
      </p:sp>
      <p:sp>
        <p:nvSpPr>
          <p:cNvPr id="10" name="Text 8"/>
          <p:cNvSpPr txBox="1"/>
          <p:nvPr/>
        </p:nvSpPr>
        <p:spPr>
          <a:xfrm>
            <a:off x="1005840" y="2788920"/>
            <a:ext cx="2926080" cy="548640"/>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도시가스·전력 공급사</a:t>
            </a:r>
            <a:endParaRPr lang="en-US" sz="1250" dirty="0"/>
          </a:p>
        </p:txBody>
      </p:sp>
      <p:sp>
        <p:nvSpPr>
          <p:cNvPr id="11" name="Shape 9"/>
          <p:cNvSpPr/>
          <p:nvPr/>
        </p:nvSpPr>
        <p:spPr>
          <a:xfrm>
            <a:off x="731520" y="3511296"/>
            <a:ext cx="128016" cy="128016"/>
          </a:xfrm>
          <a:prstGeom prst="ellipse">
            <a:avLst/>
          </a:prstGeom>
          <a:solidFill>
            <a:srgbClr val="2F5D50"/>
          </a:solidFill>
          <a:ln w="12700">
            <a:solidFill>
              <a:srgbClr val="2F5D50"/>
            </a:solidFill>
            <a:prstDash val="solid"/>
          </a:ln>
        </p:spPr>
      </p:sp>
      <p:sp>
        <p:nvSpPr>
          <p:cNvPr id="12" name="Text 10"/>
          <p:cNvSpPr txBox="1"/>
          <p:nvPr/>
        </p:nvSpPr>
        <p:spPr>
          <a:xfrm>
            <a:off x="1005840" y="3429000"/>
            <a:ext cx="2926080" cy="548640"/>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지자체 도시계획·기후 부서</a:t>
            </a:r>
            <a:endParaRPr lang="en-US" sz="1250" dirty="0"/>
          </a:p>
        </p:txBody>
      </p:sp>
      <p:sp>
        <p:nvSpPr>
          <p:cNvPr id="13" name="Shape 11"/>
          <p:cNvSpPr/>
          <p:nvPr/>
        </p:nvSpPr>
        <p:spPr>
          <a:xfrm>
            <a:off x="731520" y="4151376"/>
            <a:ext cx="128016" cy="128016"/>
          </a:xfrm>
          <a:prstGeom prst="ellipse">
            <a:avLst/>
          </a:prstGeom>
          <a:solidFill>
            <a:srgbClr val="2F5D50"/>
          </a:solidFill>
          <a:ln w="12700">
            <a:solidFill>
              <a:srgbClr val="2F5D50"/>
            </a:solidFill>
            <a:prstDash val="solid"/>
          </a:ln>
        </p:spPr>
      </p:sp>
      <p:sp>
        <p:nvSpPr>
          <p:cNvPr id="14" name="Text 12"/>
          <p:cNvSpPr txBox="1"/>
          <p:nvPr/>
        </p:nvSpPr>
        <p:spPr>
          <a:xfrm>
            <a:off x="1005840" y="4069080"/>
            <a:ext cx="2926080" cy="548640"/>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에너지 컨설팅(ESCO)·태양광 사업자</a:t>
            </a:r>
            <a:endParaRPr lang="en-US" sz="1250" dirty="0"/>
          </a:p>
        </p:txBody>
      </p:sp>
      <p:sp>
        <p:nvSpPr>
          <p:cNvPr id="15" name="Shape 13"/>
          <p:cNvSpPr/>
          <p:nvPr/>
        </p:nvSpPr>
        <p:spPr>
          <a:xfrm>
            <a:off x="731520" y="4791456"/>
            <a:ext cx="128016" cy="128016"/>
          </a:xfrm>
          <a:prstGeom prst="ellipse">
            <a:avLst/>
          </a:prstGeom>
          <a:solidFill>
            <a:srgbClr val="2F5D50"/>
          </a:solidFill>
          <a:ln w="12700">
            <a:solidFill>
              <a:srgbClr val="2F5D50"/>
            </a:solidFill>
            <a:prstDash val="solid"/>
          </a:ln>
        </p:spPr>
      </p:sp>
      <p:sp>
        <p:nvSpPr>
          <p:cNvPr id="16" name="Text 14"/>
          <p:cNvSpPr txBox="1"/>
          <p:nvPr/>
        </p:nvSpPr>
        <p:spPr>
          <a:xfrm>
            <a:off x="1005840" y="4709160"/>
            <a:ext cx="2926080" cy="548640"/>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공동주택 관리·자산운용</a:t>
            </a:r>
            <a:endParaRPr lang="en-US" sz="1250" dirty="0"/>
          </a:p>
        </p:txBody>
      </p:sp>
      <p:sp>
        <p:nvSpPr>
          <p:cNvPr id="17" name="Shape 15"/>
          <p:cNvSpPr/>
          <p:nvPr/>
        </p:nvSpPr>
        <p:spPr>
          <a:xfrm>
            <a:off x="4279392" y="1371600"/>
            <a:ext cx="3611880" cy="4160520"/>
          </a:xfrm>
          <a:prstGeom prst="roundRect">
            <a:avLst>
              <a:gd name="adj" fmla="val 2025"/>
            </a:avLst>
          </a:prstGeom>
          <a:solidFill>
            <a:srgbClr val="F4F6F4"/>
          </a:solidFill>
          <a:ln w="9525">
            <a:solidFill>
              <a:srgbClr val="D9D7CE"/>
            </a:solidFill>
            <a:prstDash val="solid"/>
          </a:ln>
        </p:spPr>
      </p:sp>
      <p:sp>
        <p:nvSpPr>
          <p:cNvPr id="18" name="Text 16"/>
          <p:cNvSpPr txBox="1"/>
          <p:nvPr/>
        </p:nvSpPr>
        <p:spPr>
          <a:xfrm>
            <a:off x="4553712" y="1554480"/>
            <a:ext cx="3108960" cy="365760"/>
          </a:xfrm>
          <a:prstGeom prst="rect">
            <a:avLst/>
          </a:prstGeom>
          <a:noFill/>
          <a:ln/>
        </p:spPr>
        <p:txBody>
          <a:bodyPr wrap="square" lIns="0" tIns="0" rIns="0" bIns="0" rtlCol="0" anchor="t"/>
          <a:lstStyle/>
          <a:p>
            <a:pPr indent="0" marL="0">
              <a:buNone/>
            </a:pPr>
            <a:r>
              <a:rPr lang="en-US" sz="1700" b="1" dirty="0">
                <a:solidFill>
                  <a:srgbClr val="B7792F"/>
                </a:solidFill>
                <a:latin typeface="Malgun Gothic" pitchFamily="34" charset="0"/>
                <a:ea typeface="Malgun Gothic" pitchFamily="34" charset="-122"/>
                <a:cs typeface="Malgun Gothic" pitchFamily="34" charset="-120"/>
              </a:rPr>
              <a:t>무엇을</a:t>
            </a:r>
            <a:endParaRPr lang="en-US" sz="1700" dirty="0"/>
          </a:p>
        </p:txBody>
      </p:sp>
      <p:sp>
        <p:nvSpPr>
          <p:cNvPr id="19" name="Shape 17"/>
          <p:cNvSpPr/>
          <p:nvPr/>
        </p:nvSpPr>
        <p:spPr>
          <a:xfrm>
            <a:off x="4553712" y="2231136"/>
            <a:ext cx="128016" cy="128016"/>
          </a:xfrm>
          <a:prstGeom prst="ellipse">
            <a:avLst/>
          </a:prstGeom>
          <a:solidFill>
            <a:srgbClr val="B7792F"/>
          </a:solidFill>
          <a:ln w="12700">
            <a:solidFill>
              <a:srgbClr val="B7792F"/>
            </a:solidFill>
            <a:prstDash val="solid"/>
          </a:ln>
        </p:spPr>
      </p:sp>
      <p:sp>
        <p:nvSpPr>
          <p:cNvPr id="20" name="Text 18"/>
          <p:cNvSpPr txBox="1"/>
          <p:nvPr/>
        </p:nvSpPr>
        <p:spPr>
          <a:xfrm>
            <a:off x="4828032" y="2148840"/>
            <a:ext cx="2926080" cy="548640"/>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어느 격자·동이 에너지를 많이 쓰나</a:t>
            </a:r>
            <a:endParaRPr lang="en-US" sz="1250" dirty="0"/>
          </a:p>
        </p:txBody>
      </p:sp>
      <p:sp>
        <p:nvSpPr>
          <p:cNvPr id="21" name="Shape 19"/>
          <p:cNvSpPr/>
          <p:nvPr/>
        </p:nvSpPr>
        <p:spPr>
          <a:xfrm>
            <a:off x="4553712" y="2871216"/>
            <a:ext cx="128016" cy="128016"/>
          </a:xfrm>
          <a:prstGeom prst="ellipse">
            <a:avLst/>
          </a:prstGeom>
          <a:solidFill>
            <a:srgbClr val="B7792F"/>
          </a:solidFill>
          <a:ln w="12700">
            <a:solidFill>
              <a:srgbClr val="B7792F"/>
            </a:solidFill>
            <a:prstDash val="solid"/>
          </a:ln>
        </p:spPr>
      </p:sp>
      <p:sp>
        <p:nvSpPr>
          <p:cNvPr id="22" name="Text 20"/>
          <p:cNvSpPr txBox="1"/>
          <p:nvPr/>
        </p:nvSpPr>
        <p:spPr>
          <a:xfrm>
            <a:off x="4828032" y="2788920"/>
            <a:ext cx="2926080" cy="548640"/>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이 계획안의 에너지·탄소는 얼마인가</a:t>
            </a:r>
            <a:endParaRPr lang="en-US" sz="1250" dirty="0"/>
          </a:p>
        </p:txBody>
      </p:sp>
      <p:sp>
        <p:nvSpPr>
          <p:cNvPr id="23" name="Shape 21"/>
          <p:cNvSpPr/>
          <p:nvPr/>
        </p:nvSpPr>
        <p:spPr>
          <a:xfrm>
            <a:off x="4553712" y="3511296"/>
            <a:ext cx="128016" cy="128016"/>
          </a:xfrm>
          <a:prstGeom prst="ellipse">
            <a:avLst/>
          </a:prstGeom>
          <a:solidFill>
            <a:srgbClr val="B7792F"/>
          </a:solidFill>
          <a:ln w="12700">
            <a:solidFill>
              <a:srgbClr val="B7792F"/>
            </a:solidFill>
            <a:prstDash val="solid"/>
          </a:ln>
        </p:spPr>
      </p:sp>
      <p:sp>
        <p:nvSpPr>
          <p:cNvPr id="24" name="Text 22"/>
          <p:cNvSpPr txBox="1"/>
          <p:nvPr/>
        </p:nvSpPr>
        <p:spPr>
          <a:xfrm>
            <a:off x="4828032" y="3429000"/>
            <a:ext cx="2926080" cy="548640"/>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용도지역 상한 안에서 어떤 배치가 좋은가</a:t>
            </a:r>
            <a:endParaRPr lang="en-US" sz="1250" dirty="0"/>
          </a:p>
        </p:txBody>
      </p:sp>
      <p:sp>
        <p:nvSpPr>
          <p:cNvPr id="25" name="Shape 23"/>
          <p:cNvSpPr/>
          <p:nvPr/>
        </p:nvSpPr>
        <p:spPr>
          <a:xfrm>
            <a:off x="4553712" y="4151376"/>
            <a:ext cx="128016" cy="128016"/>
          </a:xfrm>
          <a:prstGeom prst="ellipse">
            <a:avLst/>
          </a:prstGeom>
          <a:solidFill>
            <a:srgbClr val="B7792F"/>
          </a:solidFill>
          <a:ln w="12700">
            <a:solidFill>
              <a:srgbClr val="B7792F"/>
            </a:solidFill>
            <a:prstDash val="solid"/>
          </a:ln>
        </p:spPr>
      </p:sp>
      <p:sp>
        <p:nvSpPr>
          <p:cNvPr id="26" name="Text 24"/>
          <p:cNvSpPr txBox="1"/>
          <p:nvPr/>
        </p:nvSpPr>
        <p:spPr>
          <a:xfrm>
            <a:off x="4828032" y="4069080"/>
            <a:ext cx="2926080" cy="548640"/>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감축 목표를 맞추려면 무엇이 얼마나 필요한가</a:t>
            </a:r>
            <a:endParaRPr lang="en-US" sz="1250" dirty="0"/>
          </a:p>
        </p:txBody>
      </p:sp>
      <p:sp>
        <p:nvSpPr>
          <p:cNvPr id="27" name="Shape 25"/>
          <p:cNvSpPr/>
          <p:nvPr/>
        </p:nvSpPr>
        <p:spPr>
          <a:xfrm>
            <a:off x="4553712" y="4791456"/>
            <a:ext cx="128016" cy="128016"/>
          </a:xfrm>
          <a:prstGeom prst="ellipse">
            <a:avLst/>
          </a:prstGeom>
          <a:solidFill>
            <a:srgbClr val="B7792F"/>
          </a:solidFill>
          <a:ln w="12700">
            <a:solidFill>
              <a:srgbClr val="B7792F"/>
            </a:solidFill>
            <a:prstDash val="solid"/>
          </a:ln>
        </p:spPr>
      </p:sp>
      <p:sp>
        <p:nvSpPr>
          <p:cNvPr id="28" name="Text 26"/>
          <p:cNvSpPr txBox="1"/>
          <p:nvPr/>
        </p:nvSpPr>
        <p:spPr>
          <a:xfrm>
            <a:off x="4828032" y="4709160"/>
            <a:ext cx="2926080" cy="548640"/>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개발 전후 실제로 얼마나 변했나</a:t>
            </a:r>
            <a:endParaRPr lang="en-US" sz="1250" dirty="0"/>
          </a:p>
        </p:txBody>
      </p:sp>
      <p:sp>
        <p:nvSpPr>
          <p:cNvPr id="29" name="Shape 27"/>
          <p:cNvSpPr/>
          <p:nvPr/>
        </p:nvSpPr>
        <p:spPr>
          <a:xfrm>
            <a:off x="8101584" y="1371600"/>
            <a:ext cx="3611880" cy="4160520"/>
          </a:xfrm>
          <a:prstGeom prst="roundRect">
            <a:avLst>
              <a:gd name="adj" fmla="val 2025"/>
            </a:avLst>
          </a:prstGeom>
          <a:solidFill>
            <a:srgbClr val="F4F6F4"/>
          </a:solidFill>
          <a:ln w="9525">
            <a:solidFill>
              <a:srgbClr val="D9D7CE"/>
            </a:solidFill>
            <a:prstDash val="solid"/>
          </a:ln>
        </p:spPr>
      </p:sp>
      <p:sp>
        <p:nvSpPr>
          <p:cNvPr id="30" name="Text 28"/>
          <p:cNvSpPr txBox="1"/>
          <p:nvPr/>
        </p:nvSpPr>
        <p:spPr>
          <a:xfrm>
            <a:off x="8375904" y="1554480"/>
            <a:ext cx="3108960" cy="365760"/>
          </a:xfrm>
          <a:prstGeom prst="rect">
            <a:avLst/>
          </a:prstGeom>
          <a:noFill/>
          <a:ln/>
        </p:spPr>
        <p:txBody>
          <a:bodyPr wrap="square" lIns="0" tIns="0" rIns="0" bIns="0" rtlCol="0" anchor="t"/>
          <a:lstStyle/>
          <a:p>
            <a:pPr indent="0" marL="0">
              <a:buNone/>
            </a:pPr>
            <a:r>
              <a:rPr lang="en-US" sz="1700" b="1" dirty="0">
                <a:solidFill>
                  <a:srgbClr val="2E5A87"/>
                </a:solidFill>
                <a:latin typeface="Malgun Gothic" pitchFamily="34" charset="0"/>
                <a:ea typeface="Malgun Gothic" pitchFamily="34" charset="-122"/>
                <a:cs typeface="Malgun Gothic" pitchFamily="34" charset="-120"/>
              </a:rPr>
              <a:t>어떤 데이터로</a:t>
            </a:r>
            <a:endParaRPr lang="en-US" sz="1700" dirty="0"/>
          </a:p>
        </p:txBody>
      </p:sp>
      <p:sp>
        <p:nvSpPr>
          <p:cNvPr id="31" name="Shape 29"/>
          <p:cNvSpPr/>
          <p:nvPr/>
        </p:nvSpPr>
        <p:spPr>
          <a:xfrm>
            <a:off x="8375904" y="2231136"/>
            <a:ext cx="128016" cy="128016"/>
          </a:xfrm>
          <a:prstGeom prst="ellipse">
            <a:avLst/>
          </a:prstGeom>
          <a:solidFill>
            <a:srgbClr val="2E5A87"/>
          </a:solidFill>
          <a:ln w="12700">
            <a:solidFill>
              <a:srgbClr val="2E5A87"/>
            </a:solidFill>
            <a:prstDash val="solid"/>
          </a:ln>
        </p:spPr>
      </p:sp>
      <p:sp>
        <p:nvSpPr>
          <p:cNvPr id="32" name="Text 30"/>
          <p:cNvSpPr txBox="1"/>
          <p:nvPr/>
        </p:nvSpPr>
        <p:spPr>
          <a:xfrm>
            <a:off x="8650224" y="2148840"/>
            <a:ext cx="2926080" cy="548640"/>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건물 계량 에너지 (건축HUB·K-apt)</a:t>
            </a:r>
            <a:endParaRPr lang="en-US" sz="1250" dirty="0"/>
          </a:p>
        </p:txBody>
      </p:sp>
      <p:sp>
        <p:nvSpPr>
          <p:cNvPr id="33" name="Shape 31"/>
          <p:cNvSpPr/>
          <p:nvPr/>
        </p:nvSpPr>
        <p:spPr>
          <a:xfrm>
            <a:off x="8375904" y="2871216"/>
            <a:ext cx="128016" cy="128016"/>
          </a:xfrm>
          <a:prstGeom prst="ellipse">
            <a:avLst/>
          </a:prstGeom>
          <a:solidFill>
            <a:srgbClr val="2E5A87"/>
          </a:solidFill>
          <a:ln w="12700">
            <a:solidFill>
              <a:srgbClr val="2E5A87"/>
            </a:solidFill>
            <a:prstDash val="solid"/>
          </a:ln>
        </p:spPr>
      </p:sp>
      <p:sp>
        <p:nvSpPr>
          <p:cNvPr id="34" name="Text 32"/>
          <p:cNvSpPr txBox="1"/>
          <p:nvPr/>
        </p:nvSpPr>
        <p:spPr>
          <a:xfrm>
            <a:off x="8650224" y="2788920"/>
            <a:ext cx="2926080" cy="548640"/>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한전 전력판매량·온실가스 인벤토리</a:t>
            </a:r>
            <a:endParaRPr lang="en-US" sz="1250" dirty="0"/>
          </a:p>
        </p:txBody>
      </p:sp>
      <p:sp>
        <p:nvSpPr>
          <p:cNvPr id="35" name="Shape 33"/>
          <p:cNvSpPr/>
          <p:nvPr/>
        </p:nvSpPr>
        <p:spPr>
          <a:xfrm>
            <a:off x="8375904" y="3511296"/>
            <a:ext cx="128016" cy="128016"/>
          </a:xfrm>
          <a:prstGeom prst="ellipse">
            <a:avLst/>
          </a:prstGeom>
          <a:solidFill>
            <a:srgbClr val="2E5A87"/>
          </a:solidFill>
          <a:ln w="12700">
            <a:solidFill>
              <a:srgbClr val="2E5A87"/>
            </a:solidFill>
            <a:prstDash val="solid"/>
          </a:ln>
        </p:spPr>
      </p:sp>
      <p:sp>
        <p:nvSpPr>
          <p:cNvPr id="36" name="Text 34"/>
          <p:cNvSpPr txBox="1"/>
          <p:nvPr/>
        </p:nvSpPr>
        <p:spPr>
          <a:xfrm>
            <a:off x="8650224" y="3429000"/>
            <a:ext cx="2926080" cy="548640"/>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통계청 인구·가구 (행정·500m 격자)</a:t>
            </a:r>
            <a:endParaRPr lang="en-US" sz="1250" dirty="0"/>
          </a:p>
        </p:txBody>
      </p:sp>
      <p:sp>
        <p:nvSpPr>
          <p:cNvPr id="37" name="Shape 35"/>
          <p:cNvSpPr/>
          <p:nvPr/>
        </p:nvSpPr>
        <p:spPr>
          <a:xfrm>
            <a:off x="8375904" y="4151376"/>
            <a:ext cx="128016" cy="128016"/>
          </a:xfrm>
          <a:prstGeom prst="ellipse">
            <a:avLst/>
          </a:prstGeom>
          <a:solidFill>
            <a:srgbClr val="2E5A87"/>
          </a:solidFill>
          <a:ln w="12700">
            <a:solidFill>
              <a:srgbClr val="2E5A87"/>
            </a:solidFill>
            <a:prstDash val="solid"/>
          </a:ln>
        </p:spPr>
      </p:sp>
      <p:sp>
        <p:nvSpPr>
          <p:cNvPr id="38" name="Text 36"/>
          <p:cNvSpPr txBox="1"/>
          <p:nvPr/>
        </p:nvSpPr>
        <p:spPr>
          <a:xfrm>
            <a:off x="8650224" y="4069080"/>
            <a:ext cx="2926080" cy="548640"/>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건축물대장·건물·용도지역·조례</a:t>
            </a:r>
            <a:endParaRPr lang="en-US" sz="1250" dirty="0"/>
          </a:p>
        </p:txBody>
      </p:sp>
      <p:sp>
        <p:nvSpPr>
          <p:cNvPr id="39" name="Shape 37"/>
          <p:cNvSpPr/>
          <p:nvPr/>
        </p:nvSpPr>
        <p:spPr>
          <a:xfrm>
            <a:off x="8375904" y="4791456"/>
            <a:ext cx="128016" cy="128016"/>
          </a:xfrm>
          <a:prstGeom prst="ellipse">
            <a:avLst/>
          </a:prstGeom>
          <a:solidFill>
            <a:srgbClr val="2E5A87"/>
          </a:solidFill>
          <a:ln w="12700">
            <a:solidFill>
              <a:srgbClr val="2E5A87"/>
            </a:solidFill>
            <a:prstDash val="solid"/>
          </a:ln>
        </p:spPr>
      </p:sp>
      <p:sp>
        <p:nvSpPr>
          <p:cNvPr id="40" name="Text 38"/>
          <p:cNvSpPr txBox="1"/>
          <p:nvPr/>
        </p:nvSpPr>
        <p:spPr>
          <a:xfrm>
            <a:off x="8650224" y="4709160"/>
            <a:ext cx="2926080" cy="548640"/>
          </a:xfrm>
          <a:prstGeom prst="rect">
            <a:avLst/>
          </a:prstGeom>
          <a:noFill/>
          <a:ln/>
        </p:spPr>
        <p:txBody>
          <a:bodyPr wrap="square" lIns="0" tIns="0" rIns="0" bIns="0" rtlCol="0" anchor="t"/>
          <a:lstStyle/>
          <a:p>
            <a:pPr indent="0" marL="0">
              <a:lnSpc>
                <a:spcPct val="108000"/>
              </a:lnSpc>
              <a:buNone/>
            </a:pPr>
            <a:r>
              <a:rPr lang="en-US" sz="1250" dirty="0">
                <a:solidFill>
                  <a:srgbClr val="1C2622"/>
                </a:solidFill>
                <a:latin typeface="Malgun Gothic" pitchFamily="34" charset="0"/>
                <a:ea typeface="Malgun Gothic" pitchFamily="34" charset="-122"/>
                <a:cs typeface="Malgun Gothic" pitchFamily="34" charset="-120"/>
              </a:rPr>
              <a:t>기상·국가 배출계수</a:t>
            </a:r>
            <a:endParaRPr lang="en-US" sz="1250" dirty="0"/>
          </a:p>
        </p:txBody>
      </p:sp>
      <p:sp>
        <p:nvSpPr>
          <p:cNvPr id="41" name="Shape 39"/>
          <p:cNvSpPr/>
          <p:nvPr/>
        </p:nvSpPr>
        <p:spPr>
          <a:xfrm>
            <a:off x="457200" y="5715000"/>
            <a:ext cx="11274552" cy="594360"/>
          </a:xfrm>
          <a:prstGeom prst="roundRect">
            <a:avLst>
              <a:gd name="adj" fmla="val 12308"/>
            </a:avLst>
          </a:prstGeom>
          <a:solidFill>
            <a:srgbClr val="1F3A33"/>
          </a:solidFill>
          <a:ln w="12700">
            <a:solidFill>
              <a:srgbClr val="1F3A33"/>
            </a:solidFill>
            <a:prstDash val="solid"/>
          </a:ln>
        </p:spPr>
      </p:sp>
      <p:sp>
        <p:nvSpPr>
          <p:cNvPr id="42" name="Text 40"/>
          <p:cNvSpPr txBox="1"/>
          <p:nvPr/>
        </p:nvSpPr>
        <p:spPr>
          <a:xfrm>
            <a:off x="731520" y="5715000"/>
            <a:ext cx="10789920" cy="594360"/>
          </a:xfrm>
          <a:prstGeom prst="rect">
            <a:avLst/>
          </a:prstGeom>
          <a:noFill/>
          <a:ln/>
        </p:spPr>
        <p:txBody>
          <a:bodyPr wrap="square" lIns="0" tIns="0" rIns="0" bIns="0" rtlCol="0" anchor="ctr"/>
          <a:lstStyle/>
          <a:p>
            <a:pPr indent="0" marL="0">
              <a:buNone/>
            </a:pPr>
            <a:r>
              <a:rPr lang="en-US" sz="1350" b="1" dirty="0">
                <a:solidFill>
                  <a:srgbClr val="FFFFFF"/>
                </a:solidFill>
                <a:latin typeface="Malgun Gothic" pitchFamily="34" charset="0"/>
                <a:ea typeface="Malgun Gothic" pitchFamily="34" charset="-122"/>
                <a:cs typeface="Malgun Gothic" pitchFamily="34" charset="-120"/>
              </a:rPr>
              <a:t>원칙: 실측·계산·추정·시나리오를 나누고, 없는 값은 0으로 채우지 않으며, 모든 숫자에 출처와 산식을 붙입니다</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3</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지금까지 한 일</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9월 중순부터 2주 반 동안 만든 것</a:t>
            </a:r>
            <a:endParaRPr lang="en-US" sz="2500" dirty="0"/>
          </a:p>
        </p:txBody>
      </p:sp>
      <p:sp>
        <p:nvSpPr>
          <p:cNvPr id="5" name="Shape 3"/>
          <p:cNvSpPr/>
          <p:nvPr/>
        </p:nvSpPr>
        <p:spPr>
          <a:xfrm>
            <a:off x="1325880" y="1600200"/>
            <a:ext cx="0" cy="3803904"/>
          </a:xfrm>
          <a:prstGeom prst="line">
            <a:avLst/>
          </a:prstGeom>
          <a:noFill/>
          <a:ln w="25400">
            <a:solidFill>
              <a:srgbClr val="D9D7CE"/>
            </a:solidFill>
            <a:prstDash val="solid"/>
          </a:ln>
        </p:spPr>
      </p:sp>
      <p:sp>
        <p:nvSpPr>
          <p:cNvPr id="6" name="Text 4"/>
          <p:cNvSpPr txBox="1"/>
          <p:nvPr/>
        </p:nvSpPr>
        <p:spPr>
          <a:xfrm>
            <a:off x="457200" y="1472184"/>
            <a:ext cx="685800" cy="274320"/>
          </a:xfrm>
          <a:prstGeom prst="rect">
            <a:avLst/>
          </a:prstGeom>
          <a:noFill/>
          <a:ln/>
        </p:spPr>
        <p:txBody>
          <a:bodyPr wrap="square" lIns="0" tIns="0" rIns="0" bIns="0" rtlCol="0" anchor="t"/>
          <a:lstStyle/>
          <a:p>
            <a:pPr algn="r" indent="0" marL="0">
              <a:buNone/>
            </a:pPr>
            <a:r>
              <a:rPr lang="en-US" sz="1200" b="1" dirty="0">
                <a:solidFill>
                  <a:srgbClr val="2F5D50"/>
                </a:solidFill>
                <a:latin typeface="Malgun Gothic" pitchFamily="34" charset="0"/>
                <a:ea typeface="Malgun Gothic" pitchFamily="34" charset="-122"/>
                <a:cs typeface="Malgun Gothic" pitchFamily="34" charset="-120"/>
              </a:rPr>
              <a:t>09-14</a:t>
            </a:r>
            <a:endParaRPr lang="en-US" sz="1200" dirty="0"/>
          </a:p>
        </p:txBody>
      </p:sp>
      <p:sp>
        <p:nvSpPr>
          <p:cNvPr id="7" name="Shape 5"/>
          <p:cNvSpPr/>
          <p:nvPr/>
        </p:nvSpPr>
        <p:spPr>
          <a:xfrm>
            <a:off x="1243584" y="1517904"/>
            <a:ext cx="164592" cy="164592"/>
          </a:xfrm>
          <a:prstGeom prst="ellipse">
            <a:avLst/>
          </a:prstGeom>
          <a:solidFill>
            <a:srgbClr val="2F5D50"/>
          </a:solidFill>
          <a:ln w="19050">
            <a:solidFill>
              <a:srgbClr val="FFFFFF"/>
            </a:solidFill>
            <a:prstDash val="solid"/>
          </a:ln>
        </p:spPr>
      </p:sp>
      <p:sp>
        <p:nvSpPr>
          <p:cNvPr id="8" name="Text 6"/>
          <p:cNvSpPr txBox="1"/>
          <p:nvPr/>
        </p:nvSpPr>
        <p:spPr>
          <a:xfrm>
            <a:off x="1600200" y="1472184"/>
            <a:ext cx="5120640" cy="292608"/>
          </a:xfrm>
          <a:prstGeom prst="rect">
            <a:avLst/>
          </a:prstGeom>
          <a:noFill/>
          <a:ln/>
        </p:spPr>
        <p:txBody>
          <a:bodyPr wrap="square" lIns="0" tIns="0" rIns="0" bIns="0" rtlCol="0" anchor="t"/>
          <a:lstStyle/>
          <a:p>
            <a:pPr indent="0" marL="0">
              <a:buNone/>
            </a:pPr>
            <a:r>
              <a:rPr lang="en-US" sz="1250" dirty="0">
                <a:solidFill>
                  <a:srgbClr val="1C2622"/>
                </a:solidFill>
                <a:latin typeface="Malgun Gothic" pitchFamily="34" charset="0"/>
                <a:ea typeface="Malgun Gothic" pitchFamily="34" charset="-122"/>
                <a:cs typeface="Malgun Gothic" pitchFamily="34" charset="-120"/>
              </a:rPr>
              <a:t>분석 범위 공유, 계획안 비교, 보고서 저장·출력, 로컬 AI</a:t>
            </a:r>
            <a:endParaRPr lang="en-US" sz="1250" dirty="0"/>
          </a:p>
        </p:txBody>
      </p:sp>
      <p:sp>
        <p:nvSpPr>
          <p:cNvPr id="9" name="Text 7"/>
          <p:cNvSpPr txBox="1"/>
          <p:nvPr/>
        </p:nvSpPr>
        <p:spPr>
          <a:xfrm>
            <a:off x="457200" y="1947672"/>
            <a:ext cx="685800" cy="274320"/>
          </a:xfrm>
          <a:prstGeom prst="rect">
            <a:avLst/>
          </a:prstGeom>
          <a:noFill/>
          <a:ln/>
        </p:spPr>
        <p:txBody>
          <a:bodyPr wrap="square" lIns="0" tIns="0" rIns="0" bIns="0" rtlCol="0" anchor="t"/>
          <a:lstStyle/>
          <a:p>
            <a:pPr algn="r" indent="0" marL="0">
              <a:buNone/>
            </a:pPr>
            <a:r>
              <a:rPr lang="en-US" sz="1200" b="1" dirty="0">
                <a:solidFill>
                  <a:srgbClr val="2F5D50"/>
                </a:solidFill>
                <a:latin typeface="Malgun Gothic" pitchFamily="34" charset="0"/>
                <a:ea typeface="Malgun Gothic" pitchFamily="34" charset="-122"/>
                <a:cs typeface="Malgun Gothic" pitchFamily="34" charset="-120"/>
              </a:rPr>
              <a:t>09-18</a:t>
            </a:r>
            <a:endParaRPr lang="en-US" sz="1200" dirty="0"/>
          </a:p>
        </p:txBody>
      </p:sp>
      <p:sp>
        <p:nvSpPr>
          <p:cNvPr id="10" name="Shape 8"/>
          <p:cNvSpPr/>
          <p:nvPr/>
        </p:nvSpPr>
        <p:spPr>
          <a:xfrm>
            <a:off x="1243584" y="1993392"/>
            <a:ext cx="164592" cy="164592"/>
          </a:xfrm>
          <a:prstGeom prst="ellipse">
            <a:avLst/>
          </a:prstGeom>
          <a:solidFill>
            <a:srgbClr val="2F5D50"/>
          </a:solidFill>
          <a:ln w="19050">
            <a:solidFill>
              <a:srgbClr val="FFFFFF"/>
            </a:solidFill>
            <a:prstDash val="solid"/>
          </a:ln>
        </p:spPr>
      </p:sp>
      <p:sp>
        <p:nvSpPr>
          <p:cNvPr id="11" name="Text 9"/>
          <p:cNvSpPr txBox="1"/>
          <p:nvPr/>
        </p:nvSpPr>
        <p:spPr>
          <a:xfrm>
            <a:off x="1600200" y="1947672"/>
            <a:ext cx="5120640" cy="292608"/>
          </a:xfrm>
          <a:prstGeom prst="rect">
            <a:avLst/>
          </a:prstGeom>
          <a:noFill/>
          <a:ln/>
        </p:spPr>
        <p:txBody>
          <a:bodyPr wrap="square" lIns="0" tIns="0" rIns="0" bIns="0" rtlCol="0" anchor="t"/>
          <a:lstStyle/>
          <a:p>
            <a:pPr indent="0" marL="0">
              <a:buNone/>
            </a:pPr>
            <a:r>
              <a:rPr lang="en-US" sz="1250" dirty="0">
                <a:solidFill>
                  <a:srgbClr val="1C2622"/>
                </a:solidFill>
                <a:latin typeface="Malgun Gothic" pitchFamily="34" charset="0"/>
                <a:ea typeface="Malgun Gothic" pitchFamily="34" charset="-122"/>
                <a:cs typeface="Malgun Gothic" pitchFamily="34" charset="-120"/>
              </a:rPr>
              <a:t>수집 실패 원인 조사·조치, 운영 로드맵</a:t>
            </a:r>
            <a:endParaRPr lang="en-US" sz="1250" dirty="0"/>
          </a:p>
        </p:txBody>
      </p:sp>
      <p:sp>
        <p:nvSpPr>
          <p:cNvPr id="12" name="Text 10"/>
          <p:cNvSpPr txBox="1"/>
          <p:nvPr/>
        </p:nvSpPr>
        <p:spPr>
          <a:xfrm>
            <a:off x="457200" y="2423160"/>
            <a:ext cx="685800" cy="274320"/>
          </a:xfrm>
          <a:prstGeom prst="rect">
            <a:avLst/>
          </a:prstGeom>
          <a:noFill/>
          <a:ln/>
        </p:spPr>
        <p:txBody>
          <a:bodyPr wrap="square" lIns="0" tIns="0" rIns="0" bIns="0" rtlCol="0" anchor="t"/>
          <a:lstStyle/>
          <a:p>
            <a:pPr algn="r" indent="0" marL="0">
              <a:buNone/>
            </a:pPr>
            <a:r>
              <a:rPr lang="en-US" sz="1200" b="1" dirty="0">
                <a:solidFill>
                  <a:srgbClr val="2F5D50"/>
                </a:solidFill>
                <a:latin typeface="Malgun Gothic" pitchFamily="34" charset="0"/>
                <a:ea typeface="Malgun Gothic" pitchFamily="34" charset="-122"/>
                <a:cs typeface="Malgun Gothic" pitchFamily="34" charset="-120"/>
              </a:rPr>
              <a:t>09-23</a:t>
            </a:r>
            <a:endParaRPr lang="en-US" sz="1200" dirty="0"/>
          </a:p>
        </p:txBody>
      </p:sp>
      <p:sp>
        <p:nvSpPr>
          <p:cNvPr id="13" name="Shape 11"/>
          <p:cNvSpPr/>
          <p:nvPr/>
        </p:nvSpPr>
        <p:spPr>
          <a:xfrm>
            <a:off x="1243584" y="2468880"/>
            <a:ext cx="164592" cy="164592"/>
          </a:xfrm>
          <a:prstGeom prst="ellipse">
            <a:avLst/>
          </a:prstGeom>
          <a:solidFill>
            <a:srgbClr val="2F5D50"/>
          </a:solidFill>
          <a:ln w="19050">
            <a:solidFill>
              <a:srgbClr val="FFFFFF"/>
            </a:solidFill>
            <a:prstDash val="solid"/>
          </a:ln>
        </p:spPr>
      </p:sp>
      <p:sp>
        <p:nvSpPr>
          <p:cNvPr id="14" name="Text 12"/>
          <p:cNvSpPr txBox="1"/>
          <p:nvPr/>
        </p:nvSpPr>
        <p:spPr>
          <a:xfrm>
            <a:off x="1600200" y="2423160"/>
            <a:ext cx="5120640" cy="292608"/>
          </a:xfrm>
          <a:prstGeom prst="rect">
            <a:avLst/>
          </a:prstGeom>
          <a:noFill/>
          <a:ln/>
        </p:spPr>
        <p:txBody>
          <a:bodyPr wrap="square" lIns="0" tIns="0" rIns="0" bIns="0" rtlCol="0" anchor="t"/>
          <a:lstStyle/>
          <a:p>
            <a:pPr indent="0" marL="0">
              <a:buNone/>
            </a:pPr>
            <a:r>
              <a:rPr lang="en-US" sz="1250" dirty="0">
                <a:solidFill>
                  <a:srgbClr val="1C2622"/>
                </a:solidFill>
                <a:latin typeface="Malgun Gothic" pitchFamily="34" charset="0"/>
                <a:ea typeface="Malgun Gothic" pitchFamily="34" charset="-122"/>
                <a:cs typeface="Malgun Gothic" pitchFamily="34" charset="-120"/>
              </a:rPr>
              <a:t>디자인 「도시계획 도면」 적용 (근거 배지·결측 표시)</a:t>
            </a:r>
            <a:endParaRPr lang="en-US" sz="1250" dirty="0"/>
          </a:p>
        </p:txBody>
      </p:sp>
      <p:sp>
        <p:nvSpPr>
          <p:cNvPr id="15" name="Text 13"/>
          <p:cNvSpPr txBox="1"/>
          <p:nvPr/>
        </p:nvSpPr>
        <p:spPr>
          <a:xfrm>
            <a:off x="457200" y="2898648"/>
            <a:ext cx="685800" cy="274320"/>
          </a:xfrm>
          <a:prstGeom prst="rect">
            <a:avLst/>
          </a:prstGeom>
          <a:noFill/>
          <a:ln/>
        </p:spPr>
        <p:txBody>
          <a:bodyPr wrap="square" lIns="0" tIns="0" rIns="0" bIns="0" rtlCol="0" anchor="t"/>
          <a:lstStyle/>
          <a:p>
            <a:pPr algn="r" indent="0" marL="0">
              <a:buNone/>
            </a:pPr>
            <a:r>
              <a:rPr lang="en-US" sz="1200" b="1" dirty="0">
                <a:solidFill>
                  <a:srgbClr val="2F5D50"/>
                </a:solidFill>
                <a:latin typeface="Malgun Gothic" pitchFamily="34" charset="0"/>
                <a:ea typeface="Malgun Gothic" pitchFamily="34" charset="-122"/>
                <a:cs typeface="Malgun Gothic" pitchFamily="34" charset="-120"/>
              </a:rPr>
              <a:t>09-25</a:t>
            </a:r>
            <a:endParaRPr lang="en-US" sz="1200" dirty="0"/>
          </a:p>
        </p:txBody>
      </p:sp>
      <p:sp>
        <p:nvSpPr>
          <p:cNvPr id="16" name="Shape 14"/>
          <p:cNvSpPr/>
          <p:nvPr/>
        </p:nvSpPr>
        <p:spPr>
          <a:xfrm>
            <a:off x="1243584" y="2944368"/>
            <a:ext cx="164592" cy="164592"/>
          </a:xfrm>
          <a:prstGeom prst="ellipse">
            <a:avLst/>
          </a:prstGeom>
          <a:solidFill>
            <a:srgbClr val="2F5D50"/>
          </a:solidFill>
          <a:ln w="19050">
            <a:solidFill>
              <a:srgbClr val="FFFFFF"/>
            </a:solidFill>
            <a:prstDash val="solid"/>
          </a:ln>
        </p:spPr>
      </p:sp>
      <p:sp>
        <p:nvSpPr>
          <p:cNvPr id="17" name="Text 15"/>
          <p:cNvSpPr txBox="1"/>
          <p:nvPr/>
        </p:nvSpPr>
        <p:spPr>
          <a:xfrm>
            <a:off x="1600200" y="2898648"/>
            <a:ext cx="5120640" cy="292608"/>
          </a:xfrm>
          <a:prstGeom prst="rect">
            <a:avLst/>
          </a:prstGeom>
          <a:noFill/>
          <a:ln/>
        </p:spPr>
        <p:txBody>
          <a:bodyPr wrap="square" lIns="0" tIns="0" rIns="0" bIns="0" rtlCol="0" anchor="t"/>
          <a:lstStyle/>
          <a:p>
            <a:pPr indent="0" marL="0">
              <a:buNone/>
            </a:pPr>
            <a:r>
              <a:rPr lang="en-US" sz="1250" dirty="0">
                <a:solidFill>
                  <a:srgbClr val="1C2622"/>
                </a:solidFill>
                <a:latin typeface="Malgun Gothic" pitchFamily="34" charset="0"/>
                <a:ea typeface="Malgun Gothic" pitchFamily="34" charset="-122"/>
                <a:cs typeface="Malgun Gothic" pitchFamily="34" charset="-120"/>
              </a:rPr>
              <a:t>SGIS 1km 격자, 사용 방법 화면, 지역 시뮬레이션</a:t>
            </a:r>
            <a:endParaRPr lang="en-US" sz="1250" dirty="0"/>
          </a:p>
        </p:txBody>
      </p:sp>
      <p:sp>
        <p:nvSpPr>
          <p:cNvPr id="18" name="Text 16"/>
          <p:cNvSpPr txBox="1"/>
          <p:nvPr/>
        </p:nvSpPr>
        <p:spPr>
          <a:xfrm>
            <a:off x="457200" y="3374136"/>
            <a:ext cx="685800" cy="274320"/>
          </a:xfrm>
          <a:prstGeom prst="rect">
            <a:avLst/>
          </a:prstGeom>
          <a:noFill/>
          <a:ln/>
        </p:spPr>
        <p:txBody>
          <a:bodyPr wrap="square" lIns="0" tIns="0" rIns="0" bIns="0" rtlCol="0" anchor="t"/>
          <a:lstStyle/>
          <a:p>
            <a:pPr algn="r" indent="0" marL="0">
              <a:buNone/>
            </a:pPr>
            <a:r>
              <a:rPr lang="en-US" sz="1200" b="1" dirty="0">
                <a:solidFill>
                  <a:srgbClr val="2F5D50"/>
                </a:solidFill>
                <a:latin typeface="Malgun Gothic" pitchFamily="34" charset="0"/>
                <a:ea typeface="Malgun Gothic" pitchFamily="34" charset="-122"/>
                <a:cs typeface="Malgun Gothic" pitchFamily="34" charset="-120"/>
              </a:rPr>
              <a:t>09-26</a:t>
            </a:r>
            <a:endParaRPr lang="en-US" sz="1200" dirty="0"/>
          </a:p>
        </p:txBody>
      </p:sp>
      <p:sp>
        <p:nvSpPr>
          <p:cNvPr id="19" name="Shape 17"/>
          <p:cNvSpPr/>
          <p:nvPr/>
        </p:nvSpPr>
        <p:spPr>
          <a:xfrm>
            <a:off x="1243584" y="3419856"/>
            <a:ext cx="164592" cy="164592"/>
          </a:xfrm>
          <a:prstGeom prst="ellipse">
            <a:avLst/>
          </a:prstGeom>
          <a:solidFill>
            <a:srgbClr val="2F5D50"/>
          </a:solidFill>
          <a:ln w="19050">
            <a:solidFill>
              <a:srgbClr val="FFFFFF"/>
            </a:solidFill>
            <a:prstDash val="solid"/>
          </a:ln>
        </p:spPr>
      </p:sp>
      <p:sp>
        <p:nvSpPr>
          <p:cNvPr id="20" name="Text 18"/>
          <p:cNvSpPr txBox="1"/>
          <p:nvPr/>
        </p:nvSpPr>
        <p:spPr>
          <a:xfrm>
            <a:off x="1600200" y="3374136"/>
            <a:ext cx="5120640" cy="292608"/>
          </a:xfrm>
          <a:prstGeom prst="rect">
            <a:avLst/>
          </a:prstGeom>
          <a:noFill/>
          <a:ln/>
        </p:spPr>
        <p:txBody>
          <a:bodyPr wrap="square" lIns="0" tIns="0" rIns="0" bIns="0" rtlCol="0" anchor="t"/>
          <a:lstStyle/>
          <a:p>
            <a:pPr indent="0" marL="0">
              <a:buNone/>
            </a:pPr>
            <a:r>
              <a:rPr lang="en-US" sz="1250" dirty="0">
                <a:solidFill>
                  <a:srgbClr val="1C2622"/>
                </a:solidFill>
                <a:latin typeface="Malgun Gothic" pitchFamily="34" charset="0"/>
                <a:ea typeface="Malgun Gothic" pitchFamily="34" charset="-122"/>
                <a:cs typeface="Malgun Gothic" pitchFamily="34" charset="-120"/>
              </a:rPr>
              <a:t>건축HUB 전 지번 에너지, 건축물대장, 모델 검증 수정</a:t>
            </a:r>
            <a:endParaRPr lang="en-US" sz="1250" dirty="0"/>
          </a:p>
        </p:txBody>
      </p:sp>
      <p:sp>
        <p:nvSpPr>
          <p:cNvPr id="21" name="Text 19"/>
          <p:cNvSpPr txBox="1"/>
          <p:nvPr/>
        </p:nvSpPr>
        <p:spPr>
          <a:xfrm>
            <a:off x="457200" y="3849624"/>
            <a:ext cx="685800" cy="274320"/>
          </a:xfrm>
          <a:prstGeom prst="rect">
            <a:avLst/>
          </a:prstGeom>
          <a:noFill/>
          <a:ln/>
        </p:spPr>
        <p:txBody>
          <a:bodyPr wrap="square" lIns="0" tIns="0" rIns="0" bIns="0" rtlCol="0" anchor="t"/>
          <a:lstStyle/>
          <a:p>
            <a:pPr algn="r" indent="0" marL="0">
              <a:buNone/>
            </a:pPr>
            <a:r>
              <a:rPr lang="en-US" sz="1200" b="1" dirty="0">
                <a:solidFill>
                  <a:srgbClr val="2F5D50"/>
                </a:solidFill>
                <a:latin typeface="Malgun Gothic" pitchFamily="34" charset="0"/>
                <a:ea typeface="Malgun Gothic" pitchFamily="34" charset="-122"/>
                <a:cs typeface="Malgun Gothic" pitchFamily="34" charset="-120"/>
              </a:rPr>
              <a:t>09-27</a:t>
            </a:r>
            <a:endParaRPr lang="en-US" sz="1200" dirty="0"/>
          </a:p>
        </p:txBody>
      </p:sp>
      <p:sp>
        <p:nvSpPr>
          <p:cNvPr id="22" name="Shape 20"/>
          <p:cNvSpPr/>
          <p:nvPr/>
        </p:nvSpPr>
        <p:spPr>
          <a:xfrm>
            <a:off x="1243584" y="3895344"/>
            <a:ext cx="164592" cy="164592"/>
          </a:xfrm>
          <a:prstGeom prst="ellipse">
            <a:avLst/>
          </a:prstGeom>
          <a:solidFill>
            <a:srgbClr val="2F5D50"/>
          </a:solidFill>
          <a:ln w="19050">
            <a:solidFill>
              <a:srgbClr val="FFFFFF"/>
            </a:solidFill>
            <a:prstDash val="solid"/>
          </a:ln>
        </p:spPr>
      </p:sp>
      <p:sp>
        <p:nvSpPr>
          <p:cNvPr id="23" name="Text 21"/>
          <p:cNvSpPr txBox="1"/>
          <p:nvPr/>
        </p:nvSpPr>
        <p:spPr>
          <a:xfrm>
            <a:off x="1600200" y="3849624"/>
            <a:ext cx="5120640" cy="292608"/>
          </a:xfrm>
          <a:prstGeom prst="rect">
            <a:avLst/>
          </a:prstGeom>
          <a:noFill/>
          <a:ln/>
        </p:spPr>
        <p:txBody>
          <a:bodyPr wrap="square" lIns="0" tIns="0" rIns="0" bIns="0" rtlCol="0" anchor="t"/>
          <a:lstStyle/>
          <a:p>
            <a:pPr indent="0" marL="0">
              <a:buNone/>
            </a:pPr>
            <a:r>
              <a:rPr lang="en-US" sz="1250" dirty="0">
                <a:solidFill>
                  <a:srgbClr val="1C2622"/>
                </a:solidFill>
                <a:latin typeface="Malgun Gothic" pitchFamily="34" charset="0"/>
                <a:ea typeface="Malgun Gothic" pitchFamily="34" charset="-122"/>
                <a:cs typeface="Malgun Gothic" pitchFamily="34" charset="-120"/>
              </a:rPr>
              <a:t>3D 배치·일조, 조례 상한, 보고서 문장 모델(sLLM)</a:t>
            </a:r>
            <a:endParaRPr lang="en-US" sz="1250" dirty="0"/>
          </a:p>
        </p:txBody>
      </p:sp>
      <p:sp>
        <p:nvSpPr>
          <p:cNvPr id="24" name="Text 22"/>
          <p:cNvSpPr txBox="1"/>
          <p:nvPr/>
        </p:nvSpPr>
        <p:spPr>
          <a:xfrm>
            <a:off x="457200" y="4325112"/>
            <a:ext cx="685800" cy="274320"/>
          </a:xfrm>
          <a:prstGeom prst="rect">
            <a:avLst/>
          </a:prstGeom>
          <a:noFill/>
          <a:ln/>
        </p:spPr>
        <p:txBody>
          <a:bodyPr wrap="square" lIns="0" tIns="0" rIns="0" bIns="0" rtlCol="0" anchor="t"/>
          <a:lstStyle/>
          <a:p>
            <a:pPr algn="r" indent="0" marL="0">
              <a:buNone/>
            </a:pPr>
            <a:r>
              <a:rPr lang="en-US" sz="1200" b="1" dirty="0">
                <a:solidFill>
                  <a:srgbClr val="2F5D50"/>
                </a:solidFill>
                <a:latin typeface="Malgun Gothic" pitchFamily="34" charset="0"/>
                <a:ea typeface="Malgun Gothic" pitchFamily="34" charset="-122"/>
                <a:cs typeface="Malgun Gothic" pitchFamily="34" charset="-120"/>
              </a:rPr>
              <a:t>09-28</a:t>
            </a:r>
            <a:endParaRPr lang="en-US" sz="1200" dirty="0"/>
          </a:p>
        </p:txBody>
      </p:sp>
      <p:sp>
        <p:nvSpPr>
          <p:cNvPr id="25" name="Shape 23"/>
          <p:cNvSpPr/>
          <p:nvPr/>
        </p:nvSpPr>
        <p:spPr>
          <a:xfrm>
            <a:off x="1243584" y="4370832"/>
            <a:ext cx="164592" cy="164592"/>
          </a:xfrm>
          <a:prstGeom prst="ellipse">
            <a:avLst/>
          </a:prstGeom>
          <a:solidFill>
            <a:srgbClr val="2F5D50"/>
          </a:solidFill>
          <a:ln w="19050">
            <a:solidFill>
              <a:srgbClr val="FFFFFF"/>
            </a:solidFill>
            <a:prstDash val="solid"/>
          </a:ln>
        </p:spPr>
      </p:sp>
      <p:sp>
        <p:nvSpPr>
          <p:cNvPr id="26" name="Text 24"/>
          <p:cNvSpPr txBox="1"/>
          <p:nvPr/>
        </p:nvSpPr>
        <p:spPr>
          <a:xfrm>
            <a:off x="1600200" y="4325112"/>
            <a:ext cx="5120640" cy="292608"/>
          </a:xfrm>
          <a:prstGeom prst="rect">
            <a:avLst/>
          </a:prstGeom>
          <a:noFill/>
          <a:ln/>
        </p:spPr>
        <p:txBody>
          <a:bodyPr wrap="square" lIns="0" tIns="0" rIns="0" bIns="0" rtlCol="0" anchor="t"/>
          <a:lstStyle/>
          <a:p>
            <a:pPr indent="0" marL="0">
              <a:buNone/>
            </a:pPr>
            <a:r>
              <a:rPr lang="en-US" sz="1250" dirty="0">
                <a:solidFill>
                  <a:srgbClr val="1C2622"/>
                </a:solidFill>
                <a:latin typeface="Malgun Gothic" pitchFamily="34" charset="0"/>
                <a:ea typeface="Malgun Gothic" pitchFamily="34" charset="-122"/>
                <a:cs typeface="Malgun Gothic" pitchFamily="34" charset="-120"/>
              </a:rPr>
              <a:t>전국 모든 시·군·구 지도, 읍면동 비교</a:t>
            </a:r>
            <a:endParaRPr lang="en-US" sz="1250" dirty="0"/>
          </a:p>
        </p:txBody>
      </p:sp>
      <p:sp>
        <p:nvSpPr>
          <p:cNvPr id="27" name="Text 25"/>
          <p:cNvSpPr txBox="1"/>
          <p:nvPr/>
        </p:nvSpPr>
        <p:spPr>
          <a:xfrm>
            <a:off x="457200" y="4800600"/>
            <a:ext cx="685800" cy="274320"/>
          </a:xfrm>
          <a:prstGeom prst="rect">
            <a:avLst/>
          </a:prstGeom>
          <a:noFill/>
          <a:ln/>
        </p:spPr>
        <p:txBody>
          <a:bodyPr wrap="square" lIns="0" tIns="0" rIns="0" bIns="0" rtlCol="0" anchor="t"/>
          <a:lstStyle/>
          <a:p>
            <a:pPr algn="r" indent="0" marL="0">
              <a:buNone/>
            </a:pPr>
            <a:r>
              <a:rPr lang="en-US" sz="1200" b="1" dirty="0">
                <a:solidFill>
                  <a:srgbClr val="2F5D50"/>
                </a:solidFill>
                <a:latin typeface="Malgun Gothic" pitchFamily="34" charset="0"/>
                <a:ea typeface="Malgun Gothic" pitchFamily="34" charset="-122"/>
                <a:cs typeface="Malgun Gothic" pitchFamily="34" charset="-120"/>
              </a:rPr>
              <a:t>09-29</a:t>
            </a:r>
            <a:endParaRPr lang="en-US" sz="1200" dirty="0"/>
          </a:p>
        </p:txBody>
      </p:sp>
      <p:sp>
        <p:nvSpPr>
          <p:cNvPr id="28" name="Shape 26"/>
          <p:cNvSpPr/>
          <p:nvPr/>
        </p:nvSpPr>
        <p:spPr>
          <a:xfrm>
            <a:off x="1243584" y="4846320"/>
            <a:ext cx="164592" cy="164592"/>
          </a:xfrm>
          <a:prstGeom prst="ellipse">
            <a:avLst/>
          </a:prstGeom>
          <a:solidFill>
            <a:srgbClr val="2F5D50"/>
          </a:solidFill>
          <a:ln w="19050">
            <a:solidFill>
              <a:srgbClr val="FFFFFF"/>
            </a:solidFill>
            <a:prstDash val="solid"/>
          </a:ln>
        </p:spPr>
      </p:sp>
      <p:sp>
        <p:nvSpPr>
          <p:cNvPr id="29" name="Text 27"/>
          <p:cNvSpPr txBox="1"/>
          <p:nvPr/>
        </p:nvSpPr>
        <p:spPr>
          <a:xfrm>
            <a:off x="1600200" y="4800600"/>
            <a:ext cx="5120640" cy="292608"/>
          </a:xfrm>
          <a:prstGeom prst="rect">
            <a:avLst/>
          </a:prstGeom>
          <a:noFill/>
          <a:ln/>
        </p:spPr>
        <p:txBody>
          <a:bodyPr wrap="square" lIns="0" tIns="0" rIns="0" bIns="0" rtlCol="0" anchor="t"/>
          <a:lstStyle/>
          <a:p>
            <a:pPr indent="0" marL="0">
              <a:buNone/>
            </a:pPr>
            <a:r>
              <a:rPr lang="en-US" sz="1250" dirty="0">
                <a:solidFill>
                  <a:srgbClr val="1C2622"/>
                </a:solidFill>
                <a:latin typeface="Malgun Gothic" pitchFamily="34" charset="0"/>
                <a:ea typeface="Malgun Gothic" pitchFamily="34" charset="-122"/>
                <a:cs typeface="Malgun Gothic" pitchFamily="34" charset="-120"/>
              </a:rPr>
              <a:t>SGIS 500m 격자 통계, 전국 지도(시·도→시·군·구)</a:t>
            </a:r>
            <a:endParaRPr lang="en-US" sz="1250" dirty="0"/>
          </a:p>
        </p:txBody>
      </p:sp>
      <p:sp>
        <p:nvSpPr>
          <p:cNvPr id="30" name="Text 28"/>
          <p:cNvSpPr txBox="1"/>
          <p:nvPr/>
        </p:nvSpPr>
        <p:spPr>
          <a:xfrm>
            <a:off x="457200" y="5276088"/>
            <a:ext cx="685800" cy="274320"/>
          </a:xfrm>
          <a:prstGeom prst="rect">
            <a:avLst/>
          </a:prstGeom>
          <a:noFill/>
          <a:ln/>
        </p:spPr>
        <p:txBody>
          <a:bodyPr wrap="square" lIns="0" tIns="0" rIns="0" bIns="0" rtlCol="0" anchor="t"/>
          <a:lstStyle/>
          <a:p>
            <a:pPr algn="r" indent="0" marL="0">
              <a:buNone/>
            </a:pPr>
            <a:r>
              <a:rPr lang="en-US" sz="1200" b="1" dirty="0">
                <a:solidFill>
                  <a:srgbClr val="2F5D50"/>
                </a:solidFill>
                <a:latin typeface="Malgun Gothic" pitchFamily="34" charset="0"/>
                <a:ea typeface="Malgun Gothic" pitchFamily="34" charset="-122"/>
                <a:cs typeface="Malgun Gothic" pitchFamily="34" charset="-120"/>
              </a:rPr>
              <a:t>09-30</a:t>
            </a:r>
            <a:endParaRPr lang="en-US" sz="1200" dirty="0"/>
          </a:p>
        </p:txBody>
      </p:sp>
      <p:sp>
        <p:nvSpPr>
          <p:cNvPr id="31" name="Shape 29"/>
          <p:cNvSpPr/>
          <p:nvPr/>
        </p:nvSpPr>
        <p:spPr>
          <a:xfrm>
            <a:off x="1243584" y="5321808"/>
            <a:ext cx="164592" cy="164592"/>
          </a:xfrm>
          <a:prstGeom prst="ellipse">
            <a:avLst/>
          </a:prstGeom>
          <a:solidFill>
            <a:srgbClr val="B7792F"/>
          </a:solidFill>
          <a:ln w="19050">
            <a:solidFill>
              <a:srgbClr val="FFFFFF"/>
            </a:solidFill>
            <a:prstDash val="solid"/>
          </a:ln>
        </p:spPr>
      </p:sp>
      <p:sp>
        <p:nvSpPr>
          <p:cNvPr id="32" name="Text 30"/>
          <p:cNvSpPr txBox="1"/>
          <p:nvPr/>
        </p:nvSpPr>
        <p:spPr>
          <a:xfrm>
            <a:off x="1600200" y="5276088"/>
            <a:ext cx="5120640" cy="292608"/>
          </a:xfrm>
          <a:prstGeom prst="rect">
            <a:avLst/>
          </a:prstGeom>
          <a:noFill/>
          <a:ln/>
        </p:spPr>
        <p:txBody>
          <a:bodyPr wrap="square" lIns="0" tIns="0" rIns="0" bIns="0" rtlCol="0" anchor="t"/>
          <a:lstStyle/>
          <a:p>
            <a:pPr indent="0" marL="0">
              <a:buNone/>
            </a:pPr>
            <a:r>
              <a:rPr lang="en-US" sz="1250" dirty="0">
                <a:solidFill>
                  <a:srgbClr val="1C2622"/>
                </a:solidFill>
                <a:latin typeface="Malgun Gothic" pitchFamily="34" charset="0"/>
                <a:ea typeface="Malgun Gothic" pitchFamily="34" charset="-122"/>
                <a:cs typeface="Malgun Gothic" pitchFamily="34" charset="-120"/>
              </a:rPr>
              <a:t>한전 전력·온실가스 인벤토리·도시가스 수집, 정확도 점검·개선 6가지</a:t>
            </a:r>
            <a:endParaRPr lang="en-US" sz="1250" dirty="0"/>
          </a:p>
        </p:txBody>
      </p:sp>
      <p:sp>
        <p:nvSpPr>
          <p:cNvPr id="33" name="Shape 31"/>
          <p:cNvSpPr/>
          <p:nvPr/>
        </p:nvSpPr>
        <p:spPr>
          <a:xfrm>
            <a:off x="7040880" y="1371600"/>
            <a:ext cx="4690872" cy="4846320"/>
          </a:xfrm>
          <a:prstGeom prst="roundRect">
            <a:avLst>
              <a:gd name="adj" fmla="val 1559"/>
            </a:avLst>
          </a:prstGeom>
          <a:solidFill>
            <a:srgbClr val="F4F6F4"/>
          </a:solidFill>
          <a:ln w="9525">
            <a:solidFill>
              <a:srgbClr val="D9D7CE"/>
            </a:solidFill>
            <a:prstDash val="solid"/>
          </a:ln>
        </p:spPr>
      </p:sp>
      <p:sp>
        <p:nvSpPr>
          <p:cNvPr id="34" name="Text 32"/>
          <p:cNvSpPr txBox="1"/>
          <p:nvPr/>
        </p:nvSpPr>
        <p:spPr>
          <a:xfrm>
            <a:off x="7315200" y="1554480"/>
            <a:ext cx="4206240" cy="320040"/>
          </a:xfrm>
          <a:prstGeom prst="rect">
            <a:avLst/>
          </a:prstGeom>
          <a:noFill/>
          <a:ln/>
        </p:spPr>
        <p:txBody>
          <a:bodyPr wrap="square" lIns="0" tIns="0" rIns="0" bIns="0" rtlCol="0" anchor="t"/>
          <a:lstStyle/>
          <a:p>
            <a:pPr indent="0" marL="0">
              <a:buNone/>
            </a:pPr>
            <a:r>
              <a:rPr lang="en-US" sz="1400" b="1" dirty="0">
                <a:solidFill>
                  <a:srgbClr val="2F5D50"/>
                </a:solidFill>
                <a:latin typeface="Malgun Gothic" pitchFamily="34" charset="0"/>
                <a:ea typeface="Malgun Gothic" pitchFamily="34" charset="-122"/>
                <a:cs typeface="Malgun Gothic" pitchFamily="34" charset="-120"/>
              </a:rPr>
              <a:t>지금 규모 (PC 실데이터)</a:t>
            </a:r>
            <a:endParaRPr lang="en-US" sz="1400" dirty="0"/>
          </a:p>
        </p:txBody>
      </p:sp>
      <p:sp>
        <p:nvSpPr>
          <p:cNvPr id="35" name="Text 33"/>
          <p:cNvSpPr txBox="1"/>
          <p:nvPr/>
        </p:nvSpPr>
        <p:spPr>
          <a:xfrm>
            <a:off x="7315200" y="2011680"/>
            <a:ext cx="1920240" cy="411480"/>
          </a:xfrm>
          <a:prstGeom prst="rect">
            <a:avLst/>
          </a:prstGeom>
          <a:noFill/>
          <a:ln/>
        </p:spPr>
        <p:txBody>
          <a:bodyPr wrap="square" lIns="0" tIns="0" rIns="0" bIns="0" rtlCol="0" anchor="t"/>
          <a:lstStyle/>
          <a:p>
            <a:pPr indent="0" marL="0">
              <a:buNone/>
            </a:pPr>
            <a:r>
              <a:rPr lang="en-US" sz="2000" b="1" dirty="0">
                <a:solidFill>
                  <a:srgbClr val="2F5D50"/>
                </a:solidFill>
                <a:latin typeface="Malgun Gothic" pitchFamily="34" charset="0"/>
                <a:ea typeface="Malgun Gothic" pitchFamily="34" charset="-122"/>
                <a:cs typeface="Malgun Gothic" pitchFamily="34" charset="-120"/>
              </a:rPr>
              <a:t>229곳</a:t>
            </a:r>
            <a:endParaRPr lang="en-US" sz="2000" dirty="0"/>
          </a:p>
        </p:txBody>
      </p:sp>
      <p:sp>
        <p:nvSpPr>
          <p:cNvPr id="36" name="Text 34"/>
          <p:cNvSpPr txBox="1"/>
          <p:nvPr/>
        </p:nvSpPr>
        <p:spPr>
          <a:xfrm>
            <a:off x="9281160" y="2084832"/>
            <a:ext cx="2331720" cy="548640"/>
          </a:xfrm>
          <a:prstGeom prst="rect">
            <a:avLst/>
          </a:prstGeom>
          <a:noFill/>
          <a:ln/>
        </p:spPr>
        <p:txBody>
          <a:bodyPr wrap="square" lIns="0" tIns="0" rIns="0" bIns="0" rtlCol="0" anchor="t"/>
          <a:lstStyle/>
          <a:p>
            <a:pPr indent="0" marL="0">
              <a:lnSpc>
                <a:spcPct val="105000"/>
              </a:lnSpc>
              <a:buNone/>
            </a:pPr>
            <a:r>
              <a:rPr lang="en-US" sz="1100" dirty="0">
                <a:solidFill>
                  <a:srgbClr val="505B55"/>
                </a:solidFill>
                <a:latin typeface="Malgun Gothic" pitchFamily="34" charset="0"/>
                <a:ea typeface="Malgun Gothic" pitchFamily="34" charset="-122"/>
                <a:cs typeface="Malgun Gothic" pitchFamily="34" charset="-120"/>
              </a:rPr>
              <a:t>한전 전력·온실가스를 비교하는 시·군·구</a:t>
            </a:r>
            <a:endParaRPr lang="en-US" sz="1100" dirty="0"/>
          </a:p>
        </p:txBody>
      </p:sp>
      <p:sp>
        <p:nvSpPr>
          <p:cNvPr id="37" name="Text 35"/>
          <p:cNvSpPr txBox="1"/>
          <p:nvPr/>
        </p:nvSpPr>
        <p:spPr>
          <a:xfrm>
            <a:off x="7315200" y="2834640"/>
            <a:ext cx="1920240" cy="411480"/>
          </a:xfrm>
          <a:prstGeom prst="rect">
            <a:avLst/>
          </a:prstGeom>
          <a:noFill/>
          <a:ln/>
        </p:spPr>
        <p:txBody>
          <a:bodyPr wrap="square" lIns="0" tIns="0" rIns="0" bIns="0" rtlCol="0" anchor="t"/>
          <a:lstStyle/>
          <a:p>
            <a:pPr indent="0" marL="0">
              <a:buNone/>
            </a:pPr>
            <a:r>
              <a:rPr lang="en-US" sz="2000" b="1" dirty="0">
                <a:solidFill>
                  <a:srgbClr val="2F5D50"/>
                </a:solidFill>
                <a:latin typeface="Malgun Gothic" pitchFamily="34" charset="0"/>
                <a:ea typeface="Malgun Gothic" pitchFamily="34" charset="-122"/>
                <a:cs typeface="Malgun Gothic" pitchFamily="34" charset="-120"/>
              </a:rPr>
              <a:t>416,132칸</a:t>
            </a:r>
            <a:endParaRPr lang="en-US" sz="2000" dirty="0"/>
          </a:p>
        </p:txBody>
      </p:sp>
      <p:sp>
        <p:nvSpPr>
          <p:cNvPr id="38" name="Text 36"/>
          <p:cNvSpPr txBox="1"/>
          <p:nvPr/>
        </p:nvSpPr>
        <p:spPr>
          <a:xfrm>
            <a:off x="9281160" y="2907792"/>
            <a:ext cx="2331720" cy="548640"/>
          </a:xfrm>
          <a:prstGeom prst="rect">
            <a:avLst/>
          </a:prstGeom>
          <a:noFill/>
          <a:ln/>
        </p:spPr>
        <p:txBody>
          <a:bodyPr wrap="square" lIns="0" tIns="0" rIns="0" bIns="0" rtlCol="0" anchor="t"/>
          <a:lstStyle/>
          <a:p>
            <a:pPr indent="0" marL="0">
              <a:lnSpc>
                <a:spcPct val="105000"/>
              </a:lnSpc>
              <a:buNone/>
            </a:pPr>
            <a:r>
              <a:rPr lang="en-US" sz="1100" dirty="0">
                <a:solidFill>
                  <a:srgbClr val="505B55"/>
                </a:solidFill>
                <a:latin typeface="Malgun Gothic" pitchFamily="34" charset="0"/>
                <a:ea typeface="Malgun Gothic" pitchFamily="34" charset="-122"/>
                <a:cs typeface="Malgun Gothic" pitchFamily="34" charset="-120"/>
              </a:rPr>
              <a:t>SGIS 공식 500m 격자 (전국)</a:t>
            </a:r>
            <a:endParaRPr lang="en-US" sz="1100" dirty="0"/>
          </a:p>
        </p:txBody>
      </p:sp>
      <p:sp>
        <p:nvSpPr>
          <p:cNvPr id="39" name="Text 37"/>
          <p:cNvSpPr txBox="1"/>
          <p:nvPr/>
        </p:nvSpPr>
        <p:spPr>
          <a:xfrm>
            <a:off x="7315200" y="3657600"/>
            <a:ext cx="1920240" cy="411480"/>
          </a:xfrm>
          <a:prstGeom prst="rect">
            <a:avLst/>
          </a:prstGeom>
          <a:noFill/>
          <a:ln/>
        </p:spPr>
        <p:txBody>
          <a:bodyPr wrap="square" lIns="0" tIns="0" rIns="0" bIns="0" rtlCol="0" anchor="t"/>
          <a:lstStyle/>
          <a:p>
            <a:pPr indent="0" marL="0">
              <a:buNone/>
            </a:pPr>
            <a:r>
              <a:rPr lang="en-US" sz="2000" b="1" dirty="0">
                <a:solidFill>
                  <a:srgbClr val="2F5D50"/>
                </a:solidFill>
                <a:latin typeface="Malgun Gothic" pitchFamily="34" charset="0"/>
                <a:ea typeface="Malgun Gothic" pitchFamily="34" charset="-122"/>
                <a:cs typeface="Malgun Gothic" pitchFamily="34" charset="-120"/>
              </a:rPr>
              <a:t>22,543단지</a:t>
            </a:r>
            <a:endParaRPr lang="en-US" sz="2000" dirty="0"/>
          </a:p>
        </p:txBody>
      </p:sp>
      <p:sp>
        <p:nvSpPr>
          <p:cNvPr id="40" name="Text 38"/>
          <p:cNvSpPr txBox="1"/>
          <p:nvPr/>
        </p:nvSpPr>
        <p:spPr>
          <a:xfrm>
            <a:off x="9281160" y="3730752"/>
            <a:ext cx="2331720" cy="548640"/>
          </a:xfrm>
          <a:prstGeom prst="rect">
            <a:avLst/>
          </a:prstGeom>
          <a:noFill/>
          <a:ln/>
        </p:spPr>
        <p:txBody>
          <a:bodyPr wrap="square" lIns="0" tIns="0" rIns="0" bIns="0" rtlCol="0" anchor="t"/>
          <a:lstStyle/>
          <a:p>
            <a:pPr indent="0" marL="0">
              <a:lnSpc>
                <a:spcPct val="105000"/>
              </a:lnSpc>
              <a:buNone/>
            </a:pPr>
            <a:r>
              <a:rPr lang="en-US" sz="1100" dirty="0">
                <a:solidFill>
                  <a:srgbClr val="505B55"/>
                </a:solidFill>
                <a:latin typeface="Malgun Gothic" pitchFamily="34" charset="0"/>
                <a:ea typeface="Malgun Gothic" pitchFamily="34" charset="-122"/>
                <a:cs typeface="Malgun Gothic" pitchFamily="34" charset="-120"/>
              </a:rPr>
              <a:t>K-apt 공동주택 목록 (전국)</a:t>
            </a:r>
            <a:endParaRPr lang="en-US" sz="1100" dirty="0"/>
          </a:p>
        </p:txBody>
      </p:sp>
      <p:sp>
        <p:nvSpPr>
          <p:cNvPr id="41" name="Text 39"/>
          <p:cNvSpPr txBox="1"/>
          <p:nvPr/>
        </p:nvSpPr>
        <p:spPr>
          <a:xfrm>
            <a:off x="7315200" y="4480560"/>
            <a:ext cx="1920240" cy="411480"/>
          </a:xfrm>
          <a:prstGeom prst="rect">
            <a:avLst/>
          </a:prstGeom>
          <a:noFill/>
          <a:ln/>
        </p:spPr>
        <p:txBody>
          <a:bodyPr wrap="square" lIns="0" tIns="0" rIns="0" bIns="0" rtlCol="0" anchor="t"/>
          <a:lstStyle/>
          <a:p>
            <a:pPr indent="0" marL="0">
              <a:buNone/>
            </a:pPr>
            <a:r>
              <a:rPr lang="en-US" sz="2000" b="1" dirty="0">
                <a:solidFill>
                  <a:srgbClr val="2F5D50"/>
                </a:solidFill>
                <a:latin typeface="Malgun Gothic" pitchFamily="34" charset="0"/>
                <a:ea typeface="Malgun Gothic" pitchFamily="34" charset="-122"/>
                <a:cs typeface="Malgun Gothic" pitchFamily="34" charset="-120"/>
              </a:rPr>
              <a:t>3곳</a:t>
            </a:r>
            <a:endParaRPr lang="en-US" sz="2000" dirty="0"/>
          </a:p>
        </p:txBody>
      </p:sp>
      <p:sp>
        <p:nvSpPr>
          <p:cNvPr id="42" name="Text 40"/>
          <p:cNvSpPr txBox="1"/>
          <p:nvPr/>
        </p:nvSpPr>
        <p:spPr>
          <a:xfrm>
            <a:off x="9281160" y="4553712"/>
            <a:ext cx="2331720" cy="548640"/>
          </a:xfrm>
          <a:prstGeom prst="rect">
            <a:avLst/>
          </a:prstGeom>
          <a:noFill/>
          <a:ln/>
        </p:spPr>
        <p:txBody>
          <a:bodyPr wrap="square" lIns="0" tIns="0" rIns="0" bIns="0" rtlCol="0" anchor="t"/>
          <a:lstStyle/>
          <a:p>
            <a:pPr indent="0" marL="0">
              <a:lnSpc>
                <a:spcPct val="105000"/>
              </a:lnSpc>
              <a:buNone/>
            </a:pPr>
            <a:r>
              <a:rPr lang="en-US" sz="1100" dirty="0">
                <a:solidFill>
                  <a:srgbClr val="505B55"/>
                </a:solidFill>
                <a:latin typeface="Malgun Gothic" pitchFamily="34" charset="0"/>
                <a:ea typeface="Malgun Gothic" pitchFamily="34" charset="-122"/>
                <a:cs typeface="Malgun Gothic" pitchFamily="34" charset="-120"/>
              </a:rPr>
              <a:t>건물 에너지 상세: 전주·수원, 완주(수집 중)</a:t>
            </a:r>
            <a:endParaRPr lang="en-US" sz="1100" dirty="0"/>
          </a:p>
        </p:txBody>
      </p:sp>
      <p:sp>
        <p:nvSpPr>
          <p:cNvPr id="43" name="Text 41"/>
          <p:cNvSpPr txBox="1"/>
          <p:nvPr/>
        </p:nvSpPr>
        <p:spPr>
          <a:xfrm>
            <a:off x="7315200" y="5303520"/>
            <a:ext cx="1920240" cy="411480"/>
          </a:xfrm>
          <a:prstGeom prst="rect">
            <a:avLst/>
          </a:prstGeom>
          <a:noFill/>
          <a:ln/>
        </p:spPr>
        <p:txBody>
          <a:bodyPr wrap="square" lIns="0" tIns="0" rIns="0" bIns="0" rtlCol="0" anchor="t"/>
          <a:lstStyle/>
          <a:p>
            <a:pPr indent="0" marL="0">
              <a:buNone/>
            </a:pPr>
            <a:r>
              <a:rPr lang="en-US" sz="2000" b="1" dirty="0">
                <a:solidFill>
                  <a:srgbClr val="2F5D50"/>
                </a:solidFill>
                <a:latin typeface="Malgun Gothic" pitchFamily="34" charset="0"/>
                <a:ea typeface="Malgun Gothic" pitchFamily="34" charset="-122"/>
                <a:cs typeface="Malgun Gothic" pitchFamily="34" charset="-120"/>
              </a:rPr>
              <a:t>160곳</a:t>
            </a:r>
            <a:endParaRPr lang="en-US" sz="2000" dirty="0"/>
          </a:p>
        </p:txBody>
      </p:sp>
      <p:sp>
        <p:nvSpPr>
          <p:cNvPr id="44" name="Text 42"/>
          <p:cNvSpPr txBox="1"/>
          <p:nvPr/>
        </p:nvSpPr>
        <p:spPr>
          <a:xfrm>
            <a:off x="9281160" y="5376672"/>
            <a:ext cx="2331720" cy="548640"/>
          </a:xfrm>
          <a:prstGeom prst="rect">
            <a:avLst/>
          </a:prstGeom>
          <a:noFill/>
          <a:ln/>
        </p:spPr>
        <p:txBody>
          <a:bodyPr wrap="square" lIns="0" tIns="0" rIns="0" bIns="0" rtlCol="0" anchor="t"/>
          <a:lstStyle/>
          <a:p>
            <a:pPr indent="0" marL="0">
              <a:lnSpc>
                <a:spcPct val="105000"/>
              </a:lnSpc>
              <a:buNone/>
            </a:pPr>
            <a:r>
              <a:rPr lang="en-US" sz="1100" dirty="0">
                <a:solidFill>
                  <a:srgbClr val="505B55"/>
                </a:solidFill>
                <a:latin typeface="Malgun Gothic" pitchFamily="34" charset="0"/>
                <a:ea typeface="Malgun Gothic" pitchFamily="34" charset="-122"/>
                <a:cs typeface="Malgun Gothic" pitchFamily="34" charset="-120"/>
              </a:rPr>
              <a:t>읽어 둔 도시·군계획 조례 (건폐율·용적률)</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3A33"/>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8FB0A3"/>
                </a:solidFill>
                <a:latin typeface="Malgun Gothic" pitchFamily="34" charset="0"/>
                <a:ea typeface="Malgun Gothic" pitchFamily="34" charset="-122"/>
                <a:cs typeface="Malgun Gothic" pitchFamily="34" charset="-120"/>
              </a:rPr>
              <a:t>Carbon Urban DSS 소개와 활용 · 4</a:t>
            </a:r>
            <a:endParaRPr lang="en-US" sz="900" dirty="0"/>
          </a:p>
        </p:txBody>
      </p:sp>
      <p:sp>
        <p:nvSpPr>
          <p:cNvPr id="3" name="Text 1"/>
          <p:cNvSpPr txBox="1"/>
          <p:nvPr/>
        </p:nvSpPr>
        <p:spPr>
          <a:xfrm>
            <a:off x="548640" y="2011680"/>
            <a:ext cx="2743200" cy="457200"/>
          </a:xfrm>
          <a:prstGeom prst="rect">
            <a:avLst/>
          </a:prstGeom>
          <a:noFill/>
          <a:ln/>
        </p:spPr>
        <p:txBody>
          <a:bodyPr wrap="square" lIns="0" tIns="0" rIns="0" bIns="0" rtlCol="0" anchor="t"/>
          <a:lstStyle/>
          <a:p>
            <a:pPr indent="0" marL="0">
              <a:buNone/>
            </a:pPr>
            <a:r>
              <a:rPr lang="en-US" sz="1800" b="1" dirty="0">
                <a:solidFill>
                  <a:srgbClr val="A9C7BA"/>
                </a:solidFill>
                <a:latin typeface="Malgun Gothic" pitchFamily="34" charset="0"/>
                <a:ea typeface="Malgun Gothic" pitchFamily="34" charset="-122"/>
                <a:cs typeface="Malgun Gothic" pitchFamily="34" charset="-120"/>
              </a:rPr>
              <a:t>01</a:t>
            </a:r>
            <a:endParaRPr lang="en-US" sz="1800" dirty="0"/>
          </a:p>
        </p:txBody>
      </p:sp>
      <p:sp>
        <p:nvSpPr>
          <p:cNvPr id="4" name="Text 2"/>
          <p:cNvSpPr txBox="1"/>
          <p:nvPr/>
        </p:nvSpPr>
        <p:spPr>
          <a:xfrm>
            <a:off x="548640" y="2514600"/>
            <a:ext cx="10058400" cy="914400"/>
          </a:xfrm>
          <a:prstGeom prst="rect">
            <a:avLst/>
          </a:prstGeom>
          <a:noFill/>
          <a:ln/>
        </p:spPr>
        <p:txBody>
          <a:bodyPr wrap="square" lIns="0" tIns="0" rIns="0" bIns="0" rtlCol="0" anchor="t"/>
          <a:lstStyle/>
          <a:p>
            <a:pPr indent="0" marL="0">
              <a:buNone/>
            </a:pPr>
            <a:r>
              <a:rPr lang="en-US" sz="3800" b="1" dirty="0">
                <a:solidFill>
                  <a:srgbClr val="FFFFFF"/>
                </a:solidFill>
                <a:latin typeface="Malgun Gothic" pitchFamily="34" charset="0"/>
                <a:ea typeface="Malgun Gothic" pitchFamily="34" charset="-122"/>
                <a:cs typeface="Malgun Gothic" pitchFamily="34" charset="-120"/>
              </a:rPr>
              <a:t>어떤 데이터를 쓰나</a:t>
            </a:r>
            <a:endParaRPr lang="en-US" sz="3800" dirty="0"/>
          </a:p>
        </p:txBody>
      </p:sp>
      <p:sp>
        <p:nvSpPr>
          <p:cNvPr id="5" name="Text 3"/>
          <p:cNvSpPr txBox="1"/>
          <p:nvPr/>
        </p:nvSpPr>
        <p:spPr>
          <a:xfrm>
            <a:off x="548640" y="3566160"/>
            <a:ext cx="10058400" cy="822960"/>
          </a:xfrm>
          <a:prstGeom prst="rect">
            <a:avLst/>
          </a:prstGeom>
          <a:noFill/>
          <a:ln/>
        </p:spPr>
        <p:txBody>
          <a:bodyPr wrap="square" lIns="0" tIns="0" rIns="0" bIns="0" rtlCol="0" anchor="t"/>
          <a:lstStyle/>
          <a:p>
            <a:pPr indent="0" marL="0">
              <a:lnSpc>
                <a:spcPct val="115000"/>
              </a:lnSpc>
              <a:buNone/>
            </a:pPr>
            <a:r>
              <a:rPr lang="en-US" sz="1600" dirty="0">
                <a:solidFill>
                  <a:srgbClr val="CFE0D8"/>
                </a:solidFill>
                <a:latin typeface="Malgun Gothic" pitchFamily="34" charset="0"/>
                <a:ea typeface="Malgun Gothic" pitchFamily="34" charset="-122"/>
                <a:cs typeface="Malgun Gothic" pitchFamily="34" charset="-120"/>
              </a:rPr>
              <a:t>전국에 있는 공식 통계 + 지역마다 모으는 상세 자료.</a:t>
            </a:r>
            <a:endParaRPr lang="en-US" sz="1600" dirty="0"/>
          </a:p>
          <a:p>
            <a:pPr indent="0" marL="0">
              <a:lnSpc>
                <a:spcPct val="115000"/>
              </a:lnSpc>
              <a:buNone/>
            </a:pPr>
            <a:r>
              <a:rPr lang="en-US" sz="1600" dirty="0">
                <a:solidFill>
                  <a:srgbClr val="CFE0D8"/>
                </a:solidFill>
                <a:latin typeface="Malgun Gothic" pitchFamily="34" charset="0"/>
                <a:ea typeface="Malgun Gothic" pitchFamily="34" charset="-122"/>
                <a:cs typeface="Malgun Gothic" pitchFamily="34" charset="-120"/>
              </a:rPr>
              <a:t>자료마다 기간·단위·믿을 수 있는 정도가 다릅니다.</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5</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데이터 범위 ①</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전국 공식 통계와 지역 상세 자료, 두 층입니다</a:t>
            </a:r>
            <a:endParaRPr lang="en-US" sz="2500" dirty="0"/>
          </a:p>
        </p:txBody>
      </p:sp>
      <p:sp>
        <p:nvSpPr>
          <p:cNvPr id="5" name="Shape 3"/>
          <p:cNvSpPr/>
          <p:nvPr/>
        </p:nvSpPr>
        <p:spPr>
          <a:xfrm>
            <a:off x="457200" y="1325880"/>
            <a:ext cx="5559552" cy="457200"/>
          </a:xfrm>
          <a:prstGeom prst="roundRect">
            <a:avLst>
              <a:gd name="adj" fmla="val 12000"/>
            </a:avLst>
          </a:prstGeom>
          <a:solidFill>
            <a:srgbClr val="E2EEE8"/>
          </a:solidFill>
          <a:ln w="12700">
            <a:solidFill>
              <a:srgbClr val="E2EEE8"/>
            </a:solidFill>
            <a:prstDash val="solid"/>
          </a:ln>
        </p:spPr>
      </p:sp>
      <p:sp>
        <p:nvSpPr>
          <p:cNvPr id="6" name="Text 4"/>
          <p:cNvSpPr txBox="1"/>
          <p:nvPr/>
        </p:nvSpPr>
        <p:spPr>
          <a:xfrm>
            <a:off x="685800" y="1325880"/>
            <a:ext cx="5120640" cy="457200"/>
          </a:xfrm>
          <a:prstGeom prst="rect">
            <a:avLst/>
          </a:prstGeom>
          <a:noFill/>
          <a:ln/>
        </p:spPr>
        <p:txBody>
          <a:bodyPr wrap="square" lIns="0" tIns="0" rIns="0" bIns="0" rtlCol="0" anchor="ctr"/>
          <a:lstStyle/>
          <a:p>
            <a:pPr indent="0" marL="0">
              <a:buNone/>
            </a:pPr>
            <a:r>
              <a:rPr lang="en-US" sz="1450" b="1" dirty="0">
                <a:solidFill>
                  <a:srgbClr val="2F5D50"/>
                </a:solidFill>
                <a:latin typeface="Malgun Gothic" pitchFamily="34" charset="0"/>
                <a:ea typeface="Malgun Gothic" pitchFamily="34" charset="-122"/>
                <a:cs typeface="Malgun Gothic" pitchFamily="34" charset="-120"/>
              </a:rPr>
              <a:t>전국 (어느 시·군·구든)</a:t>
            </a:r>
            <a:endParaRPr lang="en-US" sz="1450" dirty="0"/>
          </a:p>
        </p:txBody>
      </p:sp>
      <p:sp>
        <p:nvSpPr>
          <p:cNvPr id="7" name="Shape 5"/>
          <p:cNvSpPr/>
          <p:nvPr/>
        </p:nvSpPr>
        <p:spPr>
          <a:xfrm>
            <a:off x="457200" y="1911096"/>
            <a:ext cx="5559552" cy="0"/>
          </a:xfrm>
          <a:prstGeom prst="line">
            <a:avLst/>
          </a:prstGeom>
          <a:noFill/>
          <a:ln w="9525">
            <a:solidFill>
              <a:srgbClr val="D9D7CE"/>
            </a:solidFill>
            <a:prstDash val="solid"/>
          </a:ln>
        </p:spPr>
      </p:sp>
      <p:sp>
        <p:nvSpPr>
          <p:cNvPr id="8" name="Text 6"/>
          <p:cNvSpPr txBox="1"/>
          <p:nvPr/>
        </p:nvSpPr>
        <p:spPr>
          <a:xfrm>
            <a:off x="685800" y="1965960"/>
            <a:ext cx="5120640"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한전 시·군·구 전력판매량</a:t>
            </a:r>
            <a:endParaRPr lang="en-US" sz="1300" dirty="0"/>
          </a:p>
        </p:txBody>
      </p:sp>
      <p:sp>
        <p:nvSpPr>
          <p:cNvPr id="9" name="Text 7"/>
          <p:cNvSpPr txBox="1"/>
          <p:nvPr/>
        </p:nvSpPr>
        <p:spPr>
          <a:xfrm>
            <a:off x="685800" y="2267712"/>
            <a:ext cx="5120640" cy="27432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계약종별 월별 kWh · 2015~2026.7 · 229곳</a:t>
            </a:r>
            <a:endParaRPr lang="en-US" sz="1100" dirty="0"/>
          </a:p>
        </p:txBody>
      </p:sp>
      <p:sp>
        <p:nvSpPr>
          <p:cNvPr id="10" name="Shape 8"/>
          <p:cNvSpPr/>
          <p:nvPr/>
        </p:nvSpPr>
        <p:spPr>
          <a:xfrm>
            <a:off x="457200" y="2596896"/>
            <a:ext cx="5559552" cy="0"/>
          </a:xfrm>
          <a:prstGeom prst="line">
            <a:avLst/>
          </a:prstGeom>
          <a:noFill/>
          <a:ln w="9525">
            <a:solidFill>
              <a:srgbClr val="D9D7CE"/>
            </a:solidFill>
            <a:prstDash val="solid"/>
          </a:ln>
        </p:spPr>
      </p:sp>
      <p:sp>
        <p:nvSpPr>
          <p:cNvPr id="11" name="Text 9"/>
          <p:cNvSpPr txBox="1"/>
          <p:nvPr/>
        </p:nvSpPr>
        <p:spPr>
          <a:xfrm>
            <a:off x="685800" y="2651760"/>
            <a:ext cx="5120640"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지역 온실가스 인벤토리</a:t>
            </a:r>
            <a:endParaRPr lang="en-US" sz="1300" dirty="0"/>
          </a:p>
        </p:txBody>
      </p:sp>
      <p:sp>
        <p:nvSpPr>
          <p:cNvPr id="12" name="Text 10"/>
          <p:cNvSpPr txBox="1"/>
          <p:nvPr/>
        </p:nvSpPr>
        <p:spPr>
          <a:xfrm>
            <a:off x="685800" y="2953512"/>
            <a:ext cx="5120640" cy="27432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온실가스종합정보센터 · 2010~2023 · 229곳</a:t>
            </a:r>
            <a:endParaRPr lang="en-US" sz="1100" dirty="0"/>
          </a:p>
        </p:txBody>
      </p:sp>
      <p:sp>
        <p:nvSpPr>
          <p:cNvPr id="13" name="Shape 11"/>
          <p:cNvSpPr/>
          <p:nvPr/>
        </p:nvSpPr>
        <p:spPr>
          <a:xfrm>
            <a:off x="457200" y="3282696"/>
            <a:ext cx="5559552" cy="0"/>
          </a:xfrm>
          <a:prstGeom prst="line">
            <a:avLst/>
          </a:prstGeom>
          <a:noFill/>
          <a:ln w="9525">
            <a:solidFill>
              <a:srgbClr val="D9D7CE"/>
            </a:solidFill>
            <a:prstDash val="solid"/>
          </a:ln>
        </p:spPr>
      </p:sp>
      <p:sp>
        <p:nvSpPr>
          <p:cNvPr id="14" name="Text 12"/>
          <p:cNvSpPr txBox="1"/>
          <p:nvPr/>
        </p:nvSpPr>
        <p:spPr>
          <a:xfrm>
            <a:off x="685800" y="3337560"/>
            <a:ext cx="5120640"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도시가스 판매량</a:t>
            </a:r>
            <a:endParaRPr lang="en-US" sz="1300" dirty="0"/>
          </a:p>
        </p:txBody>
      </p:sp>
      <p:sp>
        <p:nvSpPr>
          <p:cNvPr id="15" name="Text 13"/>
          <p:cNvSpPr txBox="1"/>
          <p:nvPr/>
        </p:nvSpPr>
        <p:spPr>
          <a:xfrm>
            <a:off x="685800" y="3639312"/>
            <a:ext cx="5120640" cy="27432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한국가스공사 · 시·도 월별 · 1989~2024</a:t>
            </a:r>
            <a:endParaRPr lang="en-US" sz="1100" dirty="0"/>
          </a:p>
        </p:txBody>
      </p:sp>
      <p:sp>
        <p:nvSpPr>
          <p:cNvPr id="16" name="Shape 14"/>
          <p:cNvSpPr/>
          <p:nvPr/>
        </p:nvSpPr>
        <p:spPr>
          <a:xfrm>
            <a:off x="457200" y="3968496"/>
            <a:ext cx="5559552" cy="0"/>
          </a:xfrm>
          <a:prstGeom prst="line">
            <a:avLst/>
          </a:prstGeom>
          <a:noFill/>
          <a:ln w="9525">
            <a:solidFill>
              <a:srgbClr val="D9D7CE"/>
            </a:solidFill>
            <a:prstDash val="solid"/>
          </a:ln>
        </p:spPr>
      </p:sp>
      <p:sp>
        <p:nvSpPr>
          <p:cNvPr id="17" name="Text 15"/>
          <p:cNvSpPr txBox="1"/>
          <p:nvPr/>
        </p:nvSpPr>
        <p:spPr>
          <a:xfrm>
            <a:off x="685800" y="4023360"/>
            <a:ext cx="5120640"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SGIS 인구·가구</a:t>
            </a:r>
            <a:endParaRPr lang="en-US" sz="1300" dirty="0"/>
          </a:p>
        </p:txBody>
      </p:sp>
      <p:sp>
        <p:nvSpPr>
          <p:cNvPr id="18" name="Text 16"/>
          <p:cNvSpPr txBox="1"/>
          <p:nvPr/>
        </p:nvSpPr>
        <p:spPr>
          <a:xfrm>
            <a:off x="685800" y="4325112"/>
            <a:ext cx="5120640" cy="27432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행정동 2015~2024 · 500m 격자 2000~2024</a:t>
            </a:r>
            <a:endParaRPr lang="en-US" sz="1100" dirty="0"/>
          </a:p>
        </p:txBody>
      </p:sp>
      <p:sp>
        <p:nvSpPr>
          <p:cNvPr id="19" name="Shape 17"/>
          <p:cNvSpPr/>
          <p:nvPr/>
        </p:nvSpPr>
        <p:spPr>
          <a:xfrm>
            <a:off x="457200" y="4654296"/>
            <a:ext cx="5559552" cy="0"/>
          </a:xfrm>
          <a:prstGeom prst="line">
            <a:avLst/>
          </a:prstGeom>
          <a:noFill/>
          <a:ln w="9525">
            <a:solidFill>
              <a:srgbClr val="D9D7CE"/>
            </a:solidFill>
            <a:prstDash val="solid"/>
          </a:ln>
        </p:spPr>
      </p:sp>
      <p:sp>
        <p:nvSpPr>
          <p:cNvPr id="20" name="Text 18"/>
          <p:cNvSpPr txBox="1"/>
          <p:nvPr/>
        </p:nvSpPr>
        <p:spPr>
          <a:xfrm>
            <a:off x="685800" y="4709160"/>
            <a:ext cx="5120640"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SGIS 1km 격자 통계</a:t>
            </a:r>
            <a:endParaRPr lang="en-US" sz="1300" dirty="0"/>
          </a:p>
        </p:txBody>
      </p:sp>
      <p:sp>
        <p:nvSpPr>
          <p:cNvPr id="21" name="Text 19"/>
          <p:cNvSpPr txBox="1"/>
          <p:nvPr/>
        </p:nvSpPr>
        <p:spPr>
          <a:xfrm>
            <a:off x="685800" y="5010912"/>
            <a:ext cx="5120640" cy="27432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연령·가구·주택 노후·아파트 비율 · 2024</a:t>
            </a:r>
            <a:endParaRPr lang="en-US" sz="1100" dirty="0"/>
          </a:p>
        </p:txBody>
      </p:sp>
      <p:sp>
        <p:nvSpPr>
          <p:cNvPr id="22" name="Shape 20"/>
          <p:cNvSpPr/>
          <p:nvPr/>
        </p:nvSpPr>
        <p:spPr>
          <a:xfrm>
            <a:off x="457200" y="5340096"/>
            <a:ext cx="5559552" cy="0"/>
          </a:xfrm>
          <a:prstGeom prst="line">
            <a:avLst/>
          </a:prstGeom>
          <a:noFill/>
          <a:ln w="9525">
            <a:solidFill>
              <a:srgbClr val="D9D7CE"/>
            </a:solidFill>
            <a:prstDash val="solid"/>
          </a:ln>
        </p:spPr>
      </p:sp>
      <p:sp>
        <p:nvSpPr>
          <p:cNvPr id="23" name="Text 21"/>
          <p:cNvSpPr txBox="1"/>
          <p:nvPr/>
        </p:nvSpPr>
        <p:spPr>
          <a:xfrm>
            <a:off x="685800" y="5394960"/>
            <a:ext cx="5120640"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K-apt 단지 목록 · 조례 상한</a:t>
            </a:r>
            <a:endParaRPr lang="en-US" sz="1300" dirty="0"/>
          </a:p>
        </p:txBody>
      </p:sp>
      <p:sp>
        <p:nvSpPr>
          <p:cNvPr id="24" name="Text 22"/>
          <p:cNvSpPr txBox="1"/>
          <p:nvPr/>
        </p:nvSpPr>
        <p:spPr>
          <a:xfrm>
            <a:off x="685800" y="5696712"/>
            <a:ext cx="5120640" cy="27432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22,543단지 · 조례 160곳 · 행정구역 20,560</a:t>
            </a:r>
            <a:endParaRPr lang="en-US" sz="1100" dirty="0"/>
          </a:p>
        </p:txBody>
      </p:sp>
      <p:sp>
        <p:nvSpPr>
          <p:cNvPr id="25" name="Shape 23"/>
          <p:cNvSpPr/>
          <p:nvPr/>
        </p:nvSpPr>
        <p:spPr>
          <a:xfrm>
            <a:off x="6172200" y="1325880"/>
            <a:ext cx="5559552" cy="457200"/>
          </a:xfrm>
          <a:prstGeom prst="roundRect">
            <a:avLst>
              <a:gd name="adj" fmla="val 12000"/>
            </a:avLst>
          </a:prstGeom>
          <a:solidFill>
            <a:srgbClr val="F6EBDD"/>
          </a:solidFill>
          <a:ln w="12700">
            <a:solidFill>
              <a:srgbClr val="F6EBDD"/>
            </a:solidFill>
            <a:prstDash val="solid"/>
          </a:ln>
        </p:spPr>
      </p:sp>
      <p:sp>
        <p:nvSpPr>
          <p:cNvPr id="26" name="Text 24"/>
          <p:cNvSpPr txBox="1"/>
          <p:nvPr/>
        </p:nvSpPr>
        <p:spPr>
          <a:xfrm>
            <a:off x="6400800" y="1325880"/>
            <a:ext cx="5120640" cy="457200"/>
          </a:xfrm>
          <a:prstGeom prst="rect">
            <a:avLst/>
          </a:prstGeom>
          <a:noFill/>
          <a:ln/>
        </p:spPr>
        <p:txBody>
          <a:bodyPr wrap="square" lIns="0" tIns="0" rIns="0" bIns="0" rtlCol="0" anchor="ctr"/>
          <a:lstStyle/>
          <a:p>
            <a:pPr indent="0" marL="0">
              <a:buNone/>
            </a:pPr>
            <a:r>
              <a:rPr lang="en-US" sz="1450" b="1" dirty="0">
                <a:solidFill>
                  <a:srgbClr val="B7792F"/>
                </a:solidFill>
                <a:latin typeface="Malgun Gothic" pitchFamily="34" charset="0"/>
                <a:ea typeface="Malgun Gothic" pitchFamily="34" charset="-122"/>
                <a:cs typeface="Malgun Gothic" pitchFamily="34" charset="-120"/>
              </a:rPr>
              <a:t>지역 상세 (전주·수원·완주)</a:t>
            </a:r>
            <a:endParaRPr lang="en-US" sz="1450" dirty="0"/>
          </a:p>
        </p:txBody>
      </p:sp>
      <p:sp>
        <p:nvSpPr>
          <p:cNvPr id="27" name="Shape 25"/>
          <p:cNvSpPr/>
          <p:nvPr/>
        </p:nvSpPr>
        <p:spPr>
          <a:xfrm>
            <a:off x="6172200" y="1911096"/>
            <a:ext cx="5559552" cy="0"/>
          </a:xfrm>
          <a:prstGeom prst="line">
            <a:avLst/>
          </a:prstGeom>
          <a:noFill/>
          <a:ln w="9525">
            <a:solidFill>
              <a:srgbClr val="D9D7CE"/>
            </a:solidFill>
            <a:prstDash val="solid"/>
          </a:ln>
        </p:spPr>
      </p:sp>
      <p:sp>
        <p:nvSpPr>
          <p:cNvPr id="28" name="Text 26"/>
          <p:cNvSpPr txBox="1"/>
          <p:nvPr/>
        </p:nvSpPr>
        <p:spPr>
          <a:xfrm>
            <a:off x="6400800" y="1965960"/>
            <a:ext cx="5120640"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건축HUB 건물에너지</a:t>
            </a:r>
            <a:endParaRPr lang="en-US" sz="1300" dirty="0"/>
          </a:p>
        </p:txBody>
      </p:sp>
      <p:sp>
        <p:nvSpPr>
          <p:cNvPr id="29" name="Text 27"/>
          <p:cNvSpPr txBox="1"/>
          <p:nvPr/>
        </p:nvSpPr>
        <p:spPr>
          <a:xfrm>
            <a:off x="6400800" y="2267712"/>
            <a:ext cx="5120640" cy="27432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지번별 월 전기·가스 · 2024~ (제공기관 기준)</a:t>
            </a:r>
            <a:endParaRPr lang="en-US" sz="1100" dirty="0"/>
          </a:p>
        </p:txBody>
      </p:sp>
      <p:sp>
        <p:nvSpPr>
          <p:cNvPr id="30" name="Shape 28"/>
          <p:cNvSpPr/>
          <p:nvPr/>
        </p:nvSpPr>
        <p:spPr>
          <a:xfrm>
            <a:off x="6172200" y="2596896"/>
            <a:ext cx="5559552" cy="0"/>
          </a:xfrm>
          <a:prstGeom prst="line">
            <a:avLst/>
          </a:prstGeom>
          <a:noFill/>
          <a:ln w="9525">
            <a:solidFill>
              <a:srgbClr val="D9D7CE"/>
            </a:solidFill>
            <a:prstDash val="solid"/>
          </a:ln>
        </p:spPr>
      </p:sp>
      <p:sp>
        <p:nvSpPr>
          <p:cNvPr id="31" name="Text 29"/>
          <p:cNvSpPr txBox="1"/>
          <p:nvPr/>
        </p:nvSpPr>
        <p:spPr>
          <a:xfrm>
            <a:off x="6400800" y="2651760"/>
            <a:ext cx="5120640"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K-apt 관리비 에너지</a:t>
            </a:r>
            <a:endParaRPr lang="en-US" sz="1300" dirty="0"/>
          </a:p>
        </p:txBody>
      </p:sp>
      <p:sp>
        <p:nvSpPr>
          <p:cNvPr id="32" name="Text 30"/>
          <p:cNvSpPr txBox="1"/>
          <p:nvPr/>
        </p:nvSpPr>
        <p:spPr>
          <a:xfrm>
            <a:off x="6400800" y="2953512"/>
            <a:ext cx="5120640" cy="27432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단지별 월 전기·가스 · 과거까지 (수집 중)</a:t>
            </a:r>
            <a:endParaRPr lang="en-US" sz="1100" dirty="0"/>
          </a:p>
        </p:txBody>
      </p:sp>
      <p:sp>
        <p:nvSpPr>
          <p:cNvPr id="33" name="Shape 31"/>
          <p:cNvSpPr/>
          <p:nvPr/>
        </p:nvSpPr>
        <p:spPr>
          <a:xfrm>
            <a:off x="6172200" y="3282696"/>
            <a:ext cx="5559552" cy="0"/>
          </a:xfrm>
          <a:prstGeom prst="line">
            <a:avLst/>
          </a:prstGeom>
          <a:noFill/>
          <a:ln w="9525">
            <a:solidFill>
              <a:srgbClr val="D9D7CE"/>
            </a:solidFill>
            <a:prstDash val="solid"/>
          </a:ln>
        </p:spPr>
      </p:sp>
      <p:sp>
        <p:nvSpPr>
          <p:cNvPr id="34" name="Text 32"/>
          <p:cNvSpPr txBox="1"/>
          <p:nvPr/>
        </p:nvSpPr>
        <p:spPr>
          <a:xfrm>
            <a:off x="6400800" y="3337560"/>
            <a:ext cx="5120640"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건축물대장 표제부</a:t>
            </a:r>
            <a:endParaRPr lang="en-US" sz="1300" dirty="0"/>
          </a:p>
        </p:txBody>
      </p:sp>
      <p:sp>
        <p:nvSpPr>
          <p:cNvPr id="35" name="Text 33"/>
          <p:cNvSpPr txBox="1"/>
          <p:nvPr/>
        </p:nvSpPr>
        <p:spPr>
          <a:xfrm>
            <a:off x="6400800" y="3639312"/>
            <a:ext cx="5120640" cy="27432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연면적·용도·층수·사용승인일</a:t>
            </a:r>
            <a:endParaRPr lang="en-US" sz="1100" dirty="0"/>
          </a:p>
        </p:txBody>
      </p:sp>
      <p:sp>
        <p:nvSpPr>
          <p:cNvPr id="36" name="Shape 34"/>
          <p:cNvSpPr/>
          <p:nvPr/>
        </p:nvSpPr>
        <p:spPr>
          <a:xfrm>
            <a:off x="6172200" y="3968496"/>
            <a:ext cx="5559552" cy="0"/>
          </a:xfrm>
          <a:prstGeom prst="line">
            <a:avLst/>
          </a:prstGeom>
          <a:noFill/>
          <a:ln w="9525">
            <a:solidFill>
              <a:srgbClr val="D9D7CE"/>
            </a:solidFill>
            <a:prstDash val="solid"/>
          </a:ln>
        </p:spPr>
      </p:sp>
      <p:sp>
        <p:nvSpPr>
          <p:cNvPr id="37" name="Text 35"/>
          <p:cNvSpPr txBox="1"/>
          <p:nvPr/>
        </p:nvSpPr>
        <p:spPr>
          <a:xfrm>
            <a:off x="6400800" y="4023360"/>
            <a:ext cx="5120640"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VWorld 건물·용도지역·연속지적</a:t>
            </a:r>
            <a:endParaRPr lang="en-US" sz="1300" dirty="0"/>
          </a:p>
        </p:txBody>
      </p:sp>
      <p:sp>
        <p:nvSpPr>
          <p:cNvPr id="38" name="Text 36"/>
          <p:cNvSpPr txBox="1"/>
          <p:nvPr/>
        </p:nvSpPr>
        <p:spPr>
          <a:xfrm>
            <a:off x="6400800" y="4325112"/>
            <a:ext cx="5120640" cy="27432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건물 윤곽 · 용도지역 도형 · 필지</a:t>
            </a:r>
            <a:endParaRPr lang="en-US" sz="1100" dirty="0"/>
          </a:p>
        </p:txBody>
      </p:sp>
      <p:sp>
        <p:nvSpPr>
          <p:cNvPr id="39" name="Shape 37"/>
          <p:cNvSpPr/>
          <p:nvPr/>
        </p:nvSpPr>
        <p:spPr>
          <a:xfrm>
            <a:off x="6172200" y="4654296"/>
            <a:ext cx="5559552" cy="0"/>
          </a:xfrm>
          <a:prstGeom prst="line">
            <a:avLst/>
          </a:prstGeom>
          <a:noFill/>
          <a:ln w="9525">
            <a:solidFill>
              <a:srgbClr val="D9D7CE"/>
            </a:solidFill>
            <a:prstDash val="solid"/>
          </a:ln>
        </p:spPr>
      </p:sp>
      <p:sp>
        <p:nvSpPr>
          <p:cNvPr id="40" name="Text 38"/>
          <p:cNvSpPr txBox="1"/>
          <p:nvPr/>
        </p:nvSpPr>
        <p:spPr>
          <a:xfrm>
            <a:off x="6400800" y="4709160"/>
            <a:ext cx="5120640"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기상</a:t>
            </a:r>
            <a:endParaRPr lang="en-US" sz="1300" dirty="0"/>
          </a:p>
        </p:txBody>
      </p:sp>
      <p:sp>
        <p:nvSpPr>
          <p:cNvPr id="41" name="Text 39"/>
          <p:cNvSpPr txBox="1"/>
          <p:nvPr/>
        </p:nvSpPr>
        <p:spPr>
          <a:xfrm>
            <a:off x="6400800" y="5010912"/>
            <a:ext cx="5120640" cy="27432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전주 ASOS 관측 · 다른 지역 ERA5-Land 재분석</a:t>
            </a:r>
            <a:endParaRPr lang="en-US" sz="1100" dirty="0"/>
          </a:p>
        </p:txBody>
      </p:sp>
      <p:sp>
        <p:nvSpPr>
          <p:cNvPr id="42" name="Shape 40"/>
          <p:cNvSpPr/>
          <p:nvPr/>
        </p:nvSpPr>
        <p:spPr>
          <a:xfrm>
            <a:off x="6172200" y="5340096"/>
            <a:ext cx="5559552" cy="0"/>
          </a:xfrm>
          <a:prstGeom prst="line">
            <a:avLst/>
          </a:prstGeom>
          <a:noFill/>
          <a:ln w="9525">
            <a:solidFill>
              <a:srgbClr val="D9D7CE"/>
            </a:solidFill>
            <a:prstDash val="solid"/>
          </a:ln>
        </p:spPr>
      </p:sp>
      <p:sp>
        <p:nvSpPr>
          <p:cNvPr id="43" name="Text 41"/>
          <p:cNvSpPr txBox="1"/>
          <p:nvPr/>
        </p:nvSpPr>
        <p:spPr>
          <a:xfrm>
            <a:off x="6400800" y="5394960"/>
            <a:ext cx="5120640"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국가 전력 배출계수</a:t>
            </a:r>
            <a:endParaRPr lang="en-US" sz="1300" dirty="0"/>
          </a:p>
        </p:txBody>
      </p:sp>
      <p:sp>
        <p:nvSpPr>
          <p:cNvPr id="44" name="Text 42"/>
          <p:cNvSpPr txBox="1"/>
          <p:nvPr/>
        </p:nvSpPr>
        <p:spPr>
          <a:xfrm>
            <a:off x="6400800" y="5696712"/>
            <a:ext cx="5120640" cy="27432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승인 회차별 · 2019년부터 적용</a:t>
            </a:r>
            <a:endParaRPr lang="en-US" sz="1100" dirty="0"/>
          </a:p>
        </p:txBody>
      </p:sp>
      <p:sp>
        <p:nvSpPr>
          <p:cNvPr id="45" name="Text 43"/>
          <p:cNvSpPr txBox="1"/>
          <p:nvPr/>
        </p:nvSpPr>
        <p:spPr>
          <a:xfrm>
            <a:off x="4572000" y="6473952"/>
            <a:ext cx="715975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행 수·기간은 docs/NATIONWIDE_DATA.md (PC DB 직접 조회)</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6</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데이터 범위 ②</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자료마다 덮는 기간이 다릅니다</a:t>
            </a:r>
            <a:endParaRPr lang="en-US" sz="2500" dirty="0"/>
          </a:p>
        </p:txBody>
      </p:sp>
      <p:sp>
        <p:nvSpPr>
          <p:cNvPr id="5" name="Text 3"/>
          <p:cNvSpPr txBox="1"/>
          <p:nvPr/>
        </p:nvSpPr>
        <p:spPr>
          <a:xfrm>
            <a:off x="3525819" y="1417320"/>
            <a:ext cx="548640"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2010</a:t>
            </a:r>
            <a:endParaRPr lang="en-US" sz="1000" dirty="0"/>
          </a:p>
        </p:txBody>
      </p:sp>
      <p:sp>
        <p:nvSpPr>
          <p:cNvPr id="6" name="Text 4"/>
          <p:cNvSpPr txBox="1"/>
          <p:nvPr/>
        </p:nvSpPr>
        <p:spPr>
          <a:xfrm>
            <a:off x="4461734" y="1417320"/>
            <a:ext cx="548640"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2012</a:t>
            </a:r>
            <a:endParaRPr lang="en-US" sz="1000" dirty="0"/>
          </a:p>
        </p:txBody>
      </p:sp>
      <p:sp>
        <p:nvSpPr>
          <p:cNvPr id="7" name="Text 5"/>
          <p:cNvSpPr txBox="1"/>
          <p:nvPr/>
        </p:nvSpPr>
        <p:spPr>
          <a:xfrm>
            <a:off x="5397649" y="1417320"/>
            <a:ext cx="548640"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2014</a:t>
            </a:r>
            <a:endParaRPr lang="en-US" sz="1000" dirty="0"/>
          </a:p>
        </p:txBody>
      </p:sp>
      <p:sp>
        <p:nvSpPr>
          <p:cNvPr id="8" name="Text 6"/>
          <p:cNvSpPr txBox="1"/>
          <p:nvPr/>
        </p:nvSpPr>
        <p:spPr>
          <a:xfrm>
            <a:off x="6333565" y="1417320"/>
            <a:ext cx="548640"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2016</a:t>
            </a:r>
            <a:endParaRPr lang="en-US" sz="1000" dirty="0"/>
          </a:p>
        </p:txBody>
      </p:sp>
      <p:sp>
        <p:nvSpPr>
          <p:cNvPr id="9" name="Text 7"/>
          <p:cNvSpPr txBox="1"/>
          <p:nvPr/>
        </p:nvSpPr>
        <p:spPr>
          <a:xfrm>
            <a:off x="7269480" y="1417320"/>
            <a:ext cx="548640"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2018</a:t>
            </a:r>
            <a:endParaRPr lang="en-US" sz="1000" dirty="0"/>
          </a:p>
        </p:txBody>
      </p:sp>
      <p:sp>
        <p:nvSpPr>
          <p:cNvPr id="10" name="Text 8"/>
          <p:cNvSpPr txBox="1"/>
          <p:nvPr/>
        </p:nvSpPr>
        <p:spPr>
          <a:xfrm>
            <a:off x="8205395" y="1417320"/>
            <a:ext cx="548640"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2020</a:t>
            </a:r>
            <a:endParaRPr lang="en-US" sz="1000" dirty="0"/>
          </a:p>
        </p:txBody>
      </p:sp>
      <p:sp>
        <p:nvSpPr>
          <p:cNvPr id="11" name="Text 9"/>
          <p:cNvSpPr txBox="1"/>
          <p:nvPr/>
        </p:nvSpPr>
        <p:spPr>
          <a:xfrm>
            <a:off x="9141311" y="1417320"/>
            <a:ext cx="548640"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2022</a:t>
            </a:r>
            <a:endParaRPr lang="en-US" sz="1000" dirty="0"/>
          </a:p>
        </p:txBody>
      </p:sp>
      <p:sp>
        <p:nvSpPr>
          <p:cNvPr id="12" name="Text 10"/>
          <p:cNvSpPr txBox="1"/>
          <p:nvPr/>
        </p:nvSpPr>
        <p:spPr>
          <a:xfrm>
            <a:off x="10077226" y="1417320"/>
            <a:ext cx="548640"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2024</a:t>
            </a:r>
            <a:endParaRPr lang="en-US" sz="1000" dirty="0"/>
          </a:p>
        </p:txBody>
      </p:sp>
      <p:sp>
        <p:nvSpPr>
          <p:cNvPr id="13" name="Text 11"/>
          <p:cNvSpPr txBox="1"/>
          <p:nvPr/>
        </p:nvSpPr>
        <p:spPr>
          <a:xfrm>
            <a:off x="11013141" y="1417320"/>
            <a:ext cx="548640"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2026</a:t>
            </a:r>
            <a:endParaRPr lang="en-US" sz="1000" dirty="0"/>
          </a:p>
        </p:txBody>
      </p:sp>
      <p:sp>
        <p:nvSpPr>
          <p:cNvPr id="14" name="Shape 12"/>
          <p:cNvSpPr/>
          <p:nvPr/>
        </p:nvSpPr>
        <p:spPr>
          <a:xfrm>
            <a:off x="3566160" y="1691640"/>
            <a:ext cx="0" cy="4343400"/>
          </a:xfrm>
          <a:prstGeom prst="line">
            <a:avLst/>
          </a:prstGeom>
          <a:noFill/>
          <a:ln w="9525">
            <a:solidFill>
              <a:srgbClr val="ECEAE3"/>
            </a:solidFill>
            <a:prstDash val="solid"/>
          </a:ln>
        </p:spPr>
      </p:sp>
      <p:sp>
        <p:nvSpPr>
          <p:cNvPr id="15" name="Shape 13"/>
          <p:cNvSpPr/>
          <p:nvPr/>
        </p:nvSpPr>
        <p:spPr>
          <a:xfrm>
            <a:off x="4502075" y="1691640"/>
            <a:ext cx="0" cy="4343400"/>
          </a:xfrm>
          <a:prstGeom prst="line">
            <a:avLst/>
          </a:prstGeom>
          <a:noFill/>
          <a:ln w="9525">
            <a:solidFill>
              <a:srgbClr val="ECEAE3"/>
            </a:solidFill>
            <a:prstDash val="solid"/>
          </a:ln>
        </p:spPr>
      </p:sp>
      <p:sp>
        <p:nvSpPr>
          <p:cNvPr id="16" name="Shape 14"/>
          <p:cNvSpPr/>
          <p:nvPr/>
        </p:nvSpPr>
        <p:spPr>
          <a:xfrm>
            <a:off x="5437991" y="1691640"/>
            <a:ext cx="0" cy="4343400"/>
          </a:xfrm>
          <a:prstGeom prst="line">
            <a:avLst/>
          </a:prstGeom>
          <a:noFill/>
          <a:ln w="9525">
            <a:solidFill>
              <a:srgbClr val="ECEAE3"/>
            </a:solidFill>
            <a:prstDash val="solid"/>
          </a:ln>
        </p:spPr>
      </p:sp>
      <p:sp>
        <p:nvSpPr>
          <p:cNvPr id="17" name="Shape 15"/>
          <p:cNvSpPr/>
          <p:nvPr/>
        </p:nvSpPr>
        <p:spPr>
          <a:xfrm>
            <a:off x="6373906" y="1691640"/>
            <a:ext cx="0" cy="4343400"/>
          </a:xfrm>
          <a:prstGeom prst="line">
            <a:avLst/>
          </a:prstGeom>
          <a:noFill/>
          <a:ln w="9525">
            <a:solidFill>
              <a:srgbClr val="ECEAE3"/>
            </a:solidFill>
            <a:prstDash val="solid"/>
          </a:ln>
        </p:spPr>
      </p:sp>
      <p:sp>
        <p:nvSpPr>
          <p:cNvPr id="18" name="Shape 16"/>
          <p:cNvSpPr/>
          <p:nvPr/>
        </p:nvSpPr>
        <p:spPr>
          <a:xfrm>
            <a:off x="7309821" y="1691640"/>
            <a:ext cx="0" cy="4343400"/>
          </a:xfrm>
          <a:prstGeom prst="line">
            <a:avLst/>
          </a:prstGeom>
          <a:noFill/>
          <a:ln w="9525">
            <a:solidFill>
              <a:srgbClr val="ECEAE3"/>
            </a:solidFill>
            <a:prstDash val="solid"/>
          </a:ln>
        </p:spPr>
      </p:sp>
      <p:sp>
        <p:nvSpPr>
          <p:cNvPr id="19" name="Shape 17"/>
          <p:cNvSpPr/>
          <p:nvPr/>
        </p:nvSpPr>
        <p:spPr>
          <a:xfrm>
            <a:off x="8245736" y="1691640"/>
            <a:ext cx="0" cy="4343400"/>
          </a:xfrm>
          <a:prstGeom prst="line">
            <a:avLst/>
          </a:prstGeom>
          <a:noFill/>
          <a:ln w="9525">
            <a:solidFill>
              <a:srgbClr val="ECEAE3"/>
            </a:solidFill>
            <a:prstDash val="solid"/>
          </a:ln>
        </p:spPr>
      </p:sp>
      <p:sp>
        <p:nvSpPr>
          <p:cNvPr id="20" name="Shape 18"/>
          <p:cNvSpPr/>
          <p:nvPr/>
        </p:nvSpPr>
        <p:spPr>
          <a:xfrm>
            <a:off x="9181652" y="1691640"/>
            <a:ext cx="0" cy="4343400"/>
          </a:xfrm>
          <a:prstGeom prst="line">
            <a:avLst/>
          </a:prstGeom>
          <a:noFill/>
          <a:ln w="9525">
            <a:solidFill>
              <a:srgbClr val="ECEAE3"/>
            </a:solidFill>
            <a:prstDash val="solid"/>
          </a:ln>
        </p:spPr>
      </p:sp>
      <p:sp>
        <p:nvSpPr>
          <p:cNvPr id="21" name="Shape 19"/>
          <p:cNvSpPr/>
          <p:nvPr/>
        </p:nvSpPr>
        <p:spPr>
          <a:xfrm>
            <a:off x="10117567" y="1691640"/>
            <a:ext cx="0" cy="4343400"/>
          </a:xfrm>
          <a:prstGeom prst="line">
            <a:avLst/>
          </a:prstGeom>
          <a:noFill/>
          <a:ln w="9525">
            <a:solidFill>
              <a:srgbClr val="ECEAE3"/>
            </a:solidFill>
            <a:prstDash val="solid"/>
          </a:ln>
        </p:spPr>
      </p:sp>
      <p:sp>
        <p:nvSpPr>
          <p:cNvPr id="22" name="Shape 20"/>
          <p:cNvSpPr/>
          <p:nvPr/>
        </p:nvSpPr>
        <p:spPr>
          <a:xfrm>
            <a:off x="11053482" y="1691640"/>
            <a:ext cx="0" cy="4343400"/>
          </a:xfrm>
          <a:prstGeom prst="line">
            <a:avLst/>
          </a:prstGeom>
          <a:noFill/>
          <a:ln w="9525">
            <a:solidFill>
              <a:srgbClr val="ECEAE3"/>
            </a:solidFill>
            <a:prstDash val="solid"/>
          </a:ln>
        </p:spPr>
      </p:sp>
      <p:sp>
        <p:nvSpPr>
          <p:cNvPr id="23" name="Text 21"/>
          <p:cNvSpPr txBox="1"/>
          <p:nvPr/>
        </p:nvSpPr>
        <p:spPr>
          <a:xfrm>
            <a:off x="457200" y="1856232"/>
            <a:ext cx="3017520" cy="274320"/>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도시가스 판매량 (시·도, 1989~)</a:t>
            </a:r>
            <a:endParaRPr lang="en-US" sz="1150" dirty="0"/>
          </a:p>
        </p:txBody>
      </p:sp>
      <p:sp>
        <p:nvSpPr>
          <p:cNvPr id="24" name="Shape 22"/>
          <p:cNvSpPr/>
          <p:nvPr/>
        </p:nvSpPr>
        <p:spPr>
          <a:xfrm>
            <a:off x="3566160" y="1874520"/>
            <a:ext cx="6982789" cy="256032"/>
          </a:xfrm>
          <a:prstGeom prst="roundRect">
            <a:avLst>
              <a:gd name="adj" fmla="val 17857"/>
            </a:avLst>
          </a:prstGeom>
          <a:solidFill>
            <a:srgbClr val="3D6FB8"/>
          </a:solidFill>
          <a:ln w="12700">
            <a:solidFill>
              <a:srgbClr val="3D6FB8"/>
            </a:solidFill>
            <a:prstDash val="solid"/>
          </a:ln>
        </p:spPr>
      </p:sp>
      <p:sp>
        <p:nvSpPr>
          <p:cNvPr id="25" name="Text 23"/>
          <p:cNvSpPr txBox="1"/>
          <p:nvPr/>
        </p:nvSpPr>
        <p:spPr>
          <a:xfrm>
            <a:off x="457200" y="2313432"/>
            <a:ext cx="3017520" cy="274320"/>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온실가스 인벤토리 (시·군·구)</a:t>
            </a:r>
            <a:endParaRPr lang="en-US" sz="1150" dirty="0"/>
          </a:p>
        </p:txBody>
      </p:sp>
      <p:sp>
        <p:nvSpPr>
          <p:cNvPr id="26" name="Shape 24"/>
          <p:cNvSpPr/>
          <p:nvPr/>
        </p:nvSpPr>
        <p:spPr>
          <a:xfrm>
            <a:off x="3566160" y="2331720"/>
            <a:ext cx="6514831" cy="256032"/>
          </a:xfrm>
          <a:prstGeom prst="roundRect">
            <a:avLst>
              <a:gd name="adj" fmla="val 17857"/>
            </a:avLst>
          </a:prstGeom>
          <a:solidFill>
            <a:srgbClr val="3D6FB8"/>
          </a:solidFill>
          <a:ln w="12700">
            <a:solidFill>
              <a:srgbClr val="3D6FB8"/>
            </a:solidFill>
            <a:prstDash val="solid"/>
          </a:ln>
        </p:spPr>
      </p:sp>
      <p:sp>
        <p:nvSpPr>
          <p:cNvPr id="27" name="Text 25"/>
          <p:cNvSpPr txBox="1"/>
          <p:nvPr/>
        </p:nvSpPr>
        <p:spPr>
          <a:xfrm>
            <a:off x="457200" y="2770632"/>
            <a:ext cx="3017520" cy="274320"/>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한전 전력판매량 (~2026.7)</a:t>
            </a:r>
            <a:endParaRPr lang="en-US" sz="1150" dirty="0"/>
          </a:p>
        </p:txBody>
      </p:sp>
      <p:sp>
        <p:nvSpPr>
          <p:cNvPr id="28" name="Shape 26"/>
          <p:cNvSpPr/>
          <p:nvPr/>
        </p:nvSpPr>
        <p:spPr>
          <a:xfrm>
            <a:off x="5905948" y="2788920"/>
            <a:ext cx="5578916" cy="256032"/>
          </a:xfrm>
          <a:prstGeom prst="roundRect">
            <a:avLst>
              <a:gd name="adj" fmla="val 17857"/>
            </a:avLst>
          </a:prstGeom>
          <a:solidFill>
            <a:srgbClr val="3D6FB8"/>
          </a:solidFill>
          <a:ln w="12700">
            <a:solidFill>
              <a:srgbClr val="3D6FB8"/>
            </a:solidFill>
            <a:prstDash val="solid"/>
          </a:ln>
        </p:spPr>
      </p:sp>
      <p:sp>
        <p:nvSpPr>
          <p:cNvPr id="29" name="Text 27"/>
          <p:cNvSpPr txBox="1"/>
          <p:nvPr/>
        </p:nvSpPr>
        <p:spPr>
          <a:xfrm>
            <a:off x="457200" y="3227832"/>
            <a:ext cx="3017520" cy="274320"/>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SGIS 인구·가구 (행정동)</a:t>
            </a:r>
            <a:endParaRPr lang="en-US" sz="1150" dirty="0"/>
          </a:p>
        </p:txBody>
      </p:sp>
      <p:sp>
        <p:nvSpPr>
          <p:cNvPr id="30" name="Shape 28"/>
          <p:cNvSpPr/>
          <p:nvPr/>
        </p:nvSpPr>
        <p:spPr>
          <a:xfrm>
            <a:off x="5905948" y="3246120"/>
            <a:ext cx="4643000" cy="256032"/>
          </a:xfrm>
          <a:prstGeom prst="roundRect">
            <a:avLst>
              <a:gd name="adj" fmla="val 17857"/>
            </a:avLst>
          </a:prstGeom>
          <a:solidFill>
            <a:srgbClr val="3D6FB8"/>
          </a:solidFill>
          <a:ln w="12700">
            <a:solidFill>
              <a:srgbClr val="3D6FB8"/>
            </a:solidFill>
            <a:prstDash val="solid"/>
          </a:ln>
        </p:spPr>
      </p:sp>
      <p:sp>
        <p:nvSpPr>
          <p:cNvPr id="31" name="Text 29"/>
          <p:cNvSpPr txBox="1"/>
          <p:nvPr/>
        </p:nvSpPr>
        <p:spPr>
          <a:xfrm>
            <a:off x="457200" y="3685032"/>
            <a:ext cx="3017520" cy="274320"/>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SGIS 500m 격자 인구</a:t>
            </a:r>
            <a:endParaRPr lang="en-US" sz="1150" dirty="0"/>
          </a:p>
        </p:txBody>
      </p:sp>
      <p:sp>
        <p:nvSpPr>
          <p:cNvPr id="32" name="Shape 30"/>
          <p:cNvSpPr/>
          <p:nvPr/>
        </p:nvSpPr>
        <p:spPr>
          <a:xfrm>
            <a:off x="3566160" y="3703320"/>
            <a:ext cx="431382" cy="256032"/>
          </a:xfrm>
          <a:prstGeom prst="roundRect">
            <a:avLst>
              <a:gd name="adj" fmla="val 17857"/>
            </a:avLst>
          </a:prstGeom>
          <a:solidFill>
            <a:srgbClr val="3D6FB8"/>
          </a:solidFill>
          <a:ln w="12700">
            <a:solidFill>
              <a:srgbClr val="3D6FB8"/>
            </a:solidFill>
            <a:prstDash val="solid"/>
          </a:ln>
        </p:spPr>
      </p:sp>
      <p:sp>
        <p:nvSpPr>
          <p:cNvPr id="33" name="Shape 31"/>
          <p:cNvSpPr/>
          <p:nvPr/>
        </p:nvSpPr>
        <p:spPr>
          <a:xfrm>
            <a:off x="5905948" y="3703320"/>
            <a:ext cx="4643000" cy="256032"/>
          </a:xfrm>
          <a:prstGeom prst="roundRect">
            <a:avLst>
              <a:gd name="adj" fmla="val 17857"/>
            </a:avLst>
          </a:prstGeom>
          <a:solidFill>
            <a:srgbClr val="3D6FB8"/>
          </a:solidFill>
          <a:ln w="12700">
            <a:solidFill>
              <a:srgbClr val="3D6FB8"/>
            </a:solidFill>
            <a:prstDash val="solid"/>
          </a:ln>
        </p:spPr>
      </p:sp>
      <p:sp>
        <p:nvSpPr>
          <p:cNvPr id="34" name="Text 32"/>
          <p:cNvSpPr txBox="1"/>
          <p:nvPr/>
        </p:nvSpPr>
        <p:spPr>
          <a:xfrm>
            <a:off x="10658677" y="3712464"/>
            <a:ext cx="1280160" cy="246888"/>
          </a:xfrm>
          <a:prstGeom prst="rect">
            <a:avLst/>
          </a:prstGeom>
          <a:noFill/>
          <a:ln/>
        </p:spPr>
        <p:txBody>
          <a:bodyPr wrap="square" lIns="0" tIns="0" rIns="0" bIns="0" rtlCol="0" anchor="ctr"/>
          <a:lstStyle/>
          <a:p>
            <a:pPr indent="0" marL="0">
              <a:buNone/>
            </a:pPr>
            <a:r>
              <a:rPr lang="en-US" sz="950" dirty="0">
                <a:solidFill>
                  <a:srgbClr val="6B746E"/>
                </a:solidFill>
                <a:latin typeface="Malgun Gothic" pitchFamily="34" charset="0"/>
                <a:ea typeface="Malgun Gothic" pitchFamily="34" charset="-122"/>
                <a:cs typeface="Malgun Gothic" pitchFamily="34" charset="-120"/>
              </a:rPr>
              <a:t>2000·2005도</a:t>
            </a:r>
            <a:endParaRPr lang="en-US" sz="950" dirty="0"/>
          </a:p>
        </p:txBody>
      </p:sp>
      <p:sp>
        <p:nvSpPr>
          <p:cNvPr id="35" name="Text 33"/>
          <p:cNvSpPr txBox="1"/>
          <p:nvPr/>
        </p:nvSpPr>
        <p:spPr>
          <a:xfrm>
            <a:off x="457200" y="4142232"/>
            <a:ext cx="3017520" cy="274320"/>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기상 (ASOS·ERA5-Land)</a:t>
            </a:r>
            <a:endParaRPr lang="en-US" sz="1150" dirty="0"/>
          </a:p>
        </p:txBody>
      </p:sp>
      <p:sp>
        <p:nvSpPr>
          <p:cNvPr id="36" name="Shape 34"/>
          <p:cNvSpPr/>
          <p:nvPr/>
        </p:nvSpPr>
        <p:spPr>
          <a:xfrm>
            <a:off x="5905948" y="4160520"/>
            <a:ext cx="5110958" cy="256032"/>
          </a:xfrm>
          <a:prstGeom prst="roundRect">
            <a:avLst>
              <a:gd name="adj" fmla="val 17857"/>
            </a:avLst>
          </a:prstGeom>
          <a:solidFill>
            <a:srgbClr val="1F7A55"/>
          </a:solidFill>
          <a:ln w="12700">
            <a:solidFill>
              <a:srgbClr val="1F7A55"/>
            </a:solidFill>
            <a:prstDash val="solid"/>
          </a:ln>
        </p:spPr>
      </p:sp>
      <p:sp>
        <p:nvSpPr>
          <p:cNvPr id="37" name="Text 35"/>
          <p:cNvSpPr txBox="1"/>
          <p:nvPr/>
        </p:nvSpPr>
        <p:spPr>
          <a:xfrm>
            <a:off x="457200" y="4599432"/>
            <a:ext cx="3017520" cy="274320"/>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국가 전력 배출계수</a:t>
            </a:r>
            <a:endParaRPr lang="en-US" sz="1150" dirty="0"/>
          </a:p>
        </p:txBody>
      </p:sp>
      <p:sp>
        <p:nvSpPr>
          <p:cNvPr id="38" name="Shape 36"/>
          <p:cNvSpPr/>
          <p:nvPr/>
        </p:nvSpPr>
        <p:spPr>
          <a:xfrm>
            <a:off x="7777779" y="4617720"/>
            <a:ext cx="3239128" cy="256032"/>
          </a:xfrm>
          <a:prstGeom prst="roundRect">
            <a:avLst>
              <a:gd name="adj" fmla="val 17857"/>
            </a:avLst>
          </a:prstGeom>
          <a:solidFill>
            <a:srgbClr val="1F7A55"/>
          </a:solidFill>
          <a:ln w="12700">
            <a:solidFill>
              <a:srgbClr val="1F7A55"/>
            </a:solidFill>
            <a:prstDash val="solid"/>
          </a:ln>
        </p:spPr>
      </p:sp>
      <p:sp>
        <p:nvSpPr>
          <p:cNvPr id="39" name="Text 37"/>
          <p:cNvSpPr txBox="1"/>
          <p:nvPr/>
        </p:nvSpPr>
        <p:spPr>
          <a:xfrm>
            <a:off x="6269019" y="4626864"/>
            <a:ext cx="1444752" cy="246888"/>
          </a:xfrm>
          <a:prstGeom prst="rect">
            <a:avLst/>
          </a:prstGeom>
          <a:noFill/>
          <a:ln/>
        </p:spPr>
        <p:txBody>
          <a:bodyPr wrap="square" lIns="0" tIns="0" rIns="0" bIns="0" rtlCol="0" anchor="ctr"/>
          <a:lstStyle/>
          <a:p>
            <a:pPr algn="r" indent="0" marL="0">
              <a:buNone/>
            </a:pPr>
            <a:r>
              <a:rPr lang="en-US" sz="950" dirty="0">
                <a:solidFill>
                  <a:srgbClr val="6B746E"/>
                </a:solidFill>
                <a:latin typeface="Malgun Gothic" pitchFamily="34" charset="0"/>
                <a:ea typeface="Malgun Gothic" pitchFamily="34" charset="-122"/>
                <a:cs typeface="Malgun Gothic" pitchFamily="34" charset="-120"/>
              </a:rPr>
              <a:t>2015~18 없음</a:t>
            </a:r>
            <a:endParaRPr lang="en-US" sz="950" dirty="0"/>
          </a:p>
        </p:txBody>
      </p:sp>
      <p:sp>
        <p:nvSpPr>
          <p:cNvPr id="40" name="Text 38"/>
          <p:cNvSpPr txBox="1"/>
          <p:nvPr/>
        </p:nvSpPr>
        <p:spPr>
          <a:xfrm>
            <a:off x="457200" y="5056632"/>
            <a:ext cx="3017520" cy="274320"/>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K-apt 관리비 에너지 (전주)</a:t>
            </a:r>
            <a:endParaRPr lang="en-US" sz="1150" dirty="0"/>
          </a:p>
        </p:txBody>
      </p:sp>
      <p:sp>
        <p:nvSpPr>
          <p:cNvPr id="41" name="Shape 39"/>
          <p:cNvSpPr/>
          <p:nvPr/>
        </p:nvSpPr>
        <p:spPr>
          <a:xfrm>
            <a:off x="9181652" y="5074920"/>
            <a:ext cx="1835255" cy="256032"/>
          </a:xfrm>
          <a:prstGeom prst="roundRect">
            <a:avLst>
              <a:gd name="adj" fmla="val 17857"/>
            </a:avLst>
          </a:prstGeom>
          <a:solidFill>
            <a:srgbClr val="D9913A"/>
          </a:solidFill>
          <a:ln w="12700">
            <a:solidFill>
              <a:srgbClr val="D9913A"/>
            </a:solidFill>
            <a:prstDash val="solid"/>
          </a:ln>
        </p:spPr>
      </p:sp>
      <p:sp>
        <p:nvSpPr>
          <p:cNvPr id="42" name="Shape 40"/>
          <p:cNvSpPr/>
          <p:nvPr/>
        </p:nvSpPr>
        <p:spPr>
          <a:xfrm>
            <a:off x="5905948" y="5074920"/>
            <a:ext cx="3239128" cy="256032"/>
          </a:xfrm>
          <a:prstGeom prst="roundRect">
            <a:avLst>
              <a:gd name="adj" fmla="val 17857"/>
            </a:avLst>
          </a:prstGeom>
          <a:solidFill>
            <a:srgbClr val="FFFFFF"/>
          </a:solidFill>
          <a:ln w="12700">
            <a:solidFill>
              <a:srgbClr val="D9913A"/>
            </a:solidFill>
            <a:prstDash val="dash"/>
          </a:ln>
        </p:spPr>
      </p:sp>
      <p:sp>
        <p:nvSpPr>
          <p:cNvPr id="43" name="Text 41"/>
          <p:cNvSpPr txBox="1"/>
          <p:nvPr/>
        </p:nvSpPr>
        <p:spPr>
          <a:xfrm>
            <a:off x="5905948" y="5084064"/>
            <a:ext cx="3275704" cy="246888"/>
          </a:xfrm>
          <a:prstGeom prst="rect">
            <a:avLst/>
          </a:prstGeom>
          <a:noFill/>
          <a:ln/>
        </p:spPr>
        <p:txBody>
          <a:bodyPr wrap="square" lIns="0" tIns="0" rIns="0" bIns="0" rtlCol="0" anchor="ctr"/>
          <a:lstStyle/>
          <a:p>
            <a:pPr algn="ctr" indent="0" marL="0">
              <a:buNone/>
            </a:pPr>
            <a:r>
              <a:rPr lang="en-US" sz="950" dirty="0">
                <a:solidFill>
                  <a:srgbClr val="B7792F"/>
                </a:solidFill>
                <a:latin typeface="Malgun Gothic" pitchFamily="34" charset="0"/>
                <a:ea typeface="Malgun Gothic" pitchFamily="34" charset="-122"/>
                <a:cs typeface="Malgun Gothic" pitchFamily="34" charset="-120"/>
              </a:rPr>
              <a:t>2015~21 수집 중</a:t>
            </a:r>
            <a:endParaRPr lang="en-US" sz="950" dirty="0"/>
          </a:p>
        </p:txBody>
      </p:sp>
      <p:sp>
        <p:nvSpPr>
          <p:cNvPr id="44" name="Text 42"/>
          <p:cNvSpPr txBox="1"/>
          <p:nvPr/>
        </p:nvSpPr>
        <p:spPr>
          <a:xfrm>
            <a:off x="457200" y="5513832"/>
            <a:ext cx="3017520" cy="274320"/>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건축HUB 건물에너지</a:t>
            </a:r>
            <a:endParaRPr lang="en-US" sz="1150" dirty="0"/>
          </a:p>
        </p:txBody>
      </p:sp>
      <p:sp>
        <p:nvSpPr>
          <p:cNvPr id="45" name="Shape 43"/>
          <p:cNvSpPr/>
          <p:nvPr/>
        </p:nvSpPr>
        <p:spPr>
          <a:xfrm>
            <a:off x="10117567" y="5532120"/>
            <a:ext cx="899339" cy="256032"/>
          </a:xfrm>
          <a:prstGeom prst="roundRect">
            <a:avLst>
              <a:gd name="adj" fmla="val 17857"/>
            </a:avLst>
          </a:prstGeom>
          <a:solidFill>
            <a:srgbClr val="D9913A"/>
          </a:solidFill>
          <a:ln w="12700">
            <a:solidFill>
              <a:srgbClr val="D9913A"/>
            </a:solidFill>
            <a:prstDash val="solid"/>
          </a:ln>
        </p:spPr>
      </p:sp>
      <p:sp>
        <p:nvSpPr>
          <p:cNvPr id="46" name="Text 44"/>
          <p:cNvSpPr txBox="1"/>
          <p:nvPr/>
        </p:nvSpPr>
        <p:spPr>
          <a:xfrm>
            <a:off x="8608807" y="5541264"/>
            <a:ext cx="1444752" cy="246888"/>
          </a:xfrm>
          <a:prstGeom prst="rect">
            <a:avLst/>
          </a:prstGeom>
          <a:noFill/>
          <a:ln/>
        </p:spPr>
        <p:txBody>
          <a:bodyPr wrap="square" lIns="0" tIns="0" rIns="0" bIns="0" rtlCol="0" anchor="ctr"/>
          <a:lstStyle/>
          <a:p>
            <a:pPr algn="r" indent="0" marL="0">
              <a:buNone/>
            </a:pPr>
            <a:r>
              <a:rPr lang="en-US" sz="950" dirty="0">
                <a:solidFill>
                  <a:srgbClr val="6B746E"/>
                </a:solidFill>
                <a:latin typeface="Malgun Gothic" pitchFamily="34" charset="0"/>
                <a:ea typeface="Malgun Gothic" pitchFamily="34" charset="-122"/>
                <a:cs typeface="Malgun Gothic" pitchFamily="34" charset="-120"/>
              </a:rPr>
              <a:t>제공기관 2024~</a:t>
            </a:r>
            <a:endParaRPr lang="en-US" sz="950" dirty="0"/>
          </a:p>
        </p:txBody>
      </p:sp>
      <p:sp>
        <p:nvSpPr>
          <p:cNvPr id="47" name="Shape 45"/>
          <p:cNvSpPr/>
          <p:nvPr/>
        </p:nvSpPr>
        <p:spPr>
          <a:xfrm>
            <a:off x="3566160" y="6144768"/>
            <a:ext cx="292608" cy="182880"/>
          </a:xfrm>
          <a:prstGeom prst="roundRect">
            <a:avLst>
              <a:gd name="adj" fmla="val 20000"/>
            </a:avLst>
          </a:prstGeom>
          <a:solidFill>
            <a:srgbClr val="3D6FB8"/>
          </a:solidFill>
          <a:ln w="12700">
            <a:solidFill>
              <a:srgbClr val="3D6FB8"/>
            </a:solidFill>
            <a:prstDash val="solid"/>
          </a:ln>
        </p:spPr>
      </p:sp>
      <p:sp>
        <p:nvSpPr>
          <p:cNvPr id="48" name="Text 46"/>
          <p:cNvSpPr txBox="1"/>
          <p:nvPr/>
        </p:nvSpPr>
        <p:spPr>
          <a:xfrm>
            <a:off x="3950208" y="6117336"/>
            <a:ext cx="1463040" cy="237744"/>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전국 공식 통계</a:t>
            </a:r>
            <a:endParaRPr lang="en-US" sz="1050" dirty="0"/>
          </a:p>
        </p:txBody>
      </p:sp>
      <p:sp>
        <p:nvSpPr>
          <p:cNvPr id="49" name="Shape 47"/>
          <p:cNvSpPr/>
          <p:nvPr/>
        </p:nvSpPr>
        <p:spPr>
          <a:xfrm>
            <a:off x="5486400" y="6144768"/>
            <a:ext cx="292608" cy="182880"/>
          </a:xfrm>
          <a:prstGeom prst="roundRect">
            <a:avLst>
              <a:gd name="adj" fmla="val 20000"/>
            </a:avLst>
          </a:prstGeom>
          <a:solidFill>
            <a:srgbClr val="1F7A55"/>
          </a:solidFill>
          <a:ln w="12700">
            <a:solidFill>
              <a:srgbClr val="1F7A55"/>
            </a:solidFill>
            <a:prstDash val="solid"/>
          </a:ln>
        </p:spPr>
      </p:sp>
      <p:sp>
        <p:nvSpPr>
          <p:cNvPr id="50" name="Text 48"/>
          <p:cNvSpPr txBox="1"/>
          <p:nvPr/>
        </p:nvSpPr>
        <p:spPr>
          <a:xfrm>
            <a:off x="5870448" y="6117336"/>
            <a:ext cx="1463040" cy="237744"/>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계산 기준</a:t>
            </a:r>
            <a:endParaRPr lang="en-US" sz="1050" dirty="0"/>
          </a:p>
        </p:txBody>
      </p:sp>
      <p:sp>
        <p:nvSpPr>
          <p:cNvPr id="51" name="Shape 49"/>
          <p:cNvSpPr/>
          <p:nvPr/>
        </p:nvSpPr>
        <p:spPr>
          <a:xfrm>
            <a:off x="7406640" y="6144768"/>
            <a:ext cx="292608" cy="182880"/>
          </a:xfrm>
          <a:prstGeom prst="roundRect">
            <a:avLst>
              <a:gd name="adj" fmla="val 20000"/>
            </a:avLst>
          </a:prstGeom>
          <a:solidFill>
            <a:srgbClr val="D9913A"/>
          </a:solidFill>
          <a:ln w="12700">
            <a:solidFill>
              <a:srgbClr val="D9913A"/>
            </a:solidFill>
            <a:prstDash val="solid"/>
          </a:ln>
        </p:spPr>
      </p:sp>
      <p:sp>
        <p:nvSpPr>
          <p:cNvPr id="52" name="Text 50"/>
          <p:cNvSpPr txBox="1"/>
          <p:nvPr/>
        </p:nvSpPr>
        <p:spPr>
          <a:xfrm>
            <a:off x="7790688" y="6117336"/>
            <a:ext cx="1463040" cy="237744"/>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지역 상세 관측</a:t>
            </a:r>
            <a:endParaRPr lang="en-US" sz="1050" dirty="0"/>
          </a:p>
        </p:txBody>
      </p:sp>
      <p:sp>
        <p:nvSpPr>
          <p:cNvPr id="53" name="Shape 51"/>
          <p:cNvSpPr/>
          <p:nvPr/>
        </p:nvSpPr>
        <p:spPr>
          <a:xfrm>
            <a:off x="9326880" y="6144768"/>
            <a:ext cx="292608" cy="182880"/>
          </a:xfrm>
          <a:prstGeom prst="roundRect">
            <a:avLst>
              <a:gd name="adj" fmla="val 20000"/>
            </a:avLst>
          </a:prstGeom>
          <a:solidFill>
            <a:srgbClr val="FFFFFF"/>
          </a:solidFill>
          <a:ln w="12700">
            <a:solidFill>
              <a:srgbClr val="D9913A"/>
            </a:solidFill>
            <a:prstDash val="dash"/>
          </a:ln>
        </p:spPr>
      </p:sp>
      <p:sp>
        <p:nvSpPr>
          <p:cNvPr id="54" name="Text 52"/>
          <p:cNvSpPr txBox="1"/>
          <p:nvPr/>
        </p:nvSpPr>
        <p:spPr>
          <a:xfrm>
            <a:off x="9710928" y="6117336"/>
            <a:ext cx="1463040" cy="237744"/>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수집 중</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7</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데이터 범위 ③</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지역마다 준비된 수준이 다르고, 할 수 있는 분석도 다릅니다</a:t>
            </a:r>
            <a:endParaRPr lang="en-US" sz="2500" dirty="0"/>
          </a:p>
        </p:txBody>
      </p:sp>
      <p:sp>
        <p:nvSpPr>
          <p:cNvPr id="5" name="Shape 3"/>
          <p:cNvSpPr/>
          <p:nvPr/>
        </p:nvSpPr>
        <p:spPr>
          <a:xfrm>
            <a:off x="457200" y="1371600"/>
            <a:ext cx="3611880" cy="3931920"/>
          </a:xfrm>
          <a:prstGeom prst="roundRect">
            <a:avLst>
              <a:gd name="adj" fmla="val 2025"/>
            </a:avLst>
          </a:prstGeom>
          <a:solidFill>
            <a:srgbClr val="F4F6F4"/>
          </a:solidFill>
          <a:ln w="9525">
            <a:solidFill>
              <a:srgbClr val="D9D7CE"/>
            </a:solidFill>
            <a:prstDash val="solid"/>
          </a:ln>
        </p:spPr>
      </p:sp>
      <p:sp>
        <p:nvSpPr>
          <p:cNvPr id="6" name="Shape 4"/>
          <p:cNvSpPr/>
          <p:nvPr/>
        </p:nvSpPr>
        <p:spPr>
          <a:xfrm>
            <a:off x="731520" y="1600200"/>
            <a:ext cx="1371600" cy="347472"/>
          </a:xfrm>
          <a:prstGeom prst="roundRect">
            <a:avLst>
              <a:gd name="adj" fmla="val 15789"/>
            </a:avLst>
          </a:prstGeom>
          <a:solidFill>
            <a:srgbClr val="3D6FB8"/>
          </a:solidFill>
          <a:ln w="12700">
            <a:solidFill>
              <a:srgbClr val="3D6FB8"/>
            </a:solidFill>
            <a:prstDash val="solid"/>
          </a:ln>
        </p:spPr>
      </p:sp>
      <p:sp>
        <p:nvSpPr>
          <p:cNvPr id="7" name="Text 5"/>
          <p:cNvSpPr txBox="1"/>
          <p:nvPr/>
        </p:nvSpPr>
        <p:spPr>
          <a:xfrm>
            <a:off x="731520" y="1600200"/>
            <a:ext cx="13716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전국 지표</a:t>
            </a:r>
            <a:endParaRPr lang="en-US" sz="1200" dirty="0"/>
          </a:p>
        </p:txBody>
      </p:sp>
      <p:sp>
        <p:nvSpPr>
          <p:cNvPr id="8" name="Text 6"/>
          <p:cNvSpPr txBox="1"/>
          <p:nvPr/>
        </p:nvSpPr>
        <p:spPr>
          <a:xfrm>
            <a:off x="731520" y="2103120"/>
            <a:ext cx="3108960" cy="365760"/>
          </a:xfrm>
          <a:prstGeom prst="rect">
            <a:avLst/>
          </a:prstGeom>
          <a:noFill/>
          <a:ln/>
        </p:spPr>
        <p:txBody>
          <a:bodyPr wrap="square" lIns="0" tIns="0" rIns="0" bIns="0" rtlCol="0" anchor="t"/>
          <a:lstStyle/>
          <a:p>
            <a:pPr indent="0" marL="0">
              <a:buNone/>
            </a:pPr>
            <a:r>
              <a:rPr lang="en-US" sz="1500" b="1" dirty="0">
                <a:solidFill>
                  <a:srgbClr val="1C2622"/>
                </a:solidFill>
                <a:latin typeface="Malgun Gothic" pitchFamily="34" charset="0"/>
                <a:ea typeface="Malgun Gothic" pitchFamily="34" charset="-122"/>
                <a:cs typeface="Malgun Gothic" pitchFamily="34" charset="-120"/>
              </a:rPr>
              <a:t>전국 229 시·군·구</a:t>
            </a:r>
            <a:endParaRPr lang="en-US" sz="1500" dirty="0"/>
          </a:p>
        </p:txBody>
      </p:sp>
      <p:sp>
        <p:nvSpPr>
          <p:cNvPr id="9" name="Text 7"/>
          <p:cNvSpPr txBox="1"/>
          <p:nvPr/>
        </p:nvSpPr>
        <p:spPr>
          <a:xfrm>
            <a:off x="731520" y="2697480"/>
            <a:ext cx="274320" cy="274320"/>
          </a:xfrm>
          <a:prstGeom prst="rect">
            <a:avLst/>
          </a:prstGeom>
          <a:noFill/>
          <a:ln/>
        </p:spPr>
        <p:txBody>
          <a:bodyPr wrap="square" lIns="0" tIns="0" rIns="0" bIns="0" rtlCol="0" anchor="t"/>
          <a:lstStyle/>
          <a:p>
            <a:pPr indent="0" marL="0">
              <a:buNone/>
            </a:pPr>
            <a:r>
              <a:rPr lang="en-US" sz="1200" b="1" dirty="0">
                <a:solidFill>
                  <a:srgbClr val="3D6FB8"/>
                </a:solidFill>
                <a:latin typeface="Malgun Gothic" pitchFamily="34" charset="0"/>
                <a:ea typeface="Malgun Gothic" pitchFamily="34" charset="-122"/>
                <a:cs typeface="Malgun Gothic" pitchFamily="34" charset="-120"/>
              </a:rPr>
              <a:t>✓</a:t>
            </a:r>
            <a:endParaRPr lang="en-US" sz="1200" dirty="0"/>
          </a:p>
        </p:txBody>
      </p:sp>
      <p:sp>
        <p:nvSpPr>
          <p:cNvPr id="10" name="Text 8"/>
          <p:cNvSpPr txBox="1"/>
          <p:nvPr/>
        </p:nvSpPr>
        <p:spPr>
          <a:xfrm>
            <a:off x="1024128" y="2697480"/>
            <a:ext cx="2880360" cy="502920"/>
          </a:xfrm>
          <a:prstGeom prst="rect">
            <a:avLst/>
          </a:prstGeom>
          <a:noFill/>
          <a:ln/>
        </p:spPr>
        <p:txBody>
          <a:bodyPr wrap="square" lIns="0" tIns="0" rIns="0" bIns="0" rtlCol="0" anchor="t"/>
          <a:lstStyle/>
          <a:p>
            <a:pPr indent="0" marL="0">
              <a:lnSpc>
                <a:spcPct val="105000"/>
              </a:lnSpc>
              <a:buNone/>
            </a:pPr>
            <a:r>
              <a:rPr lang="en-US" sz="1200" dirty="0">
                <a:solidFill>
                  <a:srgbClr val="1C2622"/>
                </a:solidFill>
                <a:latin typeface="Malgun Gothic" pitchFamily="34" charset="0"/>
                <a:ea typeface="Malgun Gothic" pitchFamily="34" charset="-122"/>
                <a:cs typeface="Malgun Gothic" pitchFamily="34" charset="-120"/>
              </a:rPr>
              <a:t>인구·가구·밀도, 500m 인구 증감</a:t>
            </a:r>
            <a:endParaRPr lang="en-US" sz="1200" dirty="0"/>
          </a:p>
        </p:txBody>
      </p:sp>
      <p:sp>
        <p:nvSpPr>
          <p:cNvPr id="11" name="Text 9"/>
          <p:cNvSpPr txBox="1"/>
          <p:nvPr/>
        </p:nvSpPr>
        <p:spPr>
          <a:xfrm>
            <a:off x="731520" y="3264408"/>
            <a:ext cx="274320" cy="274320"/>
          </a:xfrm>
          <a:prstGeom prst="rect">
            <a:avLst/>
          </a:prstGeom>
          <a:noFill/>
          <a:ln/>
        </p:spPr>
        <p:txBody>
          <a:bodyPr wrap="square" lIns="0" tIns="0" rIns="0" bIns="0" rtlCol="0" anchor="t"/>
          <a:lstStyle/>
          <a:p>
            <a:pPr indent="0" marL="0">
              <a:buNone/>
            </a:pPr>
            <a:r>
              <a:rPr lang="en-US" sz="1200" b="1" dirty="0">
                <a:solidFill>
                  <a:srgbClr val="3D6FB8"/>
                </a:solidFill>
                <a:latin typeface="Malgun Gothic" pitchFamily="34" charset="0"/>
                <a:ea typeface="Malgun Gothic" pitchFamily="34" charset="-122"/>
                <a:cs typeface="Malgun Gothic" pitchFamily="34" charset="-120"/>
              </a:rPr>
              <a:t>✓</a:t>
            </a:r>
            <a:endParaRPr lang="en-US" sz="1200" dirty="0"/>
          </a:p>
        </p:txBody>
      </p:sp>
      <p:sp>
        <p:nvSpPr>
          <p:cNvPr id="12" name="Text 10"/>
          <p:cNvSpPr txBox="1"/>
          <p:nvPr/>
        </p:nvSpPr>
        <p:spPr>
          <a:xfrm>
            <a:off x="1024128" y="3264408"/>
            <a:ext cx="2880360" cy="502920"/>
          </a:xfrm>
          <a:prstGeom prst="rect">
            <a:avLst/>
          </a:prstGeom>
          <a:noFill/>
          <a:ln/>
        </p:spPr>
        <p:txBody>
          <a:bodyPr wrap="square" lIns="0" tIns="0" rIns="0" bIns="0" rtlCol="0" anchor="t"/>
          <a:lstStyle/>
          <a:p>
            <a:pPr indent="0" marL="0">
              <a:lnSpc>
                <a:spcPct val="105000"/>
              </a:lnSpc>
              <a:buNone/>
            </a:pPr>
            <a:r>
              <a:rPr lang="en-US" sz="1200" dirty="0">
                <a:solidFill>
                  <a:srgbClr val="1C2622"/>
                </a:solidFill>
                <a:latin typeface="Malgun Gothic" pitchFamily="34" charset="0"/>
                <a:ea typeface="Malgun Gothic" pitchFamily="34" charset="-122"/>
                <a:cs typeface="Malgun Gothic" pitchFamily="34" charset="-120"/>
              </a:rPr>
              <a:t>한전 건물 전력·가구당 주택용 전력·증감</a:t>
            </a:r>
            <a:endParaRPr lang="en-US" sz="1200" dirty="0"/>
          </a:p>
        </p:txBody>
      </p:sp>
      <p:sp>
        <p:nvSpPr>
          <p:cNvPr id="13" name="Text 11"/>
          <p:cNvSpPr txBox="1"/>
          <p:nvPr/>
        </p:nvSpPr>
        <p:spPr>
          <a:xfrm>
            <a:off x="731520" y="3831336"/>
            <a:ext cx="274320" cy="274320"/>
          </a:xfrm>
          <a:prstGeom prst="rect">
            <a:avLst/>
          </a:prstGeom>
          <a:noFill/>
          <a:ln/>
        </p:spPr>
        <p:txBody>
          <a:bodyPr wrap="square" lIns="0" tIns="0" rIns="0" bIns="0" rtlCol="0" anchor="t"/>
          <a:lstStyle/>
          <a:p>
            <a:pPr indent="0" marL="0">
              <a:buNone/>
            </a:pPr>
            <a:r>
              <a:rPr lang="en-US" sz="1200" b="1" dirty="0">
                <a:solidFill>
                  <a:srgbClr val="3D6FB8"/>
                </a:solidFill>
                <a:latin typeface="Malgun Gothic" pitchFamily="34" charset="0"/>
                <a:ea typeface="Malgun Gothic" pitchFamily="34" charset="-122"/>
                <a:cs typeface="Malgun Gothic" pitchFamily="34" charset="-120"/>
              </a:rPr>
              <a:t>✓</a:t>
            </a:r>
            <a:endParaRPr lang="en-US" sz="1200" dirty="0"/>
          </a:p>
        </p:txBody>
      </p:sp>
      <p:sp>
        <p:nvSpPr>
          <p:cNvPr id="14" name="Text 12"/>
          <p:cNvSpPr txBox="1"/>
          <p:nvPr/>
        </p:nvSpPr>
        <p:spPr>
          <a:xfrm>
            <a:off x="1024128" y="3831336"/>
            <a:ext cx="2880360" cy="502920"/>
          </a:xfrm>
          <a:prstGeom prst="rect">
            <a:avLst/>
          </a:prstGeom>
          <a:noFill/>
          <a:ln/>
        </p:spPr>
        <p:txBody>
          <a:bodyPr wrap="square" lIns="0" tIns="0" rIns="0" bIns="0" rtlCol="0" anchor="t"/>
          <a:lstStyle/>
          <a:p>
            <a:pPr indent="0" marL="0">
              <a:lnSpc>
                <a:spcPct val="105000"/>
              </a:lnSpc>
              <a:buNone/>
            </a:pPr>
            <a:r>
              <a:rPr lang="en-US" sz="1200" dirty="0">
                <a:solidFill>
                  <a:srgbClr val="1C2622"/>
                </a:solidFill>
                <a:latin typeface="Malgun Gothic" pitchFamily="34" charset="0"/>
                <a:ea typeface="Malgun Gothic" pitchFamily="34" charset="-122"/>
                <a:cs typeface="Malgun Gothic" pitchFamily="34" charset="-120"/>
              </a:rPr>
              <a:t>온실가스 건물 등 배출·증감</a:t>
            </a:r>
            <a:endParaRPr lang="en-US" sz="1200" dirty="0"/>
          </a:p>
        </p:txBody>
      </p:sp>
      <p:sp>
        <p:nvSpPr>
          <p:cNvPr id="15" name="Text 13"/>
          <p:cNvSpPr txBox="1"/>
          <p:nvPr/>
        </p:nvSpPr>
        <p:spPr>
          <a:xfrm>
            <a:off x="731520" y="4398264"/>
            <a:ext cx="274320" cy="274320"/>
          </a:xfrm>
          <a:prstGeom prst="rect">
            <a:avLst/>
          </a:prstGeom>
          <a:noFill/>
          <a:ln/>
        </p:spPr>
        <p:txBody>
          <a:bodyPr wrap="square" lIns="0" tIns="0" rIns="0" bIns="0" rtlCol="0" anchor="t"/>
          <a:lstStyle/>
          <a:p>
            <a:pPr indent="0" marL="0">
              <a:buNone/>
            </a:pPr>
            <a:r>
              <a:rPr lang="en-US" sz="1200" b="1" dirty="0">
                <a:solidFill>
                  <a:srgbClr val="3D6FB8"/>
                </a:solidFill>
                <a:latin typeface="Malgun Gothic" pitchFamily="34" charset="0"/>
                <a:ea typeface="Malgun Gothic" pitchFamily="34" charset="-122"/>
                <a:cs typeface="Malgun Gothic" pitchFamily="34" charset="-120"/>
              </a:rPr>
              <a:t>✓</a:t>
            </a:r>
            <a:endParaRPr lang="en-US" sz="1200" dirty="0"/>
          </a:p>
        </p:txBody>
      </p:sp>
      <p:sp>
        <p:nvSpPr>
          <p:cNvPr id="16" name="Text 14"/>
          <p:cNvSpPr txBox="1"/>
          <p:nvPr/>
        </p:nvSpPr>
        <p:spPr>
          <a:xfrm>
            <a:off x="1024128" y="4398264"/>
            <a:ext cx="2880360" cy="502920"/>
          </a:xfrm>
          <a:prstGeom prst="rect">
            <a:avLst/>
          </a:prstGeom>
          <a:noFill/>
          <a:ln/>
        </p:spPr>
        <p:txBody>
          <a:bodyPr wrap="square" lIns="0" tIns="0" rIns="0" bIns="0" rtlCol="0" anchor="t"/>
          <a:lstStyle/>
          <a:p>
            <a:pPr indent="0" marL="0">
              <a:lnSpc>
                <a:spcPct val="105000"/>
              </a:lnSpc>
              <a:buNone/>
            </a:pPr>
            <a:r>
              <a:rPr lang="en-US" sz="1200" dirty="0">
                <a:solidFill>
                  <a:srgbClr val="1C2622"/>
                </a:solidFill>
                <a:latin typeface="Malgun Gothic" pitchFamily="34" charset="0"/>
                <a:ea typeface="Malgun Gothic" pitchFamily="34" charset="-122"/>
                <a:cs typeface="Malgun Gothic" pitchFamily="34" charset="-120"/>
              </a:rPr>
              <a:t>단지 분포, 조례 건폐율·용적률 상한</a:t>
            </a:r>
            <a:endParaRPr lang="en-US" sz="1200" dirty="0"/>
          </a:p>
        </p:txBody>
      </p:sp>
      <p:sp>
        <p:nvSpPr>
          <p:cNvPr id="17" name="Shape 15"/>
          <p:cNvSpPr/>
          <p:nvPr/>
        </p:nvSpPr>
        <p:spPr>
          <a:xfrm>
            <a:off x="4279392" y="1371600"/>
            <a:ext cx="3611880" cy="3931920"/>
          </a:xfrm>
          <a:prstGeom prst="roundRect">
            <a:avLst>
              <a:gd name="adj" fmla="val 2025"/>
            </a:avLst>
          </a:prstGeom>
          <a:solidFill>
            <a:srgbClr val="F4F6F4"/>
          </a:solidFill>
          <a:ln w="9525">
            <a:solidFill>
              <a:srgbClr val="D9D7CE"/>
            </a:solidFill>
            <a:prstDash val="solid"/>
          </a:ln>
        </p:spPr>
      </p:sp>
      <p:sp>
        <p:nvSpPr>
          <p:cNvPr id="18" name="Shape 16"/>
          <p:cNvSpPr/>
          <p:nvPr/>
        </p:nvSpPr>
        <p:spPr>
          <a:xfrm>
            <a:off x="4553712" y="1600200"/>
            <a:ext cx="1371600" cy="347472"/>
          </a:xfrm>
          <a:prstGeom prst="roundRect">
            <a:avLst>
              <a:gd name="adj" fmla="val 15789"/>
            </a:avLst>
          </a:prstGeom>
          <a:solidFill>
            <a:srgbClr val="2F5D50"/>
          </a:solidFill>
          <a:ln w="12700">
            <a:solidFill>
              <a:srgbClr val="2F5D50"/>
            </a:solidFill>
            <a:prstDash val="solid"/>
          </a:ln>
        </p:spPr>
      </p:sp>
      <p:sp>
        <p:nvSpPr>
          <p:cNvPr id="19" name="Text 17"/>
          <p:cNvSpPr txBox="1"/>
          <p:nvPr/>
        </p:nvSpPr>
        <p:spPr>
          <a:xfrm>
            <a:off x="4553712" y="1600200"/>
            <a:ext cx="13716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기본 지도</a:t>
            </a:r>
            <a:endParaRPr lang="en-US" sz="1200" dirty="0"/>
          </a:p>
        </p:txBody>
      </p:sp>
      <p:sp>
        <p:nvSpPr>
          <p:cNvPr id="20" name="Text 18"/>
          <p:cNvSpPr txBox="1"/>
          <p:nvPr/>
        </p:nvSpPr>
        <p:spPr>
          <a:xfrm>
            <a:off x="4553712" y="2103120"/>
            <a:ext cx="3108960" cy="365760"/>
          </a:xfrm>
          <a:prstGeom prst="rect">
            <a:avLst/>
          </a:prstGeom>
          <a:noFill/>
          <a:ln/>
        </p:spPr>
        <p:txBody>
          <a:bodyPr wrap="square" lIns="0" tIns="0" rIns="0" bIns="0" rtlCol="0" anchor="t"/>
          <a:lstStyle/>
          <a:p>
            <a:pPr indent="0" marL="0">
              <a:buNone/>
            </a:pPr>
            <a:r>
              <a:rPr lang="en-US" sz="1500" b="1" dirty="0">
                <a:solidFill>
                  <a:srgbClr val="1C2622"/>
                </a:solidFill>
                <a:latin typeface="Malgun Gothic" pitchFamily="34" charset="0"/>
                <a:ea typeface="Malgun Gothic" pitchFamily="34" charset="-122"/>
                <a:cs typeface="Malgun Gothic" pitchFamily="34" charset="-120"/>
              </a:rPr>
              <a:t>어느 시·군·구든 (수 초)</a:t>
            </a:r>
            <a:endParaRPr lang="en-US" sz="1500" dirty="0"/>
          </a:p>
        </p:txBody>
      </p:sp>
      <p:sp>
        <p:nvSpPr>
          <p:cNvPr id="21" name="Text 19"/>
          <p:cNvSpPr txBox="1"/>
          <p:nvPr/>
        </p:nvSpPr>
        <p:spPr>
          <a:xfrm>
            <a:off x="4553712" y="2697480"/>
            <a:ext cx="2743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a:t>
            </a:r>
            <a:endParaRPr lang="en-US" sz="1200" dirty="0"/>
          </a:p>
        </p:txBody>
      </p:sp>
      <p:sp>
        <p:nvSpPr>
          <p:cNvPr id="22" name="Text 20"/>
          <p:cNvSpPr txBox="1"/>
          <p:nvPr/>
        </p:nvSpPr>
        <p:spPr>
          <a:xfrm>
            <a:off x="4846320" y="2697480"/>
            <a:ext cx="2880360" cy="502920"/>
          </a:xfrm>
          <a:prstGeom prst="rect">
            <a:avLst/>
          </a:prstGeom>
          <a:noFill/>
          <a:ln/>
        </p:spPr>
        <p:txBody>
          <a:bodyPr wrap="square" lIns="0" tIns="0" rIns="0" bIns="0" rtlCol="0" anchor="t"/>
          <a:lstStyle/>
          <a:p>
            <a:pPr indent="0" marL="0">
              <a:lnSpc>
                <a:spcPct val="105000"/>
              </a:lnSpc>
              <a:buNone/>
            </a:pPr>
            <a:r>
              <a:rPr lang="en-US" sz="1200" dirty="0">
                <a:solidFill>
                  <a:srgbClr val="1C2622"/>
                </a:solidFill>
                <a:latin typeface="Malgun Gothic" pitchFamily="34" charset="0"/>
                <a:ea typeface="Malgun Gothic" pitchFamily="34" charset="-122"/>
                <a:cs typeface="Malgun Gothic" pitchFamily="34" charset="-120"/>
              </a:rPr>
              <a:t>500m 격자·읍면동 지도 만들기</a:t>
            </a:r>
            <a:endParaRPr lang="en-US" sz="1200" dirty="0"/>
          </a:p>
        </p:txBody>
      </p:sp>
      <p:sp>
        <p:nvSpPr>
          <p:cNvPr id="23" name="Text 21"/>
          <p:cNvSpPr txBox="1"/>
          <p:nvPr/>
        </p:nvSpPr>
        <p:spPr>
          <a:xfrm>
            <a:off x="4553712" y="3264408"/>
            <a:ext cx="2743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a:t>
            </a:r>
            <a:endParaRPr lang="en-US" sz="1200" dirty="0"/>
          </a:p>
        </p:txBody>
      </p:sp>
      <p:sp>
        <p:nvSpPr>
          <p:cNvPr id="24" name="Text 22"/>
          <p:cNvSpPr txBox="1"/>
          <p:nvPr/>
        </p:nvSpPr>
        <p:spPr>
          <a:xfrm>
            <a:off x="4846320" y="3264408"/>
            <a:ext cx="2880360" cy="502920"/>
          </a:xfrm>
          <a:prstGeom prst="rect">
            <a:avLst/>
          </a:prstGeom>
          <a:noFill/>
          <a:ln/>
        </p:spPr>
        <p:txBody>
          <a:bodyPr wrap="square" lIns="0" tIns="0" rIns="0" bIns="0" rtlCol="0" anchor="t"/>
          <a:lstStyle/>
          <a:p>
            <a:pPr indent="0" marL="0">
              <a:lnSpc>
                <a:spcPct val="105000"/>
              </a:lnSpc>
              <a:buNone/>
            </a:pPr>
            <a:r>
              <a:rPr lang="en-US" sz="1200" dirty="0">
                <a:solidFill>
                  <a:srgbClr val="1C2622"/>
                </a:solidFill>
                <a:latin typeface="Malgun Gothic" pitchFamily="34" charset="0"/>
                <a:ea typeface="Malgun Gothic" pitchFamily="34" charset="-122"/>
                <a:cs typeface="Malgun Gothic" pitchFamily="34" charset="-120"/>
              </a:rPr>
              <a:t>SGIS 500m·1km 격자 지표</a:t>
            </a:r>
            <a:endParaRPr lang="en-US" sz="1200" dirty="0"/>
          </a:p>
        </p:txBody>
      </p:sp>
      <p:sp>
        <p:nvSpPr>
          <p:cNvPr id="25" name="Text 23"/>
          <p:cNvSpPr txBox="1"/>
          <p:nvPr/>
        </p:nvSpPr>
        <p:spPr>
          <a:xfrm>
            <a:off x="4553712" y="3831336"/>
            <a:ext cx="2743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a:t>
            </a:r>
            <a:endParaRPr lang="en-US" sz="1200" dirty="0"/>
          </a:p>
        </p:txBody>
      </p:sp>
      <p:sp>
        <p:nvSpPr>
          <p:cNvPr id="26" name="Text 24"/>
          <p:cNvSpPr txBox="1"/>
          <p:nvPr/>
        </p:nvSpPr>
        <p:spPr>
          <a:xfrm>
            <a:off x="4846320" y="3831336"/>
            <a:ext cx="2880360" cy="502920"/>
          </a:xfrm>
          <a:prstGeom prst="rect">
            <a:avLst/>
          </a:prstGeom>
          <a:noFill/>
          <a:ln/>
        </p:spPr>
        <p:txBody>
          <a:bodyPr wrap="square" lIns="0" tIns="0" rIns="0" bIns="0" rtlCol="0" anchor="t"/>
          <a:lstStyle/>
          <a:p>
            <a:pPr indent="0" marL="0">
              <a:lnSpc>
                <a:spcPct val="105000"/>
              </a:lnSpc>
              <a:buNone/>
            </a:pPr>
            <a:r>
              <a:rPr lang="en-US" sz="1200" dirty="0">
                <a:solidFill>
                  <a:srgbClr val="1C2622"/>
                </a:solidFill>
                <a:latin typeface="Malgun Gothic" pitchFamily="34" charset="0"/>
                <a:ea typeface="Malgun Gothic" pitchFamily="34" charset="-122"/>
                <a:cs typeface="Malgun Gothic" pitchFamily="34" charset="-120"/>
              </a:rPr>
              <a:t>공동주택 단지, 연령·노후 주택</a:t>
            </a:r>
            <a:endParaRPr lang="en-US" sz="1200" dirty="0"/>
          </a:p>
        </p:txBody>
      </p:sp>
      <p:sp>
        <p:nvSpPr>
          <p:cNvPr id="27" name="Text 25"/>
          <p:cNvSpPr txBox="1"/>
          <p:nvPr/>
        </p:nvSpPr>
        <p:spPr>
          <a:xfrm>
            <a:off x="4553712" y="4398264"/>
            <a:ext cx="2743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a:t>
            </a:r>
            <a:endParaRPr lang="en-US" sz="1200" dirty="0"/>
          </a:p>
        </p:txBody>
      </p:sp>
      <p:sp>
        <p:nvSpPr>
          <p:cNvPr id="28" name="Text 26"/>
          <p:cNvSpPr txBox="1"/>
          <p:nvPr/>
        </p:nvSpPr>
        <p:spPr>
          <a:xfrm>
            <a:off x="4846320" y="4398264"/>
            <a:ext cx="2880360" cy="502920"/>
          </a:xfrm>
          <a:prstGeom prst="rect">
            <a:avLst/>
          </a:prstGeom>
          <a:noFill/>
          <a:ln/>
        </p:spPr>
        <p:txBody>
          <a:bodyPr wrap="square" lIns="0" tIns="0" rIns="0" bIns="0" rtlCol="0" anchor="t"/>
          <a:lstStyle/>
          <a:p>
            <a:pPr indent="0" marL="0">
              <a:lnSpc>
                <a:spcPct val="105000"/>
              </a:lnSpc>
              <a:buNone/>
            </a:pPr>
            <a:r>
              <a:rPr lang="en-US" sz="1200" dirty="0">
                <a:solidFill>
                  <a:srgbClr val="1C2622"/>
                </a:solidFill>
                <a:latin typeface="Malgun Gothic" pitchFamily="34" charset="0"/>
                <a:ea typeface="Malgun Gothic" pitchFamily="34" charset="-122"/>
                <a:cs typeface="Malgun Gothic" pitchFamily="34" charset="-120"/>
              </a:rPr>
              <a:t>예: 세종·가평·군산</a:t>
            </a:r>
            <a:endParaRPr lang="en-US" sz="1200" dirty="0"/>
          </a:p>
        </p:txBody>
      </p:sp>
      <p:sp>
        <p:nvSpPr>
          <p:cNvPr id="29" name="Shape 27"/>
          <p:cNvSpPr/>
          <p:nvPr/>
        </p:nvSpPr>
        <p:spPr>
          <a:xfrm>
            <a:off x="8101584" y="1371600"/>
            <a:ext cx="3611880" cy="3931920"/>
          </a:xfrm>
          <a:prstGeom prst="roundRect">
            <a:avLst>
              <a:gd name="adj" fmla="val 2025"/>
            </a:avLst>
          </a:prstGeom>
          <a:solidFill>
            <a:srgbClr val="F4F6F4"/>
          </a:solidFill>
          <a:ln w="9525">
            <a:solidFill>
              <a:srgbClr val="D9D7CE"/>
            </a:solidFill>
            <a:prstDash val="solid"/>
          </a:ln>
        </p:spPr>
      </p:sp>
      <p:sp>
        <p:nvSpPr>
          <p:cNvPr id="30" name="Shape 28"/>
          <p:cNvSpPr/>
          <p:nvPr/>
        </p:nvSpPr>
        <p:spPr>
          <a:xfrm>
            <a:off x="8375904" y="1600200"/>
            <a:ext cx="1371600" cy="347472"/>
          </a:xfrm>
          <a:prstGeom prst="roundRect">
            <a:avLst>
              <a:gd name="adj" fmla="val 15789"/>
            </a:avLst>
          </a:prstGeom>
          <a:solidFill>
            <a:srgbClr val="B7792F"/>
          </a:solidFill>
          <a:ln w="12700">
            <a:solidFill>
              <a:srgbClr val="B7792F"/>
            </a:solidFill>
            <a:prstDash val="solid"/>
          </a:ln>
        </p:spPr>
      </p:sp>
      <p:sp>
        <p:nvSpPr>
          <p:cNvPr id="31" name="Text 29"/>
          <p:cNvSpPr txBox="1"/>
          <p:nvPr/>
        </p:nvSpPr>
        <p:spPr>
          <a:xfrm>
            <a:off x="8375904" y="1600200"/>
            <a:ext cx="13716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상세 자료</a:t>
            </a:r>
            <a:endParaRPr lang="en-US" sz="1200" dirty="0"/>
          </a:p>
        </p:txBody>
      </p:sp>
      <p:sp>
        <p:nvSpPr>
          <p:cNvPr id="32" name="Text 30"/>
          <p:cNvSpPr txBox="1"/>
          <p:nvPr/>
        </p:nvSpPr>
        <p:spPr>
          <a:xfrm>
            <a:off x="8375904" y="2103120"/>
            <a:ext cx="3108960" cy="365760"/>
          </a:xfrm>
          <a:prstGeom prst="rect">
            <a:avLst/>
          </a:prstGeom>
          <a:noFill/>
          <a:ln/>
        </p:spPr>
        <p:txBody>
          <a:bodyPr wrap="square" lIns="0" tIns="0" rIns="0" bIns="0" rtlCol="0" anchor="t"/>
          <a:lstStyle/>
          <a:p>
            <a:pPr indent="0" marL="0">
              <a:buNone/>
            </a:pPr>
            <a:r>
              <a:rPr lang="en-US" sz="1500" b="1" dirty="0">
                <a:solidFill>
                  <a:srgbClr val="1C2622"/>
                </a:solidFill>
                <a:latin typeface="Malgun Gothic" pitchFamily="34" charset="0"/>
                <a:ea typeface="Malgun Gothic" pitchFamily="34" charset="-122"/>
                <a:cs typeface="Malgun Gothic" pitchFamily="34" charset="-120"/>
              </a:rPr>
              <a:t>전주 · 수원 (완주 수집 중)</a:t>
            </a:r>
            <a:endParaRPr lang="en-US" sz="1500" dirty="0"/>
          </a:p>
        </p:txBody>
      </p:sp>
      <p:sp>
        <p:nvSpPr>
          <p:cNvPr id="33" name="Text 31"/>
          <p:cNvSpPr txBox="1"/>
          <p:nvPr/>
        </p:nvSpPr>
        <p:spPr>
          <a:xfrm>
            <a:off x="8375904" y="2697480"/>
            <a:ext cx="274320" cy="274320"/>
          </a:xfrm>
          <a:prstGeom prst="rect">
            <a:avLst/>
          </a:prstGeom>
          <a:noFill/>
          <a:ln/>
        </p:spPr>
        <p:txBody>
          <a:bodyPr wrap="square" lIns="0" tIns="0" rIns="0" bIns="0" rtlCol="0" anchor="t"/>
          <a:lstStyle/>
          <a:p>
            <a:pPr indent="0" marL="0">
              <a:buNone/>
            </a:pPr>
            <a:r>
              <a:rPr lang="en-US" sz="1200" b="1" dirty="0">
                <a:solidFill>
                  <a:srgbClr val="B7792F"/>
                </a:solidFill>
                <a:latin typeface="Malgun Gothic" pitchFamily="34" charset="0"/>
                <a:ea typeface="Malgun Gothic" pitchFamily="34" charset="-122"/>
                <a:cs typeface="Malgun Gothic" pitchFamily="34" charset="-120"/>
              </a:rPr>
              <a:t>✓</a:t>
            </a:r>
            <a:endParaRPr lang="en-US" sz="1200" dirty="0"/>
          </a:p>
        </p:txBody>
      </p:sp>
      <p:sp>
        <p:nvSpPr>
          <p:cNvPr id="34" name="Text 32"/>
          <p:cNvSpPr txBox="1"/>
          <p:nvPr/>
        </p:nvSpPr>
        <p:spPr>
          <a:xfrm>
            <a:off x="8668512" y="2697480"/>
            <a:ext cx="2880360" cy="502920"/>
          </a:xfrm>
          <a:prstGeom prst="rect">
            <a:avLst/>
          </a:prstGeom>
          <a:noFill/>
          <a:ln/>
        </p:spPr>
        <p:txBody>
          <a:bodyPr wrap="square" lIns="0" tIns="0" rIns="0" bIns="0" rtlCol="0" anchor="t"/>
          <a:lstStyle/>
          <a:p>
            <a:pPr indent="0" marL="0">
              <a:lnSpc>
                <a:spcPct val="105000"/>
              </a:lnSpc>
              <a:buNone/>
            </a:pPr>
            <a:r>
              <a:rPr lang="en-US" sz="1200" dirty="0">
                <a:solidFill>
                  <a:srgbClr val="1C2622"/>
                </a:solidFill>
                <a:latin typeface="Malgun Gothic" pitchFamily="34" charset="0"/>
                <a:ea typeface="Malgun Gothic" pitchFamily="34" charset="-122"/>
                <a:cs typeface="Malgun Gothic" pitchFamily="34" charset="-120"/>
              </a:rPr>
              <a:t>건물 계량 에너지·원단위·격자 탄소</a:t>
            </a:r>
            <a:endParaRPr lang="en-US" sz="1200" dirty="0"/>
          </a:p>
        </p:txBody>
      </p:sp>
      <p:sp>
        <p:nvSpPr>
          <p:cNvPr id="35" name="Text 33"/>
          <p:cNvSpPr txBox="1"/>
          <p:nvPr/>
        </p:nvSpPr>
        <p:spPr>
          <a:xfrm>
            <a:off x="8375904" y="3264408"/>
            <a:ext cx="274320" cy="274320"/>
          </a:xfrm>
          <a:prstGeom prst="rect">
            <a:avLst/>
          </a:prstGeom>
          <a:noFill/>
          <a:ln/>
        </p:spPr>
        <p:txBody>
          <a:bodyPr wrap="square" lIns="0" tIns="0" rIns="0" bIns="0" rtlCol="0" anchor="t"/>
          <a:lstStyle/>
          <a:p>
            <a:pPr indent="0" marL="0">
              <a:buNone/>
            </a:pPr>
            <a:r>
              <a:rPr lang="en-US" sz="1200" b="1" dirty="0">
                <a:solidFill>
                  <a:srgbClr val="B7792F"/>
                </a:solidFill>
                <a:latin typeface="Malgun Gothic" pitchFamily="34" charset="0"/>
                <a:ea typeface="Malgun Gothic" pitchFamily="34" charset="-122"/>
                <a:cs typeface="Malgun Gothic" pitchFamily="34" charset="-120"/>
              </a:rPr>
              <a:t>✓</a:t>
            </a:r>
            <a:endParaRPr lang="en-US" sz="1200" dirty="0"/>
          </a:p>
        </p:txBody>
      </p:sp>
      <p:sp>
        <p:nvSpPr>
          <p:cNvPr id="36" name="Text 34"/>
          <p:cNvSpPr txBox="1"/>
          <p:nvPr/>
        </p:nvSpPr>
        <p:spPr>
          <a:xfrm>
            <a:off x="8668512" y="3264408"/>
            <a:ext cx="2880360" cy="502920"/>
          </a:xfrm>
          <a:prstGeom prst="rect">
            <a:avLst/>
          </a:prstGeom>
          <a:noFill/>
          <a:ln/>
        </p:spPr>
        <p:txBody>
          <a:bodyPr wrap="square" lIns="0" tIns="0" rIns="0" bIns="0" rtlCol="0" anchor="t"/>
          <a:lstStyle/>
          <a:p>
            <a:pPr indent="0" marL="0">
              <a:lnSpc>
                <a:spcPct val="105000"/>
              </a:lnSpc>
              <a:buNone/>
            </a:pPr>
            <a:r>
              <a:rPr lang="en-US" sz="1200" dirty="0">
                <a:solidFill>
                  <a:srgbClr val="1C2622"/>
                </a:solidFill>
                <a:latin typeface="Malgun Gothic" pitchFamily="34" charset="0"/>
                <a:ea typeface="Malgun Gothic" pitchFamily="34" charset="-122"/>
                <a:cs typeface="Malgun Gothic" pitchFamily="34" charset="-120"/>
              </a:rPr>
              <a:t>건축물대장 용적률·노후 연면적</a:t>
            </a:r>
            <a:endParaRPr lang="en-US" sz="1200" dirty="0"/>
          </a:p>
        </p:txBody>
      </p:sp>
      <p:sp>
        <p:nvSpPr>
          <p:cNvPr id="37" name="Text 35"/>
          <p:cNvSpPr txBox="1"/>
          <p:nvPr/>
        </p:nvSpPr>
        <p:spPr>
          <a:xfrm>
            <a:off x="8375904" y="3831336"/>
            <a:ext cx="274320" cy="274320"/>
          </a:xfrm>
          <a:prstGeom prst="rect">
            <a:avLst/>
          </a:prstGeom>
          <a:noFill/>
          <a:ln/>
        </p:spPr>
        <p:txBody>
          <a:bodyPr wrap="square" lIns="0" tIns="0" rIns="0" bIns="0" rtlCol="0" anchor="t"/>
          <a:lstStyle/>
          <a:p>
            <a:pPr indent="0" marL="0">
              <a:buNone/>
            </a:pPr>
            <a:r>
              <a:rPr lang="en-US" sz="1200" b="1" dirty="0">
                <a:solidFill>
                  <a:srgbClr val="B7792F"/>
                </a:solidFill>
                <a:latin typeface="Malgun Gothic" pitchFamily="34" charset="0"/>
                <a:ea typeface="Malgun Gothic" pitchFamily="34" charset="-122"/>
                <a:cs typeface="Malgun Gothic" pitchFamily="34" charset="-120"/>
              </a:rPr>
              <a:t>✓</a:t>
            </a:r>
            <a:endParaRPr lang="en-US" sz="1200" dirty="0"/>
          </a:p>
        </p:txBody>
      </p:sp>
      <p:sp>
        <p:nvSpPr>
          <p:cNvPr id="38" name="Text 36"/>
          <p:cNvSpPr txBox="1"/>
          <p:nvPr/>
        </p:nvSpPr>
        <p:spPr>
          <a:xfrm>
            <a:off x="8668512" y="3831336"/>
            <a:ext cx="2880360" cy="502920"/>
          </a:xfrm>
          <a:prstGeom prst="rect">
            <a:avLst/>
          </a:prstGeom>
          <a:noFill/>
          <a:ln/>
        </p:spPr>
        <p:txBody>
          <a:bodyPr wrap="square" lIns="0" tIns="0" rIns="0" bIns="0" rtlCol="0" anchor="t"/>
          <a:lstStyle/>
          <a:p>
            <a:pPr indent="0" marL="0">
              <a:lnSpc>
                <a:spcPct val="105000"/>
              </a:lnSpc>
              <a:buNone/>
            </a:pPr>
            <a:r>
              <a:rPr lang="en-US" sz="1200" dirty="0">
                <a:solidFill>
                  <a:srgbClr val="1C2622"/>
                </a:solidFill>
                <a:latin typeface="Malgun Gothic" pitchFamily="34" charset="0"/>
                <a:ea typeface="Malgun Gothic" pitchFamily="34" charset="-122"/>
                <a:cs typeface="Malgun Gothic" pitchFamily="34" charset="-120"/>
              </a:rPr>
              <a:t>계획안 시뮬레이션·지역 시뮬레이션</a:t>
            </a:r>
            <a:endParaRPr lang="en-US" sz="1200" dirty="0"/>
          </a:p>
        </p:txBody>
      </p:sp>
      <p:sp>
        <p:nvSpPr>
          <p:cNvPr id="39" name="Text 37"/>
          <p:cNvSpPr txBox="1"/>
          <p:nvPr/>
        </p:nvSpPr>
        <p:spPr>
          <a:xfrm>
            <a:off x="8375904" y="4398264"/>
            <a:ext cx="274320" cy="274320"/>
          </a:xfrm>
          <a:prstGeom prst="rect">
            <a:avLst/>
          </a:prstGeom>
          <a:noFill/>
          <a:ln/>
        </p:spPr>
        <p:txBody>
          <a:bodyPr wrap="square" lIns="0" tIns="0" rIns="0" bIns="0" rtlCol="0" anchor="t"/>
          <a:lstStyle/>
          <a:p>
            <a:pPr indent="0" marL="0">
              <a:buNone/>
            </a:pPr>
            <a:r>
              <a:rPr lang="en-US" sz="1200" b="1" dirty="0">
                <a:solidFill>
                  <a:srgbClr val="B7792F"/>
                </a:solidFill>
                <a:latin typeface="Malgun Gothic" pitchFamily="34" charset="0"/>
                <a:ea typeface="Malgun Gothic" pitchFamily="34" charset="-122"/>
                <a:cs typeface="Malgun Gothic" pitchFamily="34" charset="-120"/>
              </a:rPr>
              <a:t>✓</a:t>
            </a:r>
            <a:endParaRPr lang="en-US" sz="1200" dirty="0"/>
          </a:p>
        </p:txBody>
      </p:sp>
      <p:sp>
        <p:nvSpPr>
          <p:cNvPr id="40" name="Text 38"/>
          <p:cNvSpPr txBox="1"/>
          <p:nvPr/>
        </p:nvSpPr>
        <p:spPr>
          <a:xfrm>
            <a:off x="8668512" y="4398264"/>
            <a:ext cx="2880360" cy="502920"/>
          </a:xfrm>
          <a:prstGeom prst="rect">
            <a:avLst/>
          </a:prstGeom>
          <a:noFill/>
          <a:ln/>
        </p:spPr>
        <p:txBody>
          <a:bodyPr wrap="square" lIns="0" tIns="0" rIns="0" bIns="0" rtlCol="0" anchor="t"/>
          <a:lstStyle/>
          <a:p>
            <a:pPr indent="0" marL="0">
              <a:lnSpc>
                <a:spcPct val="105000"/>
              </a:lnSpc>
              <a:buNone/>
            </a:pPr>
            <a:r>
              <a:rPr lang="en-US" sz="1200" dirty="0">
                <a:solidFill>
                  <a:srgbClr val="1C2622"/>
                </a:solidFill>
                <a:latin typeface="Malgun Gothic" pitchFamily="34" charset="0"/>
                <a:ea typeface="Malgun Gothic" pitchFamily="34" charset="-122"/>
                <a:cs typeface="Malgun Gothic" pitchFamily="34" charset="-120"/>
              </a:rPr>
              <a:t>모델 검증·공식 통계 대조</a:t>
            </a:r>
            <a:endParaRPr lang="en-US" sz="1200" dirty="0"/>
          </a:p>
        </p:txBody>
      </p:sp>
      <p:sp>
        <p:nvSpPr>
          <p:cNvPr id="41" name="Shape 39"/>
          <p:cNvSpPr/>
          <p:nvPr/>
        </p:nvSpPr>
        <p:spPr>
          <a:xfrm>
            <a:off x="457200" y="5486400"/>
            <a:ext cx="11274552" cy="777240"/>
          </a:xfrm>
          <a:prstGeom prst="roundRect">
            <a:avLst>
              <a:gd name="adj" fmla="val 9412"/>
            </a:avLst>
          </a:prstGeom>
          <a:solidFill>
            <a:srgbClr val="E2EEE8"/>
          </a:solidFill>
          <a:ln w="9525">
            <a:solidFill>
              <a:srgbClr val="D9D7CE"/>
            </a:solidFill>
            <a:prstDash val="solid"/>
          </a:ln>
        </p:spPr>
      </p:sp>
      <p:sp>
        <p:nvSpPr>
          <p:cNvPr id="42" name="Text 40"/>
          <p:cNvSpPr txBox="1"/>
          <p:nvPr/>
        </p:nvSpPr>
        <p:spPr>
          <a:xfrm>
            <a:off x="731520" y="5486400"/>
            <a:ext cx="10789920" cy="777240"/>
          </a:xfrm>
          <a:prstGeom prst="rect">
            <a:avLst/>
          </a:prstGeom>
          <a:noFill/>
          <a:ln/>
        </p:spPr>
        <p:txBody>
          <a:bodyPr wrap="square" lIns="0" tIns="0" rIns="0" bIns="0" rtlCol="0" anchor="ctr"/>
          <a:lstStyle/>
          <a:p>
            <a:pPr indent="0" marL="0">
              <a:buNone/>
            </a:pPr>
            <a:r>
              <a:rPr lang="en-US" sz="1250" dirty="0">
                <a:solidFill>
                  <a:srgbClr val="1C2622"/>
                </a:solidFill>
                <a:latin typeface="Malgun Gothic" pitchFamily="34" charset="0"/>
                <a:ea typeface="Malgun Gothic" pitchFamily="34" charset="-122"/>
                <a:cs typeface="Malgun Gothic" pitchFamily="34" charset="-120"/>
              </a:rPr>
              <a:t>새 지역은 지역 화면에서 "자료 준비"를 누르면 상세 자료를 모읍니다. 공공데이터 하루 호출 한도 때문에 시·군·구 하나에 몇 시간~며칠 걸립니다.</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8</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데이터 범위 ④</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얼마나 믿을 수 있나 (공식 통계와 맞대 본 결과)</a:t>
            </a:r>
            <a:endParaRPr lang="en-US" sz="2500" dirty="0"/>
          </a:p>
        </p:txBody>
      </p:sp>
      <p:sp>
        <p:nvSpPr>
          <p:cNvPr id="5" name="Shape 3"/>
          <p:cNvSpPr/>
          <p:nvPr/>
        </p:nvSpPr>
        <p:spPr>
          <a:xfrm>
            <a:off x="457200" y="1371600"/>
            <a:ext cx="2651760" cy="1783080"/>
          </a:xfrm>
          <a:prstGeom prst="roundRect">
            <a:avLst>
              <a:gd name="adj" fmla="val 4103"/>
            </a:avLst>
          </a:prstGeom>
          <a:solidFill>
            <a:srgbClr val="F4F6F4"/>
          </a:solidFill>
          <a:ln w="9525">
            <a:solidFill>
              <a:srgbClr val="D9D7CE"/>
            </a:solidFill>
            <a:prstDash val="solid"/>
          </a:ln>
        </p:spPr>
      </p:sp>
      <p:sp>
        <p:nvSpPr>
          <p:cNvPr id="6" name="Text 4"/>
          <p:cNvSpPr txBox="1"/>
          <p:nvPr/>
        </p:nvSpPr>
        <p:spPr>
          <a:xfrm>
            <a:off x="685800" y="1572768"/>
            <a:ext cx="2286000" cy="548640"/>
          </a:xfrm>
          <a:prstGeom prst="rect">
            <a:avLst/>
          </a:prstGeom>
          <a:noFill/>
          <a:ln/>
        </p:spPr>
        <p:txBody>
          <a:bodyPr wrap="square" lIns="0" tIns="0" rIns="0" bIns="0" rtlCol="0" anchor="t"/>
          <a:lstStyle/>
          <a:p>
            <a:pPr indent="0" marL="0">
              <a:buNone/>
            </a:pPr>
            <a:r>
              <a:rPr lang="en-US" sz="2800" b="1" dirty="0">
                <a:solidFill>
                  <a:srgbClr val="2F5D50"/>
                </a:solidFill>
                <a:latin typeface="Malgun Gothic" pitchFamily="34" charset="0"/>
                <a:ea typeface="Malgun Gothic" pitchFamily="34" charset="-122"/>
                <a:cs typeface="Malgun Gothic" pitchFamily="34" charset="-120"/>
              </a:rPr>
              <a:t>76~79%</a:t>
            </a:r>
            <a:endParaRPr lang="en-US" sz="2800" dirty="0"/>
          </a:p>
        </p:txBody>
      </p:sp>
      <p:sp>
        <p:nvSpPr>
          <p:cNvPr id="7" name="Text 5"/>
          <p:cNvSpPr txBox="1"/>
          <p:nvPr/>
        </p:nvSpPr>
        <p:spPr>
          <a:xfrm>
            <a:off x="685800" y="2240280"/>
            <a:ext cx="2286000" cy="731520"/>
          </a:xfrm>
          <a:prstGeom prst="rect">
            <a:avLst/>
          </a:prstGeom>
          <a:noFill/>
          <a:ln/>
        </p:spPr>
        <p:txBody>
          <a:bodyPr wrap="square" lIns="0" tIns="0" rIns="0" bIns="0" rtlCol="0" anchor="t"/>
          <a:lstStyle/>
          <a:p>
            <a:pPr indent="0" marL="0">
              <a:lnSpc>
                <a:spcPct val="110000"/>
              </a:lnSpc>
              <a:buNone/>
            </a:pPr>
            <a:r>
              <a:rPr lang="en-US" sz="1100" dirty="0">
                <a:solidFill>
                  <a:srgbClr val="505B55"/>
                </a:solidFill>
                <a:latin typeface="Malgun Gothic" pitchFamily="34" charset="0"/>
                <a:ea typeface="Malgun Gothic" pitchFamily="34" charset="-122"/>
                <a:cs typeface="Malgun Gothic" pitchFamily="34" charset="-120"/>
              </a:rPr>
              <a:t>건물 계량 전력(건축HUB)이 담는</a:t>
            </a:r>
            <a:endParaRPr lang="en-US" sz="1100" dirty="0"/>
          </a:p>
          <a:p>
            <a:pPr indent="0" marL="0">
              <a:lnSpc>
                <a:spcPct val="110000"/>
              </a:lnSpc>
              <a:buNone/>
            </a:pPr>
            <a:r>
              <a:rPr lang="en-US" sz="1100" dirty="0">
                <a:solidFill>
                  <a:srgbClr val="505B55"/>
                </a:solidFill>
                <a:latin typeface="Malgun Gothic" pitchFamily="34" charset="0"/>
                <a:ea typeface="Malgun Gothic" pitchFamily="34" charset="-122"/>
                <a:cs typeface="Malgun Gothic" pitchFamily="34" charset="-120"/>
              </a:rPr>
              <a:t>한전 건물 전력의 몫</a:t>
            </a:r>
            <a:endParaRPr lang="en-US" sz="1100" dirty="0"/>
          </a:p>
        </p:txBody>
      </p:sp>
      <p:sp>
        <p:nvSpPr>
          <p:cNvPr id="8" name="Shape 6"/>
          <p:cNvSpPr/>
          <p:nvPr/>
        </p:nvSpPr>
        <p:spPr>
          <a:xfrm>
            <a:off x="3291840" y="1371600"/>
            <a:ext cx="2651760" cy="1783080"/>
          </a:xfrm>
          <a:prstGeom prst="roundRect">
            <a:avLst>
              <a:gd name="adj" fmla="val 4103"/>
            </a:avLst>
          </a:prstGeom>
          <a:solidFill>
            <a:srgbClr val="F4F6F4"/>
          </a:solidFill>
          <a:ln w="9525">
            <a:solidFill>
              <a:srgbClr val="D9D7CE"/>
            </a:solidFill>
            <a:prstDash val="solid"/>
          </a:ln>
        </p:spPr>
      </p:sp>
      <p:sp>
        <p:nvSpPr>
          <p:cNvPr id="9" name="Text 7"/>
          <p:cNvSpPr txBox="1"/>
          <p:nvPr/>
        </p:nvSpPr>
        <p:spPr>
          <a:xfrm>
            <a:off x="3520440" y="1572768"/>
            <a:ext cx="2286000" cy="548640"/>
          </a:xfrm>
          <a:prstGeom prst="rect">
            <a:avLst/>
          </a:prstGeom>
          <a:noFill/>
          <a:ln/>
        </p:spPr>
        <p:txBody>
          <a:bodyPr wrap="square" lIns="0" tIns="0" rIns="0" bIns="0" rtlCol="0" anchor="t"/>
          <a:lstStyle/>
          <a:p>
            <a:pPr indent="0" marL="0">
              <a:buNone/>
            </a:pPr>
            <a:r>
              <a:rPr lang="en-US" sz="2800" b="1" dirty="0">
                <a:solidFill>
                  <a:srgbClr val="2F5D50"/>
                </a:solidFill>
                <a:latin typeface="Malgun Gothic" pitchFamily="34" charset="0"/>
                <a:ea typeface="Malgun Gothic" pitchFamily="34" charset="-122"/>
                <a:cs typeface="Malgun Gothic" pitchFamily="34" charset="-120"/>
              </a:rPr>
              <a:t>0.996+</a:t>
            </a:r>
            <a:endParaRPr lang="en-US" sz="2800" dirty="0"/>
          </a:p>
        </p:txBody>
      </p:sp>
      <p:sp>
        <p:nvSpPr>
          <p:cNvPr id="10" name="Text 8"/>
          <p:cNvSpPr txBox="1"/>
          <p:nvPr/>
        </p:nvSpPr>
        <p:spPr>
          <a:xfrm>
            <a:off x="3520440" y="2240280"/>
            <a:ext cx="2286000" cy="731520"/>
          </a:xfrm>
          <a:prstGeom prst="rect">
            <a:avLst/>
          </a:prstGeom>
          <a:noFill/>
          <a:ln/>
        </p:spPr>
        <p:txBody>
          <a:bodyPr wrap="square" lIns="0" tIns="0" rIns="0" bIns="0" rtlCol="0" anchor="t"/>
          <a:lstStyle/>
          <a:p>
            <a:pPr indent="0" marL="0">
              <a:lnSpc>
                <a:spcPct val="110000"/>
              </a:lnSpc>
              <a:buNone/>
            </a:pPr>
            <a:r>
              <a:rPr lang="en-US" sz="1100" dirty="0">
                <a:solidFill>
                  <a:srgbClr val="505B55"/>
                </a:solidFill>
                <a:latin typeface="Malgun Gothic" pitchFamily="34" charset="0"/>
                <a:ea typeface="Malgun Gothic" pitchFamily="34" charset="-122"/>
                <a:cs typeface="Malgun Gothic" pitchFamily="34" charset="-120"/>
              </a:rPr>
              <a:t>두 자료의 월별 상관계수</a:t>
            </a:r>
            <a:endParaRPr lang="en-US" sz="1100" dirty="0"/>
          </a:p>
          <a:p>
            <a:pPr indent="0" marL="0">
              <a:lnSpc>
                <a:spcPct val="110000"/>
              </a:lnSpc>
              <a:buNone/>
            </a:pPr>
            <a:r>
              <a:rPr lang="en-US" sz="1100" dirty="0">
                <a:solidFill>
                  <a:srgbClr val="505B55"/>
                </a:solidFill>
                <a:latin typeface="Malgun Gothic" pitchFamily="34" charset="0"/>
                <a:ea typeface="Malgun Gothic" pitchFamily="34" charset="-122"/>
                <a:cs typeface="Malgun Gothic" pitchFamily="34" charset="-120"/>
              </a:rPr>
              <a:t>(빠진 몫이 일정)</a:t>
            </a:r>
            <a:endParaRPr lang="en-US" sz="1100" dirty="0"/>
          </a:p>
        </p:txBody>
      </p:sp>
      <p:sp>
        <p:nvSpPr>
          <p:cNvPr id="11" name="Shape 9"/>
          <p:cNvSpPr/>
          <p:nvPr/>
        </p:nvSpPr>
        <p:spPr>
          <a:xfrm>
            <a:off x="6126480" y="1371600"/>
            <a:ext cx="2651760" cy="1783080"/>
          </a:xfrm>
          <a:prstGeom prst="roundRect">
            <a:avLst>
              <a:gd name="adj" fmla="val 4103"/>
            </a:avLst>
          </a:prstGeom>
          <a:solidFill>
            <a:srgbClr val="F4F6F4"/>
          </a:solidFill>
          <a:ln w="9525">
            <a:solidFill>
              <a:srgbClr val="D9D7CE"/>
            </a:solidFill>
            <a:prstDash val="solid"/>
          </a:ln>
        </p:spPr>
      </p:sp>
      <p:sp>
        <p:nvSpPr>
          <p:cNvPr id="12" name="Text 10"/>
          <p:cNvSpPr txBox="1"/>
          <p:nvPr/>
        </p:nvSpPr>
        <p:spPr>
          <a:xfrm>
            <a:off x="6355080" y="1572768"/>
            <a:ext cx="2286000" cy="548640"/>
          </a:xfrm>
          <a:prstGeom prst="rect">
            <a:avLst/>
          </a:prstGeom>
          <a:noFill/>
          <a:ln/>
        </p:spPr>
        <p:txBody>
          <a:bodyPr wrap="square" lIns="0" tIns="0" rIns="0" bIns="0" rtlCol="0" anchor="t"/>
          <a:lstStyle/>
          <a:p>
            <a:pPr indent="0" marL="0">
              <a:buNone/>
            </a:pPr>
            <a:r>
              <a:rPr lang="en-US" sz="2800" b="1" dirty="0">
                <a:solidFill>
                  <a:srgbClr val="2F5D50"/>
                </a:solidFill>
                <a:latin typeface="Malgun Gothic" pitchFamily="34" charset="0"/>
                <a:ea typeface="Malgun Gothic" pitchFamily="34" charset="-122"/>
                <a:cs typeface="Malgun Gothic" pitchFamily="34" charset="-120"/>
              </a:rPr>
              <a:t>0.85~0.91</a:t>
            </a:r>
            <a:endParaRPr lang="en-US" sz="2800" dirty="0"/>
          </a:p>
        </p:txBody>
      </p:sp>
      <p:sp>
        <p:nvSpPr>
          <p:cNvPr id="13" name="Text 11"/>
          <p:cNvSpPr txBox="1"/>
          <p:nvPr/>
        </p:nvSpPr>
        <p:spPr>
          <a:xfrm>
            <a:off x="6355080" y="2240280"/>
            <a:ext cx="2286000" cy="731520"/>
          </a:xfrm>
          <a:prstGeom prst="rect">
            <a:avLst/>
          </a:prstGeom>
          <a:noFill/>
          <a:ln/>
        </p:spPr>
        <p:txBody>
          <a:bodyPr wrap="square" lIns="0" tIns="0" rIns="0" bIns="0" rtlCol="0" anchor="t"/>
          <a:lstStyle/>
          <a:p>
            <a:pPr indent="0" marL="0">
              <a:lnSpc>
                <a:spcPct val="110000"/>
              </a:lnSpc>
              <a:buNone/>
            </a:pPr>
            <a:r>
              <a:rPr lang="en-US" sz="1100" dirty="0">
                <a:solidFill>
                  <a:srgbClr val="505B55"/>
                </a:solidFill>
                <a:latin typeface="Malgun Gothic" pitchFamily="34" charset="0"/>
                <a:ea typeface="Malgun Gothic" pitchFamily="34" charset="-122"/>
                <a:cs typeface="Malgun Gothic" pitchFamily="34" charset="-120"/>
              </a:rPr>
              <a:t>이 도구 전력 탄소 ÷ 온실가스</a:t>
            </a:r>
            <a:endParaRPr lang="en-US" sz="1100" dirty="0"/>
          </a:p>
          <a:p>
            <a:pPr indent="0" marL="0">
              <a:lnSpc>
                <a:spcPct val="110000"/>
              </a:lnSpc>
              <a:buNone/>
            </a:pPr>
            <a:r>
              <a:rPr lang="en-US" sz="1100" dirty="0">
                <a:solidFill>
                  <a:srgbClr val="505B55"/>
                </a:solidFill>
                <a:latin typeface="Malgun Gothic" pitchFamily="34" charset="0"/>
                <a:ea typeface="Malgun Gothic" pitchFamily="34" charset="-122"/>
                <a:cs typeface="Malgun Gothic" pitchFamily="34" charset="-120"/>
              </a:rPr>
              <a:t>인벤토리 (전주·수원)</a:t>
            </a:r>
            <a:endParaRPr lang="en-US" sz="1100" dirty="0"/>
          </a:p>
        </p:txBody>
      </p:sp>
      <p:sp>
        <p:nvSpPr>
          <p:cNvPr id="14" name="Shape 12"/>
          <p:cNvSpPr/>
          <p:nvPr/>
        </p:nvSpPr>
        <p:spPr>
          <a:xfrm>
            <a:off x="8961120" y="1371600"/>
            <a:ext cx="2651760" cy="1783080"/>
          </a:xfrm>
          <a:prstGeom prst="roundRect">
            <a:avLst>
              <a:gd name="adj" fmla="val 4103"/>
            </a:avLst>
          </a:prstGeom>
          <a:solidFill>
            <a:srgbClr val="F4F6F4"/>
          </a:solidFill>
          <a:ln w="9525">
            <a:solidFill>
              <a:srgbClr val="D9D7CE"/>
            </a:solidFill>
            <a:prstDash val="solid"/>
          </a:ln>
        </p:spPr>
      </p:sp>
      <p:sp>
        <p:nvSpPr>
          <p:cNvPr id="15" name="Text 13"/>
          <p:cNvSpPr txBox="1"/>
          <p:nvPr/>
        </p:nvSpPr>
        <p:spPr>
          <a:xfrm>
            <a:off x="9189720" y="1572768"/>
            <a:ext cx="2286000" cy="548640"/>
          </a:xfrm>
          <a:prstGeom prst="rect">
            <a:avLst/>
          </a:prstGeom>
          <a:noFill/>
          <a:ln/>
        </p:spPr>
        <p:txBody>
          <a:bodyPr wrap="square" lIns="0" tIns="0" rIns="0" bIns="0" rtlCol="0" anchor="t"/>
          <a:lstStyle/>
          <a:p>
            <a:pPr indent="0" marL="0">
              <a:buNone/>
            </a:pPr>
            <a:r>
              <a:rPr lang="en-US" sz="2800" b="1" dirty="0">
                <a:solidFill>
                  <a:srgbClr val="B7792F"/>
                </a:solidFill>
                <a:latin typeface="Malgun Gothic" pitchFamily="34" charset="0"/>
                <a:ea typeface="Malgun Gothic" pitchFamily="34" charset="-122"/>
                <a:cs typeface="Malgun Gothic" pitchFamily="34" charset="-120"/>
              </a:rPr>
              <a:t>9~15%</a:t>
            </a:r>
            <a:endParaRPr lang="en-US" sz="2800" dirty="0"/>
          </a:p>
        </p:txBody>
      </p:sp>
      <p:sp>
        <p:nvSpPr>
          <p:cNvPr id="16" name="Text 14"/>
          <p:cNvSpPr txBox="1"/>
          <p:nvPr/>
        </p:nvSpPr>
        <p:spPr>
          <a:xfrm>
            <a:off x="9189720" y="2240280"/>
            <a:ext cx="2286000" cy="731520"/>
          </a:xfrm>
          <a:prstGeom prst="rect">
            <a:avLst/>
          </a:prstGeom>
          <a:noFill/>
          <a:ln/>
        </p:spPr>
        <p:txBody>
          <a:bodyPr wrap="square" lIns="0" tIns="0" rIns="0" bIns="0" rtlCol="0" anchor="t"/>
          <a:lstStyle/>
          <a:p>
            <a:pPr indent="0" marL="0">
              <a:lnSpc>
                <a:spcPct val="110000"/>
              </a:lnSpc>
              <a:buNone/>
            </a:pPr>
            <a:r>
              <a:rPr lang="en-US" sz="1100" dirty="0">
                <a:solidFill>
                  <a:srgbClr val="505B55"/>
                </a:solidFill>
                <a:latin typeface="Malgun Gothic" pitchFamily="34" charset="0"/>
                <a:ea typeface="Malgun Gothic" pitchFamily="34" charset="-122"/>
                <a:cs typeface="Malgun Gothic" pitchFamily="34" charset="-120"/>
              </a:rPr>
              <a:t>전력 모델 오차</a:t>
            </a:r>
            <a:endParaRPr lang="en-US" sz="1100" dirty="0"/>
          </a:p>
          <a:p>
            <a:pPr indent="0" marL="0">
              <a:lnSpc>
                <a:spcPct val="110000"/>
              </a:lnSpc>
              <a:buNone/>
            </a:pPr>
            <a:r>
              <a:rPr lang="en-US" sz="1100" dirty="0">
                <a:solidFill>
                  <a:srgbClr val="505B55"/>
                </a:solidFill>
                <a:latin typeface="Malgun Gothic" pitchFamily="34" charset="0"/>
                <a:ea typeface="Malgun Gothic" pitchFamily="34" charset="-122"/>
                <a:cs typeface="Malgun Gothic" pitchFamily="34" charset="-120"/>
              </a:rPr>
              <a:t>(학습에 안 쓴 지역으로 검증)</a:t>
            </a:r>
            <a:endParaRPr lang="en-US" sz="1100" dirty="0"/>
          </a:p>
        </p:txBody>
      </p:sp>
      <p:sp>
        <p:nvSpPr>
          <p:cNvPr id="17" name="Shape 15"/>
          <p:cNvSpPr/>
          <p:nvPr/>
        </p:nvSpPr>
        <p:spPr>
          <a:xfrm>
            <a:off x="457200" y="3429000"/>
            <a:ext cx="11274552" cy="0"/>
          </a:xfrm>
          <a:prstGeom prst="line">
            <a:avLst/>
          </a:prstGeom>
          <a:noFill/>
          <a:ln w="9525">
            <a:solidFill>
              <a:srgbClr val="D9D7CE"/>
            </a:solidFill>
            <a:prstDash val="solid"/>
          </a:ln>
        </p:spPr>
      </p:sp>
      <p:sp>
        <p:nvSpPr>
          <p:cNvPr id="18" name="Text 16"/>
          <p:cNvSpPr txBox="1"/>
          <p:nvPr/>
        </p:nvSpPr>
        <p:spPr>
          <a:xfrm>
            <a:off x="640080" y="3547872"/>
            <a:ext cx="5486400" cy="320040"/>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격자·동끼리 비교, 우선순위 찾기</a:t>
            </a:r>
            <a:endParaRPr lang="en-US" sz="1350" dirty="0"/>
          </a:p>
        </p:txBody>
      </p:sp>
      <p:sp>
        <p:nvSpPr>
          <p:cNvPr id="19" name="Shape 17"/>
          <p:cNvSpPr/>
          <p:nvPr/>
        </p:nvSpPr>
        <p:spPr>
          <a:xfrm>
            <a:off x="6400800" y="3520440"/>
            <a:ext cx="3291840" cy="347472"/>
          </a:xfrm>
          <a:prstGeom prst="roundRect">
            <a:avLst>
              <a:gd name="adj" fmla="val 15789"/>
            </a:avLst>
          </a:prstGeom>
          <a:solidFill>
            <a:srgbClr val="E2EEE8"/>
          </a:solidFill>
          <a:ln w="12700">
            <a:solidFill>
              <a:srgbClr val="E2EEE8"/>
            </a:solidFill>
            <a:prstDash val="solid"/>
          </a:ln>
        </p:spPr>
      </p:sp>
      <p:sp>
        <p:nvSpPr>
          <p:cNvPr id="20" name="Text 18"/>
          <p:cNvSpPr txBox="1"/>
          <p:nvPr/>
        </p:nvSpPr>
        <p:spPr>
          <a:xfrm>
            <a:off x="6400800" y="3520440"/>
            <a:ext cx="3291840" cy="347472"/>
          </a:xfrm>
          <a:prstGeom prst="rect">
            <a:avLst/>
          </a:prstGeom>
          <a:noFill/>
          <a:ln/>
        </p:spPr>
        <p:txBody>
          <a:bodyPr wrap="square" lIns="0" tIns="0" rIns="0" bIns="0" rtlCol="0" anchor="ctr"/>
          <a:lstStyle/>
          <a:p>
            <a:pPr algn="ctr" indent="0" marL="0">
              <a:buNone/>
            </a:pPr>
            <a:r>
              <a:rPr lang="en-US" sz="1150" b="1" dirty="0">
                <a:solidFill>
                  <a:srgbClr val="2F5D50"/>
                </a:solidFill>
                <a:latin typeface="Malgun Gothic" pitchFamily="34" charset="0"/>
                <a:ea typeface="Malgun Gothic" pitchFamily="34" charset="-122"/>
                <a:cs typeface="Malgun Gothic" pitchFamily="34" charset="-120"/>
              </a:rPr>
              <a:t>바로 사용</a:t>
            </a:r>
            <a:endParaRPr lang="en-US" sz="1150" dirty="0"/>
          </a:p>
        </p:txBody>
      </p:sp>
      <p:sp>
        <p:nvSpPr>
          <p:cNvPr id="21" name="Shape 19"/>
          <p:cNvSpPr/>
          <p:nvPr/>
        </p:nvSpPr>
        <p:spPr>
          <a:xfrm>
            <a:off x="457200" y="3977640"/>
            <a:ext cx="11274552" cy="0"/>
          </a:xfrm>
          <a:prstGeom prst="line">
            <a:avLst/>
          </a:prstGeom>
          <a:noFill/>
          <a:ln w="9525">
            <a:solidFill>
              <a:srgbClr val="D9D7CE"/>
            </a:solidFill>
            <a:prstDash val="solid"/>
          </a:ln>
        </p:spPr>
      </p:sp>
      <p:sp>
        <p:nvSpPr>
          <p:cNvPr id="22" name="Text 20"/>
          <p:cNvSpPr txBox="1"/>
          <p:nvPr/>
        </p:nvSpPr>
        <p:spPr>
          <a:xfrm>
            <a:off x="640080" y="4096512"/>
            <a:ext cx="5486400" cy="320040"/>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전국 시·군·구 비교</a:t>
            </a:r>
            <a:endParaRPr lang="en-US" sz="1350" dirty="0"/>
          </a:p>
        </p:txBody>
      </p:sp>
      <p:sp>
        <p:nvSpPr>
          <p:cNvPr id="23" name="Shape 21"/>
          <p:cNvSpPr/>
          <p:nvPr/>
        </p:nvSpPr>
        <p:spPr>
          <a:xfrm>
            <a:off x="6400800" y="4069080"/>
            <a:ext cx="3291840" cy="347472"/>
          </a:xfrm>
          <a:prstGeom prst="roundRect">
            <a:avLst>
              <a:gd name="adj" fmla="val 15789"/>
            </a:avLst>
          </a:prstGeom>
          <a:solidFill>
            <a:srgbClr val="E2EEE8"/>
          </a:solidFill>
          <a:ln w="12700">
            <a:solidFill>
              <a:srgbClr val="E2EEE8"/>
            </a:solidFill>
            <a:prstDash val="solid"/>
          </a:ln>
        </p:spPr>
      </p:sp>
      <p:sp>
        <p:nvSpPr>
          <p:cNvPr id="24" name="Text 22"/>
          <p:cNvSpPr txBox="1"/>
          <p:nvPr/>
        </p:nvSpPr>
        <p:spPr>
          <a:xfrm>
            <a:off x="6400800" y="4069080"/>
            <a:ext cx="3291840" cy="347472"/>
          </a:xfrm>
          <a:prstGeom prst="rect">
            <a:avLst/>
          </a:prstGeom>
          <a:noFill/>
          <a:ln/>
        </p:spPr>
        <p:txBody>
          <a:bodyPr wrap="square" lIns="0" tIns="0" rIns="0" bIns="0" rtlCol="0" anchor="ctr"/>
          <a:lstStyle/>
          <a:p>
            <a:pPr algn="ctr" indent="0" marL="0">
              <a:buNone/>
            </a:pPr>
            <a:r>
              <a:rPr lang="en-US" sz="1150" b="1" dirty="0">
                <a:solidFill>
                  <a:srgbClr val="2F5D50"/>
                </a:solidFill>
                <a:latin typeface="Malgun Gothic" pitchFamily="34" charset="0"/>
                <a:ea typeface="Malgun Gothic" pitchFamily="34" charset="-122"/>
                <a:cs typeface="Malgun Gothic" pitchFamily="34" charset="-120"/>
              </a:rPr>
              <a:t>바로 사용</a:t>
            </a:r>
            <a:endParaRPr lang="en-US" sz="1150" dirty="0"/>
          </a:p>
        </p:txBody>
      </p:sp>
      <p:sp>
        <p:nvSpPr>
          <p:cNvPr id="25" name="Shape 23"/>
          <p:cNvSpPr/>
          <p:nvPr/>
        </p:nvSpPr>
        <p:spPr>
          <a:xfrm>
            <a:off x="457200" y="4526280"/>
            <a:ext cx="11274552" cy="0"/>
          </a:xfrm>
          <a:prstGeom prst="line">
            <a:avLst/>
          </a:prstGeom>
          <a:noFill/>
          <a:ln w="9525">
            <a:solidFill>
              <a:srgbClr val="D9D7CE"/>
            </a:solidFill>
            <a:prstDash val="solid"/>
          </a:ln>
        </p:spPr>
      </p:sp>
      <p:sp>
        <p:nvSpPr>
          <p:cNvPr id="26" name="Text 24"/>
          <p:cNvSpPr txBox="1"/>
          <p:nvPr/>
        </p:nvSpPr>
        <p:spPr>
          <a:xfrm>
            <a:off x="640080" y="4645152"/>
            <a:ext cx="5486400" cy="320040"/>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시 전체 총량</a:t>
            </a:r>
            <a:endParaRPr lang="en-US" sz="1350" dirty="0"/>
          </a:p>
        </p:txBody>
      </p:sp>
      <p:sp>
        <p:nvSpPr>
          <p:cNvPr id="27" name="Shape 25"/>
          <p:cNvSpPr/>
          <p:nvPr/>
        </p:nvSpPr>
        <p:spPr>
          <a:xfrm>
            <a:off x="6400800" y="4617720"/>
            <a:ext cx="3291840" cy="347472"/>
          </a:xfrm>
          <a:prstGeom prst="roundRect">
            <a:avLst>
              <a:gd name="adj" fmla="val 15789"/>
            </a:avLst>
          </a:prstGeom>
          <a:solidFill>
            <a:srgbClr val="F6EBDD"/>
          </a:solidFill>
          <a:ln w="12700">
            <a:solidFill>
              <a:srgbClr val="F6EBDD"/>
            </a:solidFill>
            <a:prstDash val="solid"/>
          </a:ln>
        </p:spPr>
      </p:sp>
      <p:sp>
        <p:nvSpPr>
          <p:cNvPr id="28" name="Text 26"/>
          <p:cNvSpPr txBox="1"/>
          <p:nvPr/>
        </p:nvSpPr>
        <p:spPr>
          <a:xfrm>
            <a:off x="6400800" y="4617720"/>
            <a:ext cx="3291840" cy="347472"/>
          </a:xfrm>
          <a:prstGeom prst="rect">
            <a:avLst/>
          </a:prstGeom>
          <a:noFill/>
          <a:ln/>
        </p:spPr>
        <p:txBody>
          <a:bodyPr wrap="square" lIns="0" tIns="0" rIns="0" bIns="0" rtlCol="0" anchor="ctr"/>
          <a:lstStyle/>
          <a:p>
            <a:pPr algn="ctr" indent="0" marL="0">
              <a:buNone/>
            </a:pPr>
            <a:r>
              <a:rPr lang="en-US" sz="1150" b="1" dirty="0">
                <a:solidFill>
                  <a:srgbClr val="B7792F"/>
                </a:solidFill>
                <a:latin typeface="Malgun Gothic" pitchFamily="34" charset="0"/>
                <a:ea typeface="Malgun Gothic" pitchFamily="34" charset="-122"/>
                <a:cs typeface="Malgun Gothic" pitchFamily="34" charset="-120"/>
              </a:rPr>
              <a:t>÷0.77 정도 보정해 참고</a:t>
            </a:r>
            <a:endParaRPr lang="en-US" sz="1150" dirty="0"/>
          </a:p>
        </p:txBody>
      </p:sp>
      <p:sp>
        <p:nvSpPr>
          <p:cNvPr id="29" name="Shape 27"/>
          <p:cNvSpPr/>
          <p:nvPr/>
        </p:nvSpPr>
        <p:spPr>
          <a:xfrm>
            <a:off x="457200" y="5074920"/>
            <a:ext cx="11274552" cy="0"/>
          </a:xfrm>
          <a:prstGeom prst="line">
            <a:avLst/>
          </a:prstGeom>
          <a:noFill/>
          <a:ln w="9525">
            <a:solidFill>
              <a:srgbClr val="D9D7CE"/>
            </a:solidFill>
            <a:prstDash val="solid"/>
          </a:ln>
        </p:spPr>
      </p:sp>
      <p:sp>
        <p:nvSpPr>
          <p:cNvPr id="30" name="Text 28"/>
          <p:cNvSpPr txBox="1"/>
          <p:nvPr/>
        </p:nvSpPr>
        <p:spPr>
          <a:xfrm>
            <a:off x="640080" y="5193792"/>
            <a:ext cx="5486400" cy="320040"/>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계획안·감축 목표 계산</a:t>
            </a:r>
            <a:endParaRPr lang="en-US" sz="1350" dirty="0"/>
          </a:p>
        </p:txBody>
      </p:sp>
      <p:sp>
        <p:nvSpPr>
          <p:cNvPr id="31" name="Shape 29"/>
          <p:cNvSpPr/>
          <p:nvPr/>
        </p:nvSpPr>
        <p:spPr>
          <a:xfrm>
            <a:off x="6400800" y="5166360"/>
            <a:ext cx="3291840" cy="347472"/>
          </a:xfrm>
          <a:prstGeom prst="roundRect">
            <a:avLst>
              <a:gd name="adj" fmla="val 15789"/>
            </a:avLst>
          </a:prstGeom>
          <a:solidFill>
            <a:srgbClr val="F6EBDD"/>
          </a:solidFill>
          <a:ln w="12700">
            <a:solidFill>
              <a:srgbClr val="F6EBDD"/>
            </a:solidFill>
            <a:prstDash val="solid"/>
          </a:ln>
        </p:spPr>
      </p:sp>
      <p:sp>
        <p:nvSpPr>
          <p:cNvPr id="32" name="Text 30"/>
          <p:cNvSpPr txBox="1"/>
          <p:nvPr/>
        </p:nvSpPr>
        <p:spPr>
          <a:xfrm>
            <a:off x="6400800" y="5166360"/>
            <a:ext cx="3291840" cy="347472"/>
          </a:xfrm>
          <a:prstGeom prst="rect">
            <a:avLst/>
          </a:prstGeom>
          <a:noFill/>
          <a:ln/>
        </p:spPr>
        <p:txBody>
          <a:bodyPr wrap="square" lIns="0" tIns="0" rIns="0" bIns="0" rtlCol="0" anchor="ctr"/>
          <a:lstStyle/>
          <a:p>
            <a:pPr algn="ctr" indent="0" marL="0">
              <a:buNone/>
            </a:pPr>
            <a:r>
              <a:rPr lang="en-US" sz="1150" b="1" dirty="0">
                <a:solidFill>
                  <a:srgbClr val="B7792F"/>
                </a:solidFill>
                <a:latin typeface="Malgun Gothic" pitchFamily="34" charset="0"/>
                <a:ea typeface="Malgun Gothic" pitchFamily="34" charset="-122"/>
                <a:cs typeface="Malgun Gothic" pitchFamily="34" charset="-120"/>
              </a:rPr>
              <a:t>격자 합계 수준 참고</a:t>
            </a:r>
            <a:endParaRPr lang="en-US" sz="1150" dirty="0"/>
          </a:p>
        </p:txBody>
      </p:sp>
      <p:sp>
        <p:nvSpPr>
          <p:cNvPr id="33" name="Shape 31"/>
          <p:cNvSpPr/>
          <p:nvPr/>
        </p:nvSpPr>
        <p:spPr>
          <a:xfrm>
            <a:off x="457200" y="5623560"/>
            <a:ext cx="11274552" cy="0"/>
          </a:xfrm>
          <a:prstGeom prst="line">
            <a:avLst/>
          </a:prstGeom>
          <a:noFill/>
          <a:ln w="9525">
            <a:solidFill>
              <a:srgbClr val="D9D7CE"/>
            </a:solidFill>
            <a:prstDash val="solid"/>
          </a:ln>
        </p:spPr>
      </p:sp>
      <p:sp>
        <p:nvSpPr>
          <p:cNvPr id="34" name="Text 32"/>
          <p:cNvSpPr txBox="1"/>
          <p:nvPr/>
        </p:nvSpPr>
        <p:spPr>
          <a:xfrm>
            <a:off x="640080" y="5742432"/>
            <a:ext cx="5486400" cy="320040"/>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가스 탄소 · 지역난방</a:t>
            </a:r>
            <a:endParaRPr lang="en-US" sz="1350" dirty="0"/>
          </a:p>
        </p:txBody>
      </p:sp>
      <p:sp>
        <p:nvSpPr>
          <p:cNvPr id="35" name="Shape 33"/>
          <p:cNvSpPr/>
          <p:nvPr/>
        </p:nvSpPr>
        <p:spPr>
          <a:xfrm>
            <a:off x="6400800" y="5715000"/>
            <a:ext cx="3291840" cy="347472"/>
          </a:xfrm>
          <a:prstGeom prst="roundRect">
            <a:avLst>
              <a:gd name="adj" fmla="val 15789"/>
            </a:avLst>
          </a:prstGeom>
          <a:solidFill>
            <a:srgbClr val="FCEBE9"/>
          </a:solidFill>
          <a:ln w="12700">
            <a:solidFill>
              <a:srgbClr val="FCEBE9"/>
            </a:solidFill>
            <a:prstDash val="solid"/>
          </a:ln>
        </p:spPr>
      </p:sp>
      <p:sp>
        <p:nvSpPr>
          <p:cNvPr id="36" name="Text 34"/>
          <p:cNvSpPr txBox="1"/>
          <p:nvPr/>
        </p:nvSpPr>
        <p:spPr>
          <a:xfrm>
            <a:off x="6400800" y="5715000"/>
            <a:ext cx="3291840" cy="347472"/>
          </a:xfrm>
          <a:prstGeom prst="rect">
            <a:avLst/>
          </a:prstGeom>
          <a:noFill/>
          <a:ln/>
        </p:spPr>
        <p:txBody>
          <a:bodyPr wrap="square" lIns="0" tIns="0" rIns="0" bIns="0" rtlCol="0" anchor="ctr"/>
          <a:lstStyle/>
          <a:p>
            <a:pPr algn="ctr" indent="0" marL="0">
              <a:buNone/>
            </a:pPr>
            <a:r>
              <a:rPr lang="en-US" sz="1150" b="1" dirty="0">
                <a:solidFill>
                  <a:srgbClr val="B42318"/>
                </a:solidFill>
                <a:latin typeface="Malgun Gothic" pitchFamily="34" charset="0"/>
                <a:ea typeface="Malgun Gothic" pitchFamily="34" charset="-122"/>
                <a:cs typeface="Malgun Gothic" pitchFamily="34" charset="-120"/>
              </a:rPr>
              <a:t>가정 계수(±11%) · 열 미포함</a:t>
            </a:r>
            <a:endParaRPr lang="en-US" sz="1150" dirty="0"/>
          </a:p>
        </p:txBody>
      </p:sp>
      <p:sp>
        <p:nvSpPr>
          <p:cNvPr id="37" name="Text 35"/>
          <p:cNvSpPr txBox="1"/>
          <p:nvPr/>
        </p:nvSpPr>
        <p:spPr>
          <a:xfrm>
            <a:off x="4572000" y="6473952"/>
            <a:ext cx="715975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근거: docs/ACCURACY.md (2026-09-30 PC DB 실측)</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A33"/>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8FB0A3"/>
                </a:solidFill>
                <a:latin typeface="Malgun Gothic" pitchFamily="34" charset="0"/>
                <a:ea typeface="Malgun Gothic" pitchFamily="34" charset="-122"/>
                <a:cs typeface="Malgun Gothic" pitchFamily="34" charset="-120"/>
              </a:rPr>
              <a:t>Carbon Urban DSS 소개와 활용 · 9</a:t>
            </a:r>
            <a:endParaRPr lang="en-US" sz="900" dirty="0"/>
          </a:p>
        </p:txBody>
      </p:sp>
      <p:sp>
        <p:nvSpPr>
          <p:cNvPr id="3" name="Text 1"/>
          <p:cNvSpPr txBox="1"/>
          <p:nvPr/>
        </p:nvSpPr>
        <p:spPr>
          <a:xfrm>
            <a:off x="548640" y="2011680"/>
            <a:ext cx="2743200" cy="457200"/>
          </a:xfrm>
          <a:prstGeom prst="rect">
            <a:avLst/>
          </a:prstGeom>
          <a:noFill/>
          <a:ln/>
        </p:spPr>
        <p:txBody>
          <a:bodyPr wrap="square" lIns="0" tIns="0" rIns="0" bIns="0" rtlCol="0" anchor="t"/>
          <a:lstStyle/>
          <a:p>
            <a:pPr indent="0" marL="0">
              <a:buNone/>
            </a:pPr>
            <a:r>
              <a:rPr lang="en-US" sz="1800" b="1" dirty="0">
                <a:solidFill>
                  <a:srgbClr val="A9C7BA"/>
                </a:solidFill>
                <a:latin typeface="Malgun Gothic" pitchFamily="34" charset="0"/>
                <a:ea typeface="Malgun Gothic" pitchFamily="34" charset="-122"/>
                <a:cs typeface="Malgun Gothic" pitchFamily="34" charset="-120"/>
              </a:rPr>
              <a:t>02</a:t>
            </a:r>
            <a:endParaRPr lang="en-US" sz="1800" dirty="0"/>
          </a:p>
        </p:txBody>
      </p:sp>
      <p:sp>
        <p:nvSpPr>
          <p:cNvPr id="4" name="Text 2"/>
          <p:cNvSpPr txBox="1"/>
          <p:nvPr/>
        </p:nvSpPr>
        <p:spPr>
          <a:xfrm>
            <a:off x="548640" y="2514600"/>
            <a:ext cx="10058400" cy="914400"/>
          </a:xfrm>
          <a:prstGeom prst="rect">
            <a:avLst/>
          </a:prstGeom>
          <a:noFill/>
          <a:ln/>
        </p:spPr>
        <p:txBody>
          <a:bodyPr wrap="square" lIns="0" tIns="0" rIns="0" bIns="0" rtlCol="0" anchor="t"/>
          <a:lstStyle/>
          <a:p>
            <a:pPr indent="0" marL="0">
              <a:buNone/>
            </a:pPr>
            <a:r>
              <a:rPr lang="en-US" sz="3800" b="1" dirty="0">
                <a:solidFill>
                  <a:srgbClr val="FFFFFF"/>
                </a:solidFill>
                <a:latin typeface="Malgun Gothic" pitchFamily="34" charset="0"/>
                <a:ea typeface="Malgun Gothic" pitchFamily="34" charset="-122"/>
                <a:cs typeface="Malgun Gothic" pitchFamily="34" charset="-120"/>
              </a:rPr>
              <a:t>어떻게 쓰나</a:t>
            </a:r>
            <a:endParaRPr lang="en-US" sz="3800" dirty="0"/>
          </a:p>
        </p:txBody>
      </p:sp>
      <p:sp>
        <p:nvSpPr>
          <p:cNvPr id="5" name="Text 3"/>
          <p:cNvSpPr txBox="1"/>
          <p:nvPr/>
        </p:nvSpPr>
        <p:spPr>
          <a:xfrm>
            <a:off x="548640" y="3566160"/>
            <a:ext cx="10058400" cy="822960"/>
          </a:xfrm>
          <a:prstGeom prst="rect">
            <a:avLst/>
          </a:prstGeom>
          <a:noFill/>
          <a:ln/>
        </p:spPr>
        <p:txBody>
          <a:bodyPr wrap="square" lIns="0" tIns="0" rIns="0" bIns="0" rtlCol="0" anchor="t"/>
          <a:lstStyle/>
          <a:p>
            <a:pPr indent="0" marL="0">
              <a:lnSpc>
                <a:spcPct val="115000"/>
              </a:lnSpc>
              <a:buNone/>
            </a:pPr>
            <a:r>
              <a:rPr lang="en-US" sz="1600" dirty="0">
                <a:solidFill>
                  <a:srgbClr val="CFE0D8"/>
                </a:solidFill>
                <a:latin typeface="Malgun Gothic" pitchFamily="34" charset="0"/>
                <a:ea typeface="Malgun Gothic" pitchFamily="34" charset="-122"/>
                <a:cs typeface="Malgun Gothic" pitchFamily="34" charset="-120"/>
              </a:rPr>
              <a:t>지역 고르기 → 지도 읽기 → 격자·동 비교 → 계획 계산 → 보고서.</a:t>
            </a:r>
            <a:endParaRPr lang="en-US" sz="1600" dirty="0"/>
          </a:p>
          <a:p>
            <a:pPr indent="0" marL="0">
              <a:lnSpc>
                <a:spcPct val="115000"/>
              </a:lnSpc>
              <a:buNone/>
            </a:pPr>
            <a:r>
              <a:rPr lang="en-US" sz="1600" dirty="0">
                <a:solidFill>
                  <a:srgbClr val="CFE0D8"/>
                </a:solidFill>
                <a:latin typeface="Malgun Gothic" pitchFamily="34" charset="0"/>
                <a:ea typeface="Malgun Gothic" pitchFamily="34" charset="-122"/>
                <a:cs typeface="Malgun Gothic" pitchFamily="34" charset="-120"/>
              </a:rPr>
              <a:t>화면 순서대로 일곱 단계입니다.</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10</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사용법 ⓪</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왼쪽 메뉴 9개, 위쪽에서 지역과 연도를 고릅니다</a:t>
            </a:r>
            <a:endParaRPr lang="en-US" sz="2500" dirty="0"/>
          </a:p>
        </p:txBody>
      </p:sp>
      <p:sp>
        <p:nvSpPr>
          <p:cNvPr id="5" name="Shape 3"/>
          <p:cNvSpPr/>
          <p:nvPr/>
        </p:nvSpPr>
        <p:spPr>
          <a:xfrm>
            <a:off x="457200" y="1417320"/>
            <a:ext cx="3611880" cy="960120"/>
          </a:xfrm>
          <a:prstGeom prst="roundRect">
            <a:avLst>
              <a:gd name="adj" fmla="val 7619"/>
            </a:avLst>
          </a:prstGeom>
          <a:solidFill>
            <a:srgbClr val="F4F6F4"/>
          </a:solidFill>
          <a:ln w="9525">
            <a:solidFill>
              <a:srgbClr val="D9D7CE"/>
            </a:solidFill>
            <a:prstDash val="solid"/>
          </a:ln>
        </p:spPr>
      </p:sp>
      <p:sp>
        <p:nvSpPr>
          <p:cNvPr id="6" name="Shape 4"/>
          <p:cNvSpPr/>
          <p:nvPr/>
        </p:nvSpPr>
        <p:spPr>
          <a:xfrm>
            <a:off x="685800" y="1719072"/>
            <a:ext cx="347472" cy="347472"/>
          </a:xfrm>
          <a:prstGeom prst="ellipse">
            <a:avLst/>
          </a:prstGeom>
          <a:solidFill>
            <a:srgbClr val="2F5D50"/>
          </a:solidFill>
          <a:ln w="12700">
            <a:solidFill>
              <a:srgbClr val="2F5D50"/>
            </a:solidFill>
            <a:prstDash val="solid"/>
          </a:ln>
        </p:spPr>
      </p:sp>
      <p:sp>
        <p:nvSpPr>
          <p:cNvPr id="7" name="Text 5"/>
          <p:cNvSpPr txBox="1"/>
          <p:nvPr/>
        </p:nvSpPr>
        <p:spPr>
          <a:xfrm>
            <a:off x="685800" y="17282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8" name="Text 6"/>
          <p:cNvSpPr txBox="1"/>
          <p:nvPr/>
        </p:nvSpPr>
        <p:spPr>
          <a:xfrm>
            <a:off x="1188720" y="1581912"/>
            <a:ext cx="2743200" cy="320040"/>
          </a:xfrm>
          <a:prstGeom prst="rect">
            <a:avLst/>
          </a:prstGeom>
          <a:noFill/>
          <a:ln/>
        </p:spPr>
        <p:txBody>
          <a:bodyPr wrap="square" lIns="0" tIns="0" rIns="0" bIns="0" rtlCol="0" anchor="t"/>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전국 지역</a:t>
            </a:r>
            <a:endParaRPr lang="en-US" sz="1400" dirty="0"/>
          </a:p>
        </p:txBody>
      </p:sp>
      <p:sp>
        <p:nvSpPr>
          <p:cNvPr id="9" name="Text 7"/>
          <p:cNvSpPr txBox="1"/>
          <p:nvPr/>
        </p:nvSpPr>
        <p:spPr>
          <a:xfrm>
            <a:off x="1188720" y="1920240"/>
            <a:ext cx="2788920" cy="36576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전국 기초 자료 현황, 지역 준비</a:t>
            </a:r>
            <a:endParaRPr lang="en-US" sz="1100" dirty="0"/>
          </a:p>
        </p:txBody>
      </p:sp>
      <p:sp>
        <p:nvSpPr>
          <p:cNvPr id="10" name="Shape 8"/>
          <p:cNvSpPr/>
          <p:nvPr/>
        </p:nvSpPr>
        <p:spPr>
          <a:xfrm>
            <a:off x="4279392" y="1417320"/>
            <a:ext cx="3611880" cy="960120"/>
          </a:xfrm>
          <a:prstGeom prst="roundRect">
            <a:avLst>
              <a:gd name="adj" fmla="val 7619"/>
            </a:avLst>
          </a:prstGeom>
          <a:solidFill>
            <a:srgbClr val="F4F6F4"/>
          </a:solidFill>
          <a:ln w="9525">
            <a:solidFill>
              <a:srgbClr val="D9D7CE"/>
            </a:solidFill>
            <a:prstDash val="solid"/>
          </a:ln>
        </p:spPr>
      </p:sp>
      <p:sp>
        <p:nvSpPr>
          <p:cNvPr id="11" name="Shape 9"/>
          <p:cNvSpPr/>
          <p:nvPr/>
        </p:nvSpPr>
        <p:spPr>
          <a:xfrm>
            <a:off x="4507992" y="1719072"/>
            <a:ext cx="347472" cy="347472"/>
          </a:xfrm>
          <a:prstGeom prst="ellipse">
            <a:avLst/>
          </a:prstGeom>
          <a:solidFill>
            <a:srgbClr val="2F5D50"/>
          </a:solidFill>
          <a:ln w="12700">
            <a:solidFill>
              <a:srgbClr val="2F5D50"/>
            </a:solidFill>
            <a:prstDash val="solid"/>
          </a:ln>
        </p:spPr>
      </p:sp>
      <p:sp>
        <p:nvSpPr>
          <p:cNvPr id="12" name="Text 10"/>
          <p:cNvSpPr txBox="1"/>
          <p:nvPr/>
        </p:nvSpPr>
        <p:spPr>
          <a:xfrm>
            <a:off x="4507992" y="17282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13" name="Text 11"/>
          <p:cNvSpPr txBox="1"/>
          <p:nvPr/>
        </p:nvSpPr>
        <p:spPr>
          <a:xfrm>
            <a:off x="5010912" y="1581912"/>
            <a:ext cx="2743200" cy="320040"/>
          </a:xfrm>
          <a:prstGeom prst="rect">
            <a:avLst/>
          </a:prstGeom>
          <a:noFill/>
          <a:ln/>
        </p:spPr>
        <p:txBody>
          <a:bodyPr wrap="square" lIns="0" tIns="0" rIns="0" bIns="0" rtlCol="0" anchor="t"/>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대시보드</a:t>
            </a:r>
            <a:endParaRPr lang="en-US" sz="1400" dirty="0"/>
          </a:p>
        </p:txBody>
      </p:sp>
      <p:sp>
        <p:nvSpPr>
          <p:cNvPr id="14" name="Text 12"/>
          <p:cNvSpPr txBox="1"/>
          <p:nvPr/>
        </p:nvSpPr>
        <p:spPr>
          <a:xfrm>
            <a:off x="5010912" y="1920240"/>
            <a:ext cx="2788920" cy="36576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고른 격자의 핵심 지표와 근거</a:t>
            </a:r>
            <a:endParaRPr lang="en-US" sz="1100" dirty="0"/>
          </a:p>
        </p:txBody>
      </p:sp>
      <p:sp>
        <p:nvSpPr>
          <p:cNvPr id="15" name="Shape 13"/>
          <p:cNvSpPr/>
          <p:nvPr/>
        </p:nvSpPr>
        <p:spPr>
          <a:xfrm>
            <a:off x="8101584" y="1417320"/>
            <a:ext cx="3611880" cy="960120"/>
          </a:xfrm>
          <a:prstGeom prst="roundRect">
            <a:avLst>
              <a:gd name="adj" fmla="val 7619"/>
            </a:avLst>
          </a:prstGeom>
          <a:solidFill>
            <a:srgbClr val="F4F6F4"/>
          </a:solidFill>
          <a:ln w="9525">
            <a:solidFill>
              <a:srgbClr val="D9D7CE"/>
            </a:solidFill>
            <a:prstDash val="solid"/>
          </a:ln>
        </p:spPr>
      </p:sp>
      <p:sp>
        <p:nvSpPr>
          <p:cNvPr id="16" name="Shape 14"/>
          <p:cNvSpPr/>
          <p:nvPr/>
        </p:nvSpPr>
        <p:spPr>
          <a:xfrm>
            <a:off x="8330184" y="1719072"/>
            <a:ext cx="347472" cy="347472"/>
          </a:xfrm>
          <a:prstGeom prst="ellipse">
            <a:avLst/>
          </a:prstGeom>
          <a:solidFill>
            <a:srgbClr val="2F5D50"/>
          </a:solidFill>
          <a:ln w="12700">
            <a:solidFill>
              <a:srgbClr val="2F5D50"/>
            </a:solidFill>
            <a:prstDash val="solid"/>
          </a:ln>
        </p:spPr>
      </p:sp>
      <p:sp>
        <p:nvSpPr>
          <p:cNvPr id="17" name="Text 15"/>
          <p:cNvSpPr txBox="1"/>
          <p:nvPr/>
        </p:nvSpPr>
        <p:spPr>
          <a:xfrm>
            <a:off x="8330184" y="17282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3</a:t>
            </a:r>
            <a:endParaRPr lang="en-US" sz="1200" dirty="0"/>
          </a:p>
        </p:txBody>
      </p:sp>
      <p:sp>
        <p:nvSpPr>
          <p:cNvPr id="18" name="Text 16"/>
          <p:cNvSpPr txBox="1"/>
          <p:nvPr/>
        </p:nvSpPr>
        <p:spPr>
          <a:xfrm>
            <a:off x="8833104" y="1581912"/>
            <a:ext cx="2743200" cy="320040"/>
          </a:xfrm>
          <a:prstGeom prst="rect">
            <a:avLst/>
          </a:prstGeom>
          <a:noFill/>
          <a:ln/>
        </p:spPr>
        <p:txBody>
          <a:bodyPr wrap="square" lIns="0" tIns="0" rIns="0" bIns="0" rtlCol="0" anchor="t"/>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지도 분석</a:t>
            </a:r>
            <a:endParaRPr lang="en-US" sz="1400" dirty="0"/>
          </a:p>
        </p:txBody>
      </p:sp>
      <p:sp>
        <p:nvSpPr>
          <p:cNvPr id="19" name="Text 17"/>
          <p:cNvSpPr txBox="1"/>
          <p:nvPr/>
        </p:nvSpPr>
        <p:spPr>
          <a:xfrm>
            <a:off x="8833104" y="1920240"/>
            <a:ext cx="2788920" cy="36576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전국 → 시·도 → 시·군·구 → 격자·읍면동</a:t>
            </a:r>
            <a:endParaRPr lang="en-US" sz="1100" dirty="0"/>
          </a:p>
        </p:txBody>
      </p:sp>
      <p:sp>
        <p:nvSpPr>
          <p:cNvPr id="20" name="Shape 18"/>
          <p:cNvSpPr/>
          <p:nvPr/>
        </p:nvSpPr>
        <p:spPr>
          <a:xfrm>
            <a:off x="457200" y="2532888"/>
            <a:ext cx="3611880" cy="960120"/>
          </a:xfrm>
          <a:prstGeom prst="roundRect">
            <a:avLst>
              <a:gd name="adj" fmla="val 7619"/>
            </a:avLst>
          </a:prstGeom>
          <a:solidFill>
            <a:srgbClr val="F4F6F4"/>
          </a:solidFill>
          <a:ln w="9525">
            <a:solidFill>
              <a:srgbClr val="D9D7CE"/>
            </a:solidFill>
            <a:prstDash val="solid"/>
          </a:ln>
        </p:spPr>
      </p:sp>
      <p:sp>
        <p:nvSpPr>
          <p:cNvPr id="21" name="Shape 19"/>
          <p:cNvSpPr/>
          <p:nvPr/>
        </p:nvSpPr>
        <p:spPr>
          <a:xfrm>
            <a:off x="685800" y="2834640"/>
            <a:ext cx="347472" cy="347472"/>
          </a:xfrm>
          <a:prstGeom prst="ellipse">
            <a:avLst/>
          </a:prstGeom>
          <a:solidFill>
            <a:srgbClr val="2F5D50"/>
          </a:solidFill>
          <a:ln w="12700">
            <a:solidFill>
              <a:srgbClr val="2F5D50"/>
            </a:solidFill>
            <a:prstDash val="solid"/>
          </a:ln>
        </p:spPr>
      </p:sp>
      <p:sp>
        <p:nvSpPr>
          <p:cNvPr id="22" name="Text 20"/>
          <p:cNvSpPr txBox="1"/>
          <p:nvPr/>
        </p:nvSpPr>
        <p:spPr>
          <a:xfrm>
            <a:off x="685800" y="284378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4</a:t>
            </a:r>
            <a:endParaRPr lang="en-US" sz="1200" dirty="0"/>
          </a:p>
        </p:txBody>
      </p:sp>
      <p:sp>
        <p:nvSpPr>
          <p:cNvPr id="23" name="Text 21"/>
          <p:cNvSpPr txBox="1"/>
          <p:nvPr/>
        </p:nvSpPr>
        <p:spPr>
          <a:xfrm>
            <a:off x="1188720" y="2697480"/>
            <a:ext cx="2743200" cy="320040"/>
          </a:xfrm>
          <a:prstGeom prst="rect">
            <a:avLst/>
          </a:prstGeom>
          <a:noFill/>
          <a:ln/>
        </p:spPr>
        <p:txBody>
          <a:bodyPr wrap="square" lIns="0" tIns="0" rIns="0" bIns="0" rtlCol="0" anchor="t"/>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분석</a:t>
            </a:r>
            <a:endParaRPr lang="en-US" sz="1400" dirty="0"/>
          </a:p>
        </p:txBody>
      </p:sp>
      <p:sp>
        <p:nvSpPr>
          <p:cNvPr id="24" name="Text 22"/>
          <p:cNvSpPr txBox="1"/>
          <p:nvPr/>
        </p:nvSpPr>
        <p:spPr>
          <a:xfrm>
            <a:off x="1188720" y="3035808"/>
            <a:ext cx="2788920" cy="36576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난방도일·인구·용도지역과 에너지의 관계</a:t>
            </a:r>
            <a:endParaRPr lang="en-US" sz="1100" dirty="0"/>
          </a:p>
        </p:txBody>
      </p:sp>
      <p:sp>
        <p:nvSpPr>
          <p:cNvPr id="25" name="Shape 23"/>
          <p:cNvSpPr/>
          <p:nvPr/>
        </p:nvSpPr>
        <p:spPr>
          <a:xfrm>
            <a:off x="4279392" y="2532888"/>
            <a:ext cx="3611880" cy="960120"/>
          </a:xfrm>
          <a:prstGeom prst="roundRect">
            <a:avLst>
              <a:gd name="adj" fmla="val 7619"/>
            </a:avLst>
          </a:prstGeom>
          <a:solidFill>
            <a:srgbClr val="F4F6F4"/>
          </a:solidFill>
          <a:ln w="9525">
            <a:solidFill>
              <a:srgbClr val="D9D7CE"/>
            </a:solidFill>
            <a:prstDash val="solid"/>
          </a:ln>
        </p:spPr>
      </p:sp>
      <p:sp>
        <p:nvSpPr>
          <p:cNvPr id="26" name="Shape 24"/>
          <p:cNvSpPr/>
          <p:nvPr/>
        </p:nvSpPr>
        <p:spPr>
          <a:xfrm>
            <a:off x="4507992" y="2834640"/>
            <a:ext cx="347472" cy="347472"/>
          </a:xfrm>
          <a:prstGeom prst="ellipse">
            <a:avLst/>
          </a:prstGeom>
          <a:solidFill>
            <a:srgbClr val="2F5D50"/>
          </a:solidFill>
          <a:ln w="12700">
            <a:solidFill>
              <a:srgbClr val="2F5D50"/>
            </a:solidFill>
            <a:prstDash val="solid"/>
          </a:ln>
        </p:spPr>
      </p:sp>
      <p:sp>
        <p:nvSpPr>
          <p:cNvPr id="27" name="Text 25"/>
          <p:cNvSpPr txBox="1"/>
          <p:nvPr/>
        </p:nvSpPr>
        <p:spPr>
          <a:xfrm>
            <a:off x="4507992" y="284378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5</a:t>
            </a:r>
            <a:endParaRPr lang="en-US" sz="1200" dirty="0"/>
          </a:p>
        </p:txBody>
      </p:sp>
      <p:sp>
        <p:nvSpPr>
          <p:cNvPr id="28" name="Text 26"/>
          <p:cNvSpPr txBox="1"/>
          <p:nvPr/>
        </p:nvSpPr>
        <p:spPr>
          <a:xfrm>
            <a:off x="5010912" y="2697480"/>
            <a:ext cx="2743200" cy="320040"/>
          </a:xfrm>
          <a:prstGeom prst="rect">
            <a:avLst/>
          </a:prstGeom>
          <a:noFill/>
          <a:ln/>
        </p:spPr>
        <p:txBody>
          <a:bodyPr wrap="square" lIns="0" tIns="0" rIns="0" bIns="0" rtlCol="0" anchor="t"/>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모델</a:t>
            </a:r>
            <a:endParaRPr lang="en-US" sz="1400" dirty="0"/>
          </a:p>
        </p:txBody>
      </p:sp>
      <p:sp>
        <p:nvSpPr>
          <p:cNvPr id="29" name="Text 27"/>
          <p:cNvSpPr txBox="1"/>
          <p:nvPr/>
        </p:nvSpPr>
        <p:spPr>
          <a:xfrm>
            <a:off x="5010912" y="3035808"/>
            <a:ext cx="2788920" cy="36576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모델 검증, 공식 통계와 맞대기</a:t>
            </a:r>
            <a:endParaRPr lang="en-US" sz="1100" dirty="0"/>
          </a:p>
        </p:txBody>
      </p:sp>
      <p:sp>
        <p:nvSpPr>
          <p:cNvPr id="30" name="Shape 28"/>
          <p:cNvSpPr/>
          <p:nvPr/>
        </p:nvSpPr>
        <p:spPr>
          <a:xfrm>
            <a:off x="8101584" y="2532888"/>
            <a:ext cx="3611880" cy="960120"/>
          </a:xfrm>
          <a:prstGeom prst="roundRect">
            <a:avLst>
              <a:gd name="adj" fmla="val 7619"/>
            </a:avLst>
          </a:prstGeom>
          <a:solidFill>
            <a:srgbClr val="F4F6F4"/>
          </a:solidFill>
          <a:ln w="9525">
            <a:solidFill>
              <a:srgbClr val="D9D7CE"/>
            </a:solidFill>
            <a:prstDash val="solid"/>
          </a:ln>
        </p:spPr>
      </p:sp>
      <p:sp>
        <p:nvSpPr>
          <p:cNvPr id="31" name="Shape 29"/>
          <p:cNvSpPr/>
          <p:nvPr/>
        </p:nvSpPr>
        <p:spPr>
          <a:xfrm>
            <a:off x="8330184" y="2834640"/>
            <a:ext cx="347472" cy="347472"/>
          </a:xfrm>
          <a:prstGeom prst="ellipse">
            <a:avLst/>
          </a:prstGeom>
          <a:solidFill>
            <a:srgbClr val="2F5D50"/>
          </a:solidFill>
          <a:ln w="12700">
            <a:solidFill>
              <a:srgbClr val="2F5D50"/>
            </a:solidFill>
            <a:prstDash val="solid"/>
          </a:ln>
        </p:spPr>
      </p:sp>
      <p:sp>
        <p:nvSpPr>
          <p:cNvPr id="32" name="Text 30"/>
          <p:cNvSpPr txBox="1"/>
          <p:nvPr/>
        </p:nvSpPr>
        <p:spPr>
          <a:xfrm>
            <a:off x="8330184" y="284378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6</a:t>
            </a:r>
            <a:endParaRPr lang="en-US" sz="1200" dirty="0"/>
          </a:p>
        </p:txBody>
      </p:sp>
      <p:sp>
        <p:nvSpPr>
          <p:cNvPr id="33" name="Text 31"/>
          <p:cNvSpPr txBox="1"/>
          <p:nvPr/>
        </p:nvSpPr>
        <p:spPr>
          <a:xfrm>
            <a:off x="8833104" y="2697480"/>
            <a:ext cx="2743200" cy="320040"/>
          </a:xfrm>
          <a:prstGeom prst="rect">
            <a:avLst/>
          </a:prstGeom>
          <a:noFill/>
          <a:ln/>
        </p:spPr>
        <p:txBody>
          <a:bodyPr wrap="square" lIns="0" tIns="0" rIns="0" bIns="0" rtlCol="0" anchor="t"/>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지역 시뮬레이션</a:t>
            </a:r>
            <a:endParaRPr lang="en-US" sz="1400" dirty="0"/>
          </a:p>
        </p:txBody>
      </p:sp>
      <p:sp>
        <p:nvSpPr>
          <p:cNvPr id="34" name="Text 32"/>
          <p:cNvSpPr txBox="1"/>
          <p:nvPr/>
        </p:nvSpPr>
        <p:spPr>
          <a:xfrm>
            <a:off x="8833104" y="3035808"/>
            <a:ext cx="2788920" cy="36576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구역을 그려 개발 전후·감축 목표</a:t>
            </a:r>
            <a:endParaRPr lang="en-US" sz="1100" dirty="0"/>
          </a:p>
        </p:txBody>
      </p:sp>
      <p:sp>
        <p:nvSpPr>
          <p:cNvPr id="35" name="Shape 33"/>
          <p:cNvSpPr/>
          <p:nvPr/>
        </p:nvSpPr>
        <p:spPr>
          <a:xfrm>
            <a:off x="457200" y="3648456"/>
            <a:ext cx="3611880" cy="960120"/>
          </a:xfrm>
          <a:prstGeom prst="roundRect">
            <a:avLst>
              <a:gd name="adj" fmla="val 7619"/>
            </a:avLst>
          </a:prstGeom>
          <a:solidFill>
            <a:srgbClr val="F4F6F4"/>
          </a:solidFill>
          <a:ln w="9525">
            <a:solidFill>
              <a:srgbClr val="D9D7CE"/>
            </a:solidFill>
            <a:prstDash val="solid"/>
          </a:ln>
        </p:spPr>
      </p:sp>
      <p:sp>
        <p:nvSpPr>
          <p:cNvPr id="36" name="Shape 34"/>
          <p:cNvSpPr/>
          <p:nvPr/>
        </p:nvSpPr>
        <p:spPr>
          <a:xfrm>
            <a:off x="685800" y="3950208"/>
            <a:ext cx="347472" cy="347472"/>
          </a:xfrm>
          <a:prstGeom prst="ellipse">
            <a:avLst/>
          </a:prstGeom>
          <a:solidFill>
            <a:srgbClr val="2F5D50"/>
          </a:solidFill>
          <a:ln w="12700">
            <a:solidFill>
              <a:srgbClr val="2F5D50"/>
            </a:solidFill>
            <a:prstDash val="solid"/>
          </a:ln>
        </p:spPr>
      </p:sp>
      <p:sp>
        <p:nvSpPr>
          <p:cNvPr id="37" name="Text 35"/>
          <p:cNvSpPr txBox="1"/>
          <p:nvPr/>
        </p:nvSpPr>
        <p:spPr>
          <a:xfrm>
            <a:off x="685800" y="39593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7</a:t>
            </a:r>
            <a:endParaRPr lang="en-US" sz="1200" dirty="0"/>
          </a:p>
        </p:txBody>
      </p:sp>
      <p:sp>
        <p:nvSpPr>
          <p:cNvPr id="38" name="Text 36"/>
          <p:cNvSpPr txBox="1"/>
          <p:nvPr/>
        </p:nvSpPr>
        <p:spPr>
          <a:xfrm>
            <a:off x="1188720" y="3813048"/>
            <a:ext cx="2743200" cy="320040"/>
          </a:xfrm>
          <a:prstGeom prst="rect">
            <a:avLst/>
          </a:prstGeom>
          <a:noFill/>
          <a:ln/>
        </p:spPr>
        <p:txBody>
          <a:bodyPr wrap="square" lIns="0" tIns="0" rIns="0" bIns="0" rtlCol="0" anchor="t"/>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시뮬레이션</a:t>
            </a:r>
            <a:endParaRPr lang="en-US" sz="1400" dirty="0"/>
          </a:p>
        </p:txBody>
      </p:sp>
      <p:sp>
        <p:nvSpPr>
          <p:cNvPr id="39" name="Text 37"/>
          <p:cNvSpPr txBox="1"/>
          <p:nvPr/>
        </p:nvSpPr>
        <p:spPr>
          <a:xfrm>
            <a:off x="1188720" y="4151376"/>
            <a:ext cx="2788920" cy="36576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격자에 계획안 입력, 3D 배치·일조</a:t>
            </a:r>
            <a:endParaRPr lang="en-US" sz="1100" dirty="0"/>
          </a:p>
        </p:txBody>
      </p:sp>
      <p:sp>
        <p:nvSpPr>
          <p:cNvPr id="40" name="Shape 38"/>
          <p:cNvSpPr/>
          <p:nvPr/>
        </p:nvSpPr>
        <p:spPr>
          <a:xfrm>
            <a:off x="4279392" y="3648456"/>
            <a:ext cx="3611880" cy="960120"/>
          </a:xfrm>
          <a:prstGeom prst="roundRect">
            <a:avLst>
              <a:gd name="adj" fmla="val 7619"/>
            </a:avLst>
          </a:prstGeom>
          <a:solidFill>
            <a:srgbClr val="F4F6F4"/>
          </a:solidFill>
          <a:ln w="9525">
            <a:solidFill>
              <a:srgbClr val="D9D7CE"/>
            </a:solidFill>
            <a:prstDash val="solid"/>
          </a:ln>
        </p:spPr>
      </p:sp>
      <p:sp>
        <p:nvSpPr>
          <p:cNvPr id="41" name="Shape 39"/>
          <p:cNvSpPr/>
          <p:nvPr/>
        </p:nvSpPr>
        <p:spPr>
          <a:xfrm>
            <a:off x="4507992" y="3950208"/>
            <a:ext cx="347472" cy="347472"/>
          </a:xfrm>
          <a:prstGeom prst="ellipse">
            <a:avLst/>
          </a:prstGeom>
          <a:solidFill>
            <a:srgbClr val="2F5D50"/>
          </a:solidFill>
          <a:ln w="12700">
            <a:solidFill>
              <a:srgbClr val="2F5D50"/>
            </a:solidFill>
            <a:prstDash val="solid"/>
          </a:ln>
        </p:spPr>
      </p:sp>
      <p:sp>
        <p:nvSpPr>
          <p:cNvPr id="42" name="Text 40"/>
          <p:cNvSpPr txBox="1"/>
          <p:nvPr/>
        </p:nvSpPr>
        <p:spPr>
          <a:xfrm>
            <a:off x="4507992" y="39593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8</a:t>
            </a:r>
            <a:endParaRPr lang="en-US" sz="1200" dirty="0"/>
          </a:p>
        </p:txBody>
      </p:sp>
      <p:sp>
        <p:nvSpPr>
          <p:cNvPr id="43" name="Text 41"/>
          <p:cNvSpPr txBox="1"/>
          <p:nvPr/>
        </p:nvSpPr>
        <p:spPr>
          <a:xfrm>
            <a:off x="5010912" y="3813048"/>
            <a:ext cx="2743200" cy="320040"/>
          </a:xfrm>
          <a:prstGeom prst="rect">
            <a:avLst/>
          </a:prstGeom>
          <a:noFill/>
          <a:ln/>
        </p:spPr>
        <p:txBody>
          <a:bodyPr wrap="square" lIns="0" tIns="0" rIns="0" bIns="0" rtlCol="0" anchor="t"/>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수집 데이터</a:t>
            </a:r>
            <a:endParaRPr lang="en-US" sz="1400" dirty="0"/>
          </a:p>
        </p:txBody>
      </p:sp>
      <p:sp>
        <p:nvSpPr>
          <p:cNvPr id="44" name="Text 42"/>
          <p:cNvSpPr txBox="1"/>
          <p:nvPr/>
        </p:nvSpPr>
        <p:spPr>
          <a:xfrm>
            <a:off x="5010912" y="4151376"/>
            <a:ext cx="2788920" cy="36576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자료별 수집 상태, 빠진 자료 받기</a:t>
            </a:r>
            <a:endParaRPr lang="en-US" sz="1100" dirty="0"/>
          </a:p>
        </p:txBody>
      </p:sp>
      <p:sp>
        <p:nvSpPr>
          <p:cNvPr id="45" name="Shape 43"/>
          <p:cNvSpPr/>
          <p:nvPr/>
        </p:nvSpPr>
        <p:spPr>
          <a:xfrm>
            <a:off x="8101584" y="3648456"/>
            <a:ext cx="3611880" cy="960120"/>
          </a:xfrm>
          <a:prstGeom prst="roundRect">
            <a:avLst>
              <a:gd name="adj" fmla="val 7619"/>
            </a:avLst>
          </a:prstGeom>
          <a:solidFill>
            <a:srgbClr val="F4F6F4"/>
          </a:solidFill>
          <a:ln w="9525">
            <a:solidFill>
              <a:srgbClr val="D9D7CE"/>
            </a:solidFill>
            <a:prstDash val="solid"/>
          </a:ln>
        </p:spPr>
      </p:sp>
      <p:sp>
        <p:nvSpPr>
          <p:cNvPr id="46" name="Shape 44"/>
          <p:cNvSpPr/>
          <p:nvPr/>
        </p:nvSpPr>
        <p:spPr>
          <a:xfrm>
            <a:off x="8330184" y="3950208"/>
            <a:ext cx="347472" cy="347472"/>
          </a:xfrm>
          <a:prstGeom prst="ellipse">
            <a:avLst/>
          </a:prstGeom>
          <a:solidFill>
            <a:srgbClr val="2F5D50"/>
          </a:solidFill>
          <a:ln w="12700">
            <a:solidFill>
              <a:srgbClr val="2F5D50"/>
            </a:solidFill>
            <a:prstDash val="solid"/>
          </a:ln>
        </p:spPr>
      </p:sp>
      <p:sp>
        <p:nvSpPr>
          <p:cNvPr id="47" name="Text 45"/>
          <p:cNvSpPr txBox="1"/>
          <p:nvPr/>
        </p:nvSpPr>
        <p:spPr>
          <a:xfrm>
            <a:off x="8330184" y="39593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9</a:t>
            </a:r>
            <a:endParaRPr lang="en-US" sz="1200" dirty="0"/>
          </a:p>
        </p:txBody>
      </p:sp>
      <p:sp>
        <p:nvSpPr>
          <p:cNvPr id="48" name="Text 46"/>
          <p:cNvSpPr txBox="1"/>
          <p:nvPr/>
        </p:nvSpPr>
        <p:spPr>
          <a:xfrm>
            <a:off x="8833104" y="3813048"/>
            <a:ext cx="2743200" cy="320040"/>
          </a:xfrm>
          <a:prstGeom prst="rect">
            <a:avLst/>
          </a:prstGeom>
          <a:noFill/>
          <a:ln/>
        </p:spPr>
        <p:txBody>
          <a:bodyPr wrap="square" lIns="0" tIns="0" rIns="0" bIns="0" rtlCol="0" anchor="t"/>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검토 보고서</a:t>
            </a:r>
            <a:endParaRPr lang="en-US" sz="1400" dirty="0"/>
          </a:p>
        </p:txBody>
      </p:sp>
      <p:sp>
        <p:nvSpPr>
          <p:cNvPr id="49" name="Text 47"/>
          <p:cNvSpPr txBox="1"/>
          <p:nvPr/>
        </p:nvSpPr>
        <p:spPr>
          <a:xfrm>
            <a:off x="8833104" y="4151376"/>
            <a:ext cx="2788920" cy="36576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계획안 비교 보고서 (마크다운·PDF)</a:t>
            </a:r>
            <a:endParaRPr lang="en-US" sz="1100" dirty="0"/>
          </a:p>
        </p:txBody>
      </p:sp>
      <p:sp>
        <p:nvSpPr>
          <p:cNvPr id="50" name="Shape 48"/>
          <p:cNvSpPr/>
          <p:nvPr/>
        </p:nvSpPr>
        <p:spPr>
          <a:xfrm>
            <a:off x="438912" y="4919472"/>
            <a:ext cx="8266176" cy="825808"/>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51" name="Image 0" descr="u17-header.jpg">    </p:cNvPr>
          <p:cNvPicPr>
            <a:picLocks noChangeAspect="1"/>
          </p:cNvPicPr>
          <p:nvPr/>
        </p:nvPicPr>
        <p:blipFill>
          <a:blip r:embed="rId1"/>
          <a:stretch>
            <a:fillRect/>
          </a:stretch>
        </p:blipFill>
        <p:spPr>
          <a:xfrm>
            <a:off x="457200" y="4937760"/>
            <a:ext cx="8229600" cy="789232"/>
          </a:xfrm>
          <a:prstGeom prst="rect">
            <a:avLst/>
          </a:prstGeom>
        </p:spPr>
      </p:pic>
      <p:sp>
        <p:nvSpPr>
          <p:cNvPr id="52" name="Text 49"/>
          <p:cNvSpPr txBox="1"/>
          <p:nvPr/>
        </p:nvSpPr>
        <p:spPr>
          <a:xfrm>
            <a:off x="457200" y="5806440"/>
            <a:ext cx="11247120" cy="457200"/>
          </a:xfrm>
          <a:prstGeom prst="rect">
            <a:avLst/>
          </a:prstGeom>
          <a:noFill/>
          <a:ln/>
        </p:spPr>
        <p:txBody>
          <a:bodyPr wrap="square" lIns="0" tIns="0" rIns="0" bIns="0" rtlCol="0" anchor="t"/>
          <a:lstStyle/>
          <a:p>
            <a:pPr indent="0" marL="0">
              <a:buNone/>
            </a:pPr>
            <a:r>
              <a:rPr lang="en-US" sz="1150" dirty="0">
                <a:solidFill>
                  <a:srgbClr val="505B55"/>
                </a:solidFill>
                <a:latin typeface="Malgun Gothic" pitchFamily="34" charset="0"/>
                <a:ea typeface="Malgun Gothic" pitchFamily="34" charset="-122"/>
                <a:cs typeface="Malgun Gothic" pitchFamily="34" charset="-120"/>
              </a:rPr>
              <a:t>위쪽 머리: 분석 지역·연도·격자를 보여 주고, 시·도 → 시·군·구 → 분석연도를 고릅니다. 고른 범위는 모든 화면에 같이 적용됩니다.</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11</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사용법 ①</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지역 고르기: 전국 지도에서 시·도, 시·군·구로 들어갑니다</a:t>
            </a:r>
            <a:endParaRPr lang="en-US" sz="2500" dirty="0"/>
          </a:p>
        </p:txBody>
      </p:sp>
      <p:sp>
        <p:nvSpPr>
          <p:cNvPr id="5" name="Shape 3"/>
          <p:cNvSpPr/>
          <p:nvPr/>
        </p:nvSpPr>
        <p:spPr>
          <a:xfrm>
            <a:off x="438912" y="1307592"/>
            <a:ext cx="5559552" cy="3577886"/>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6" name="Image 0" descr="u01-national-c.jpg">    </p:cNvPr>
          <p:cNvPicPr>
            <a:picLocks noChangeAspect="1"/>
          </p:cNvPicPr>
          <p:nvPr/>
        </p:nvPicPr>
        <p:blipFill>
          <a:blip r:embed="rId1"/>
          <a:stretch>
            <a:fillRect/>
          </a:stretch>
        </p:blipFill>
        <p:spPr>
          <a:xfrm>
            <a:off x="457200" y="1325880"/>
            <a:ext cx="5522976" cy="3541310"/>
          </a:xfrm>
          <a:prstGeom prst="rect">
            <a:avLst/>
          </a:prstGeom>
        </p:spPr>
      </p:pic>
      <p:sp>
        <p:nvSpPr>
          <p:cNvPr id="7" name="Shape 4"/>
          <p:cNvSpPr/>
          <p:nvPr/>
        </p:nvSpPr>
        <p:spPr>
          <a:xfrm>
            <a:off x="6190488" y="1307592"/>
            <a:ext cx="5559552" cy="3577886"/>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8" name="Image 1" descr="u03-national-sgg-c.jpg">    </p:cNvPr>
          <p:cNvPicPr>
            <a:picLocks noChangeAspect="1"/>
          </p:cNvPicPr>
          <p:nvPr/>
        </p:nvPicPr>
        <p:blipFill>
          <a:blip r:embed="rId2"/>
          <a:stretch>
            <a:fillRect/>
          </a:stretch>
        </p:blipFill>
        <p:spPr>
          <a:xfrm>
            <a:off x="6208776" y="1325880"/>
            <a:ext cx="5522976" cy="3541310"/>
          </a:xfrm>
          <a:prstGeom prst="rect">
            <a:avLst/>
          </a:prstGeom>
        </p:spPr>
      </p:pic>
      <p:sp>
        <p:nvSpPr>
          <p:cNvPr id="9" name="Shape 5"/>
          <p:cNvSpPr/>
          <p:nvPr/>
        </p:nvSpPr>
        <p:spPr>
          <a:xfrm>
            <a:off x="457200" y="5120640"/>
            <a:ext cx="329184" cy="329184"/>
          </a:xfrm>
          <a:prstGeom prst="ellipse">
            <a:avLst/>
          </a:prstGeom>
          <a:solidFill>
            <a:srgbClr val="2F5D50"/>
          </a:solidFill>
          <a:ln w="12700">
            <a:solidFill>
              <a:srgbClr val="2F5D50"/>
            </a:solidFill>
            <a:prstDash val="solid"/>
          </a:ln>
        </p:spPr>
      </p:sp>
      <p:sp>
        <p:nvSpPr>
          <p:cNvPr id="10" name="Text 6"/>
          <p:cNvSpPr txBox="1"/>
          <p:nvPr/>
        </p:nvSpPr>
        <p:spPr>
          <a:xfrm>
            <a:off x="457200" y="51297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11" name="Text 7"/>
          <p:cNvSpPr txBox="1"/>
          <p:nvPr/>
        </p:nvSpPr>
        <p:spPr>
          <a:xfrm>
            <a:off x="914400" y="5138928"/>
            <a:ext cx="3163824" cy="292608"/>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시·도 고르기</a:t>
            </a:r>
            <a:endParaRPr lang="en-US" sz="1350" dirty="0"/>
          </a:p>
        </p:txBody>
      </p:sp>
      <p:sp>
        <p:nvSpPr>
          <p:cNvPr id="12" name="Text 8"/>
          <p:cNvSpPr txBox="1"/>
          <p:nvPr/>
        </p:nvSpPr>
        <p:spPr>
          <a:xfrm>
            <a:off x="914400" y="5468112"/>
            <a:ext cx="3163824" cy="82296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지도에서 누르거나 왼쪽 목록·위쪽 메뉴에서 고릅니다.</a:t>
            </a:r>
            <a:endParaRPr lang="en-US" sz="1150" dirty="0"/>
          </a:p>
        </p:txBody>
      </p:sp>
      <p:sp>
        <p:nvSpPr>
          <p:cNvPr id="13" name="Shape 9"/>
          <p:cNvSpPr/>
          <p:nvPr/>
        </p:nvSpPr>
        <p:spPr>
          <a:xfrm>
            <a:off x="4215384" y="5120640"/>
            <a:ext cx="329184" cy="329184"/>
          </a:xfrm>
          <a:prstGeom prst="ellipse">
            <a:avLst/>
          </a:prstGeom>
          <a:solidFill>
            <a:srgbClr val="2F5D50"/>
          </a:solidFill>
          <a:ln w="12700">
            <a:solidFill>
              <a:srgbClr val="2F5D50"/>
            </a:solidFill>
            <a:prstDash val="solid"/>
          </a:ln>
        </p:spPr>
      </p:sp>
      <p:sp>
        <p:nvSpPr>
          <p:cNvPr id="14" name="Text 10"/>
          <p:cNvSpPr txBox="1"/>
          <p:nvPr/>
        </p:nvSpPr>
        <p:spPr>
          <a:xfrm>
            <a:off x="4215384" y="51297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15" name="Text 11"/>
          <p:cNvSpPr txBox="1"/>
          <p:nvPr/>
        </p:nvSpPr>
        <p:spPr>
          <a:xfrm>
            <a:off x="4672584" y="5138928"/>
            <a:ext cx="3163824" cy="292608"/>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지표 바꾸기</a:t>
            </a:r>
            <a:endParaRPr lang="en-US" sz="1350" dirty="0"/>
          </a:p>
        </p:txBody>
      </p:sp>
      <p:sp>
        <p:nvSpPr>
          <p:cNvPr id="16" name="Text 12"/>
          <p:cNvSpPr txBox="1"/>
          <p:nvPr/>
        </p:nvSpPr>
        <p:spPr>
          <a:xfrm>
            <a:off x="4672584" y="5468112"/>
            <a:ext cx="3163824" cy="82296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인구·주택·한전 전력·온실가스 등 14개 지표로 시·군·구를 칠합니다.</a:t>
            </a:r>
            <a:endParaRPr lang="en-US" sz="1150" dirty="0"/>
          </a:p>
        </p:txBody>
      </p:sp>
      <p:sp>
        <p:nvSpPr>
          <p:cNvPr id="17" name="Shape 13"/>
          <p:cNvSpPr/>
          <p:nvPr/>
        </p:nvSpPr>
        <p:spPr>
          <a:xfrm>
            <a:off x="7973568" y="5120640"/>
            <a:ext cx="329184" cy="329184"/>
          </a:xfrm>
          <a:prstGeom prst="ellipse">
            <a:avLst/>
          </a:prstGeom>
          <a:solidFill>
            <a:srgbClr val="2F5D50"/>
          </a:solidFill>
          <a:ln w="12700">
            <a:solidFill>
              <a:srgbClr val="2F5D50"/>
            </a:solidFill>
            <a:prstDash val="solid"/>
          </a:ln>
        </p:spPr>
      </p:sp>
      <p:sp>
        <p:nvSpPr>
          <p:cNvPr id="18" name="Text 14"/>
          <p:cNvSpPr txBox="1"/>
          <p:nvPr/>
        </p:nvSpPr>
        <p:spPr>
          <a:xfrm>
            <a:off x="7973568" y="51297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3</a:t>
            </a:r>
            <a:endParaRPr lang="en-US" sz="1200" dirty="0"/>
          </a:p>
        </p:txBody>
      </p:sp>
      <p:sp>
        <p:nvSpPr>
          <p:cNvPr id="19" name="Text 15"/>
          <p:cNvSpPr txBox="1"/>
          <p:nvPr/>
        </p:nvSpPr>
        <p:spPr>
          <a:xfrm>
            <a:off x="8430768" y="5138928"/>
            <a:ext cx="3163824" cy="292608"/>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시·군·구 요약</a:t>
            </a:r>
            <a:endParaRPr lang="en-US" sz="1350" dirty="0"/>
          </a:p>
        </p:txBody>
      </p:sp>
      <p:sp>
        <p:nvSpPr>
          <p:cNvPr id="20" name="Text 16"/>
          <p:cNvSpPr txBox="1"/>
          <p:nvPr/>
        </p:nvSpPr>
        <p:spPr>
          <a:xfrm>
            <a:off x="8430768" y="5468112"/>
            <a:ext cx="3163824" cy="82296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누르면 요약과 에너지 관측 유무가 나오고 "지도 열기"로 들어갑니다.</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12</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사용법 ②</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지도 읽기: 지표를 골라 500m 격자를 칠하고, 격자를 누릅니다</a:t>
            </a:r>
            <a:endParaRPr lang="en-US" sz="2500" dirty="0"/>
          </a:p>
        </p:txBody>
      </p:sp>
      <p:sp>
        <p:nvSpPr>
          <p:cNvPr id="5" name="Shape 3"/>
          <p:cNvSpPr/>
          <p:nvPr/>
        </p:nvSpPr>
        <p:spPr>
          <a:xfrm>
            <a:off x="438912" y="1307592"/>
            <a:ext cx="5559552" cy="3577886"/>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6" name="Image 0" descr="u05-region-map-c.jpg">    </p:cNvPr>
          <p:cNvPicPr>
            <a:picLocks noChangeAspect="1"/>
          </p:cNvPicPr>
          <p:nvPr/>
        </p:nvPicPr>
        <p:blipFill>
          <a:blip r:embed="rId1"/>
          <a:stretch>
            <a:fillRect/>
          </a:stretch>
        </p:blipFill>
        <p:spPr>
          <a:xfrm>
            <a:off x="457200" y="1325880"/>
            <a:ext cx="5522976" cy="3541310"/>
          </a:xfrm>
          <a:prstGeom prst="rect">
            <a:avLst/>
          </a:prstGeom>
        </p:spPr>
      </p:pic>
      <p:sp>
        <p:nvSpPr>
          <p:cNvPr id="7" name="Shape 4"/>
          <p:cNvSpPr/>
          <p:nvPr/>
        </p:nvSpPr>
        <p:spPr>
          <a:xfrm>
            <a:off x="6190488" y="1307592"/>
            <a:ext cx="5559552" cy="3577886"/>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8" name="Image 1" descr="u19-sgis500-detail-c.jpg">    </p:cNvPr>
          <p:cNvPicPr>
            <a:picLocks noChangeAspect="1"/>
          </p:cNvPicPr>
          <p:nvPr/>
        </p:nvPicPr>
        <p:blipFill>
          <a:blip r:embed="rId2"/>
          <a:stretch>
            <a:fillRect/>
          </a:stretch>
        </p:blipFill>
        <p:spPr>
          <a:xfrm>
            <a:off x="6208776" y="1325880"/>
            <a:ext cx="5522976" cy="3541310"/>
          </a:xfrm>
          <a:prstGeom prst="rect">
            <a:avLst/>
          </a:prstGeom>
        </p:spPr>
      </p:pic>
      <p:sp>
        <p:nvSpPr>
          <p:cNvPr id="9" name="Shape 5"/>
          <p:cNvSpPr/>
          <p:nvPr/>
        </p:nvSpPr>
        <p:spPr>
          <a:xfrm>
            <a:off x="457200" y="5120640"/>
            <a:ext cx="329184" cy="329184"/>
          </a:xfrm>
          <a:prstGeom prst="ellipse">
            <a:avLst/>
          </a:prstGeom>
          <a:solidFill>
            <a:srgbClr val="2F5D50"/>
          </a:solidFill>
          <a:ln w="12700">
            <a:solidFill>
              <a:srgbClr val="2F5D50"/>
            </a:solidFill>
            <a:prstDash val="solid"/>
          </a:ln>
        </p:spPr>
      </p:sp>
      <p:sp>
        <p:nvSpPr>
          <p:cNvPr id="10" name="Text 6"/>
          <p:cNvSpPr txBox="1"/>
          <p:nvPr/>
        </p:nvSpPr>
        <p:spPr>
          <a:xfrm>
            <a:off x="457200" y="51297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11" name="Text 7"/>
          <p:cNvSpPr txBox="1"/>
          <p:nvPr/>
        </p:nvSpPr>
        <p:spPr>
          <a:xfrm>
            <a:off x="914400" y="5138928"/>
            <a:ext cx="3163824" cy="292608"/>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지표 고르기</a:t>
            </a:r>
            <a:endParaRPr lang="en-US" sz="1350" dirty="0"/>
          </a:p>
        </p:txBody>
      </p:sp>
      <p:sp>
        <p:nvSpPr>
          <p:cNvPr id="12" name="Text 8"/>
          <p:cNvSpPr txBox="1"/>
          <p:nvPr/>
        </p:nvSpPr>
        <p:spPr>
          <a:xfrm>
            <a:off x="914400" y="5468112"/>
            <a:ext cx="3163824" cy="82296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건물 전체 전력·가스, 원단위, 탄소, 용적률, 노후 연면적, 500m 인구 등.</a:t>
            </a:r>
            <a:endParaRPr lang="en-US" sz="1150" dirty="0"/>
          </a:p>
        </p:txBody>
      </p:sp>
      <p:sp>
        <p:nvSpPr>
          <p:cNvPr id="13" name="Shape 9"/>
          <p:cNvSpPr/>
          <p:nvPr/>
        </p:nvSpPr>
        <p:spPr>
          <a:xfrm>
            <a:off x="4215384" y="5120640"/>
            <a:ext cx="329184" cy="329184"/>
          </a:xfrm>
          <a:prstGeom prst="ellipse">
            <a:avLst/>
          </a:prstGeom>
          <a:solidFill>
            <a:srgbClr val="2F5D50"/>
          </a:solidFill>
          <a:ln w="12700">
            <a:solidFill>
              <a:srgbClr val="2F5D50"/>
            </a:solidFill>
            <a:prstDash val="solid"/>
          </a:ln>
        </p:spPr>
      </p:sp>
      <p:sp>
        <p:nvSpPr>
          <p:cNvPr id="14" name="Text 10"/>
          <p:cNvSpPr txBox="1"/>
          <p:nvPr/>
        </p:nvSpPr>
        <p:spPr>
          <a:xfrm>
            <a:off x="4215384" y="51297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15" name="Text 11"/>
          <p:cNvSpPr txBox="1"/>
          <p:nvPr/>
        </p:nvSpPr>
        <p:spPr>
          <a:xfrm>
            <a:off x="4672584" y="5138928"/>
            <a:ext cx="3163824" cy="292608"/>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범례 읽기</a:t>
            </a:r>
            <a:endParaRPr lang="en-US" sz="1350" dirty="0"/>
          </a:p>
        </p:txBody>
      </p:sp>
      <p:sp>
        <p:nvSpPr>
          <p:cNvPr id="16" name="Text 12"/>
          <p:cNvSpPr txBox="1"/>
          <p:nvPr/>
        </p:nvSpPr>
        <p:spPr>
          <a:xfrm>
            <a:off x="4672584" y="5468112"/>
            <a:ext cx="3163824" cy="82296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"정의·산식·활용"을 펼치면 계산법과 쓰임이 나옵니다. 빗금은 자료 없음(0 아님).</a:t>
            </a:r>
            <a:endParaRPr lang="en-US" sz="1150" dirty="0"/>
          </a:p>
        </p:txBody>
      </p:sp>
      <p:sp>
        <p:nvSpPr>
          <p:cNvPr id="17" name="Shape 13"/>
          <p:cNvSpPr/>
          <p:nvPr/>
        </p:nvSpPr>
        <p:spPr>
          <a:xfrm>
            <a:off x="7973568" y="5120640"/>
            <a:ext cx="329184" cy="329184"/>
          </a:xfrm>
          <a:prstGeom prst="ellipse">
            <a:avLst/>
          </a:prstGeom>
          <a:solidFill>
            <a:srgbClr val="2F5D50"/>
          </a:solidFill>
          <a:ln w="12700">
            <a:solidFill>
              <a:srgbClr val="2F5D50"/>
            </a:solidFill>
            <a:prstDash val="solid"/>
          </a:ln>
        </p:spPr>
      </p:sp>
      <p:sp>
        <p:nvSpPr>
          <p:cNvPr id="18" name="Text 14"/>
          <p:cNvSpPr txBox="1"/>
          <p:nvPr/>
        </p:nvSpPr>
        <p:spPr>
          <a:xfrm>
            <a:off x="7973568" y="51297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3</a:t>
            </a:r>
            <a:endParaRPr lang="en-US" sz="1200" dirty="0"/>
          </a:p>
        </p:txBody>
      </p:sp>
      <p:sp>
        <p:nvSpPr>
          <p:cNvPr id="19" name="Text 15"/>
          <p:cNvSpPr txBox="1"/>
          <p:nvPr/>
        </p:nvSpPr>
        <p:spPr>
          <a:xfrm>
            <a:off x="8430768" y="5138928"/>
            <a:ext cx="3163824" cy="292608"/>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격자 상세</a:t>
            </a:r>
            <a:endParaRPr lang="en-US" sz="1350" dirty="0"/>
          </a:p>
        </p:txBody>
      </p:sp>
      <p:sp>
        <p:nvSpPr>
          <p:cNvPr id="20" name="Text 16"/>
          <p:cNvSpPr txBox="1"/>
          <p:nvPr/>
        </p:nvSpPr>
        <p:spPr>
          <a:xfrm>
            <a:off x="8430768" y="5468112"/>
            <a:ext cx="3163824" cy="82296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관측 지번 수, 제외한 까닭, 공식 격자 코드, 연도별 인구.</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13</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사용법 ③</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읍면동 비교: 격자 지표를 동 단위로 모아 순위를 봅니다</a:t>
            </a:r>
            <a:endParaRPr lang="en-US" sz="2500" dirty="0"/>
          </a:p>
        </p:txBody>
      </p:sp>
      <p:sp>
        <p:nvSpPr>
          <p:cNvPr id="5" name="Shape 3"/>
          <p:cNvSpPr/>
          <p:nvPr/>
        </p:nvSpPr>
        <p:spPr>
          <a:xfrm>
            <a:off x="438912" y="1307592"/>
            <a:ext cx="5559552" cy="3577886"/>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6" name="Image 0" descr="u06-region-dong-c.jpg">    </p:cNvPr>
          <p:cNvPicPr>
            <a:picLocks noChangeAspect="1"/>
          </p:cNvPicPr>
          <p:nvPr/>
        </p:nvPicPr>
        <p:blipFill>
          <a:blip r:embed="rId1"/>
          <a:stretch>
            <a:fillRect/>
          </a:stretch>
        </p:blipFill>
        <p:spPr>
          <a:xfrm>
            <a:off x="457200" y="1325880"/>
            <a:ext cx="5522976" cy="3541310"/>
          </a:xfrm>
          <a:prstGeom prst="rect">
            <a:avLst/>
          </a:prstGeom>
        </p:spPr>
      </p:pic>
      <p:sp>
        <p:nvSpPr>
          <p:cNvPr id="7" name="Shape 4"/>
          <p:cNvSpPr/>
          <p:nvPr/>
        </p:nvSpPr>
        <p:spPr>
          <a:xfrm>
            <a:off x="6190488" y="1307592"/>
            <a:ext cx="5559552" cy="3577886"/>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8" name="Image 1" descr="u07-dong-compare-c.jpg">    </p:cNvPr>
          <p:cNvPicPr>
            <a:picLocks noChangeAspect="1"/>
          </p:cNvPicPr>
          <p:nvPr/>
        </p:nvPicPr>
        <p:blipFill>
          <a:blip r:embed="rId2"/>
          <a:stretch>
            <a:fillRect/>
          </a:stretch>
        </p:blipFill>
        <p:spPr>
          <a:xfrm>
            <a:off x="6208776" y="1325880"/>
            <a:ext cx="5522976" cy="3541310"/>
          </a:xfrm>
          <a:prstGeom prst="rect">
            <a:avLst/>
          </a:prstGeom>
        </p:spPr>
      </p:pic>
      <p:sp>
        <p:nvSpPr>
          <p:cNvPr id="9" name="Shape 5"/>
          <p:cNvSpPr/>
          <p:nvPr/>
        </p:nvSpPr>
        <p:spPr>
          <a:xfrm>
            <a:off x="457200" y="5120640"/>
            <a:ext cx="329184" cy="329184"/>
          </a:xfrm>
          <a:prstGeom prst="ellipse">
            <a:avLst/>
          </a:prstGeom>
          <a:solidFill>
            <a:srgbClr val="2F5D50"/>
          </a:solidFill>
          <a:ln w="12700">
            <a:solidFill>
              <a:srgbClr val="2F5D50"/>
            </a:solidFill>
            <a:prstDash val="solid"/>
          </a:ln>
        </p:spPr>
      </p:sp>
      <p:sp>
        <p:nvSpPr>
          <p:cNvPr id="10" name="Text 6"/>
          <p:cNvSpPr txBox="1"/>
          <p:nvPr/>
        </p:nvSpPr>
        <p:spPr>
          <a:xfrm>
            <a:off x="457200" y="51297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11" name="Text 7"/>
          <p:cNvSpPr txBox="1"/>
          <p:nvPr/>
        </p:nvSpPr>
        <p:spPr>
          <a:xfrm>
            <a:off x="914400" y="5138928"/>
            <a:ext cx="3163824" cy="292608"/>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읍면동 고르기</a:t>
            </a:r>
            <a:endParaRPr lang="en-US" sz="1350" dirty="0"/>
          </a:p>
        </p:txBody>
      </p:sp>
      <p:sp>
        <p:nvSpPr>
          <p:cNvPr id="12" name="Text 8"/>
          <p:cNvSpPr txBox="1"/>
          <p:nvPr/>
        </p:nvSpPr>
        <p:spPr>
          <a:xfrm>
            <a:off x="914400" y="5468112"/>
            <a:ext cx="3163824" cy="82296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지도 왼쪽 위에서 동을 고르면 그 동의 경계와 공식 인구·가구가 나옵니다.</a:t>
            </a:r>
            <a:endParaRPr lang="en-US" sz="1150" dirty="0"/>
          </a:p>
        </p:txBody>
      </p:sp>
      <p:sp>
        <p:nvSpPr>
          <p:cNvPr id="13" name="Shape 9"/>
          <p:cNvSpPr/>
          <p:nvPr/>
        </p:nvSpPr>
        <p:spPr>
          <a:xfrm>
            <a:off x="4215384" y="5120640"/>
            <a:ext cx="329184" cy="329184"/>
          </a:xfrm>
          <a:prstGeom prst="ellipse">
            <a:avLst/>
          </a:prstGeom>
          <a:solidFill>
            <a:srgbClr val="2F5D50"/>
          </a:solidFill>
          <a:ln w="12700">
            <a:solidFill>
              <a:srgbClr val="2F5D50"/>
            </a:solidFill>
            <a:prstDash val="solid"/>
          </a:ln>
        </p:spPr>
      </p:sp>
      <p:sp>
        <p:nvSpPr>
          <p:cNvPr id="14" name="Text 10"/>
          <p:cNvSpPr txBox="1"/>
          <p:nvPr/>
        </p:nvSpPr>
        <p:spPr>
          <a:xfrm>
            <a:off x="4215384" y="51297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15" name="Text 11"/>
          <p:cNvSpPr txBox="1"/>
          <p:nvPr/>
        </p:nvSpPr>
        <p:spPr>
          <a:xfrm>
            <a:off x="4672584" y="5138928"/>
            <a:ext cx="3163824" cy="292608"/>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동별 비교</a:t>
            </a:r>
            <a:endParaRPr lang="en-US" sz="1350" dirty="0"/>
          </a:p>
        </p:txBody>
      </p:sp>
      <p:sp>
        <p:nvSpPr>
          <p:cNvPr id="16" name="Text 12"/>
          <p:cNvSpPr txBox="1"/>
          <p:nvPr/>
        </p:nvSpPr>
        <p:spPr>
          <a:xfrm>
            <a:off x="4672584" y="5468112"/>
            <a:ext cx="3163824" cy="82296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"동별 비교"를 누르면 같은 지표로 모든 동의 순위와 덮음 비율을 봅니다.</a:t>
            </a:r>
            <a:endParaRPr lang="en-US" sz="1150" dirty="0"/>
          </a:p>
        </p:txBody>
      </p:sp>
      <p:sp>
        <p:nvSpPr>
          <p:cNvPr id="17" name="Shape 13"/>
          <p:cNvSpPr/>
          <p:nvPr/>
        </p:nvSpPr>
        <p:spPr>
          <a:xfrm>
            <a:off x="7973568" y="5120640"/>
            <a:ext cx="329184" cy="329184"/>
          </a:xfrm>
          <a:prstGeom prst="ellipse">
            <a:avLst/>
          </a:prstGeom>
          <a:solidFill>
            <a:srgbClr val="2F5D50"/>
          </a:solidFill>
          <a:ln w="12700">
            <a:solidFill>
              <a:srgbClr val="2F5D50"/>
            </a:solidFill>
            <a:prstDash val="solid"/>
          </a:ln>
        </p:spPr>
      </p:sp>
      <p:sp>
        <p:nvSpPr>
          <p:cNvPr id="18" name="Text 14"/>
          <p:cNvSpPr txBox="1"/>
          <p:nvPr/>
        </p:nvSpPr>
        <p:spPr>
          <a:xfrm>
            <a:off x="7973568" y="51297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3</a:t>
            </a:r>
            <a:endParaRPr lang="en-US" sz="1200" dirty="0"/>
          </a:p>
        </p:txBody>
      </p:sp>
      <p:sp>
        <p:nvSpPr>
          <p:cNvPr id="19" name="Text 15"/>
          <p:cNvSpPr txBox="1"/>
          <p:nvPr/>
        </p:nvSpPr>
        <p:spPr>
          <a:xfrm>
            <a:off x="8430768" y="5138928"/>
            <a:ext cx="3163824" cy="292608"/>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덮음 비율</a:t>
            </a:r>
            <a:endParaRPr lang="en-US" sz="1350" dirty="0"/>
          </a:p>
        </p:txBody>
      </p:sp>
      <p:sp>
        <p:nvSpPr>
          <p:cNvPr id="20" name="Text 16"/>
          <p:cNvSpPr txBox="1"/>
          <p:nvPr/>
        </p:nvSpPr>
        <p:spPr>
          <a:xfrm>
            <a:off x="8430768" y="5468112"/>
            <a:ext cx="3163824" cy="82296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값 있는 격자가 동 면적의 얼마인지. 낮으면 비교에 주의합니다.</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14</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사용법 ④</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격자 자세히: 대시보드와 분석 화면</a:t>
            </a:r>
            <a:endParaRPr lang="en-US" sz="2500" dirty="0"/>
          </a:p>
        </p:txBody>
      </p:sp>
      <p:sp>
        <p:nvSpPr>
          <p:cNvPr id="5" name="Shape 3"/>
          <p:cNvSpPr/>
          <p:nvPr/>
        </p:nvSpPr>
        <p:spPr>
          <a:xfrm>
            <a:off x="438912" y="1307592"/>
            <a:ext cx="5559552" cy="3577886"/>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6" name="Image 0" descr="u08-dashboard-c.jpg">    </p:cNvPr>
          <p:cNvPicPr>
            <a:picLocks noChangeAspect="1"/>
          </p:cNvPicPr>
          <p:nvPr/>
        </p:nvPicPr>
        <p:blipFill>
          <a:blip r:embed="rId1"/>
          <a:stretch>
            <a:fillRect/>
          </a:stretch>
        </p:blipFill>
        <p:spPr>
          <a:xfrm>
            <a:off x="457200" y="1325880"/>
            <a:ext cx="5522976" cy="3541310"/>
          </a:xfrm>
          <a:prstGeom prst="rect">
            <a:avLst/>
          </a:prstGeom>
        </p:spPr>
      </p:pic>
      <p:sp>
        <p:nvSpPr>
          <p:cNvPr id="7" name="Shape 4"/>
          <p:cNvSpPr/>
          <p:nvPr/>
        </p:nvSpPr>
        <p:spPr>
          <a:xfrm>
            <a:off x="6190488" y="1307592"/>
            <a:ext cx="5559552" cy="3577886"/>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8" name="Image 1" descr="u09-analysis-c.jpg">    </p:cNvPr>
          <p:cNvPicPr>
            <a:picLocks noChangeAspect="1"/>
          </p:cNvPicPr>
          <p:nvPr/>
        </p:nvPicPr>
        <p:blipFill>
          <a:blip r:embed="rId2"/>
          <a:stretch>
            <a:fillRect/>
          </a:stretch>
        </p:blipFill>
        <p:spPr>
          <a:xfrm>
            <a:off x="6208776" y="1325880"/>
            <a:ext cx="5522976" cy="3541310"/>
          </a:xfrm>
          <a:prstGeom prst="rect">
            <a:avLst/>
          </a:prstGeom>
        </p:spPr>
      </p:pic>
      <p:sp>
        <p:nvSpPr>
          <p:cNvPr id="9" name="Shape 5"/>
          <p:cNvSpPr/>
          <p:nvPr/>
        </p:nvSpPr>
        <p:spPr>
          <a:xfrm>
            <a:off x="457200" y="5120640"/>
            <a:ext cx="329184" cy="329184"/>
          </a:xfrm>
          <a:prstGeom prst="ellipse">
            <a:avLst/>
          </a:prstGeom>
          <a:solidFill>
            <a:srgbClr val="2F5D50"/>
          </a:solidFill>
          <a:ln w="12700">
            <a:solidFill>
              <a:srgbClr val="2F5D50"/>
            </a:solidFill>
            <a:prstDash val="solid"/>
          </a:ln>
        </p:spPr>
      </p:sp>
      <p:sp>
        <p:nvSpPr>
          <p:cNvPr id="10" name="Text 6"/>
          <p:cNvSpPr txBox="1"/>
          <p:nvPr/>
        </p:nvSpPr>
        <p:spPr>
          <a:xfrm>
            <a:off x="457200" y="51297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11" name="Text 7"/>
          <p:cNvSpPr txBox="1"/>
          <p:nvPr/>
        </p:nvSpPr>
        <p:spPr>
          <a:xfrm>
            <a:off x="914400" y="5138928"/>
            <a:ext cx="3163824" cy="292608"/>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대시보드</a:t>
            </a:r>
            <a:endParaRPr lang="en-US" sz="1350" dirty="0"/>
          </a:p>
        </p:txBody>
      </p:sp>
      <p:sp>
        <p:nvSpPr>
          <p:cNvPr id="12" name="Text 8"/>
          <p:cNvSpPr txBox="1"/>
          <p:nvPr/>
        </p:nvSpPr>
        <p:spPr>
          <a:xfrm>
            <a:off x="914400" y="5468112"/>
            <a:ext cx="3163824" cy="82296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전력·가스·탄소·원단위·세대당 전력을 산식·근거 범위와 함께 봅니다.</a:t>
            </a:r>
            <a:endParaRPr lang="en-US" sz="1150" dirty="0"/>
          </a:p>
        </p:txBody>
      </p:sp>
      <p:sp>
        <p:nvSpPr>
          <p:cNvPr id="13" name="Shape 9"/>
          <p:cNvSpPr/>
          <p:nvPr/>
        </p:nvSpPr>
        <p:spPr>
          <a:xfrm>
            <a:off x="4215384" y="5120640"/>
            <a:ext cx="329184" cy="329184"/>
          </a:xfrm>
          <a:prstGeom prst="ellipse">
            <a:avLst/>
          </a:prstGeom>
          <a:solidFill>
            <a:srgbClr val="2F5D50"/>
          </a:solidFill>
          <a:ln w="12700">
            <a:solidFill>
              <a:srgbClr val="2F5D50"/>
            </a:solidFill>
            <a:prstDash val="solid"/>
          </a:ln>
        </p:spPr>
      </p:sp>
      <p:sp>
        <p:nvSpPr>
          <p:cNvPr id="14" name="Text 10"/>
          <p:cNvSpPr txBox="1"/>
          <p:nvPr/>
        </p:nvSpPr>
        <p:spPr>
          <a:xfrm>
            <a:off x="4215384" y="51297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15" name="Text 11"/>
          <p:cNvSpPr txBox="1"/>
          <p:nvPr/>
        </p:nvSpPr>
        <p:spPr>
          <a:xfrm>
            <a:off x="4672584" y="5138928"/>
            <a:ext cx="3163824" cy="292608"/>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관측 범위</a:t>
            </a:r>
            <a:endParaRPr lang="en-US" sz="1350" dirty="0"/>
          </a:p>
        </p:txBody>
      </p:sp>
      <p:sp>
        <p:nvSpPr>
          <p:cNvPr id="16" name="Text 12"/>
          <p:cNvSpPr txBox="1"/>
          <p:nvPr/>
        </p:nvSpPr>
        <p:spPr>
          <a:xfrm>
            <a:off x="4672584" y="5468112"/>
            <a:ext cx="3163824" cy="82296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달마다 관측 여부를 보여 주고, 12개월이 다 있어야 연간 값을 냅니다.</a:t>
            </a:r>
            <a:endParaRPr lang="en-US" sz="1150" dirty="0"/>
          </a:p>
        </p:txBody>
      </p:sp>
      <p:sp>
        <p:nvSpPr>
          <p:cNvPr id="17" name="Shape 13"/>
          <p:cNvSpPr/>
          <p:nvPr/>
        </p:nvSpPr>
        <p:spPr>
          <a:xfrm>
            <a:off x="7973568" y="5120640"/>
            <a:ext cx="329184" cy="329184"/>
          </a:xfrm>
          <a:prstGeom prst="ellipse">
            <a:avLst/>
          </a:prstGeom>
          <a:solidFill>
            <a:srgbClr val="2F5D50"/>
          </a:solidFill>
          <a:ln w="12700">
            <a:solidFill>
              <a:srgbClr val="2F5D50"/>
            </a:solidFill>
            <a:prstDash val="solid"/>
          </a:ln>
        </p:spPr>
      </p:sp>
      <p:sp>
        <p:nvSpPr>
          <p:cNvPr id="18" name="Text 14"/>
          <p:cNvSpPr txBox="1"/>
          <p:nvPr/>
        </p:nvSpPr>
        <p:spPr>
          <a:xfrm>
            <a:off x="7973568" y="51297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3</a:t>
            </a:r>
            <a:endParaRPr lang="en-US" sz="1200" dirty="0"/>
          </a:p>
        </p:txBody>
      </p:sp>
      <p:sp>
        <p:nvSpPr>
          <p:cNvPr id="19" name="Text 15"/>
          <p:cNvSpPr txBox="1"/>
          <p:nvPr/>
        </p:nvSpPr>
        <p:spPr>
          <a:xfrm>
            <a:off x="8430768" y="5138928"/>
            <a:ext cx="3163824" cy="292608"/>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분석</a:t>
            </a:r>
            <a:endParaRPr lang="en-US" sz="1350" dirty="0"/>
          </a:p>
        </p:txBody>
      </p:sp>
      <p:sp>
        <p:nvSpPr>
          <p:cNvPr id="20" name="Text 16"/>
          <p:cNvSpPr txBox="1"/>
          <p:nvPr/>
        </p:nvSpPr>
        <p:spPr>
          <a:xfrm>
            <a:off x="8430768" y="5468112"/>
            <a:ext cx="3163824" cy="82296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난방도일·인구·용도지역과 에너지의 관계를 그래프로 봅니다.</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15</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사용법 ⑤</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계획안 시뮬레이션: 무엇을 넣고, 어떻게 계산하나</a:t>
            </a:r>
            <a:endParaRPr lang="en-US" sz="2500" dirty="0"/>
          </a:p>
        </p:txBody>
      </p:sp>
      <p:sp>
        <p:nvSpPr>
          <p:cNvPr id="5" name="Shape 3"/>
          <p:cNvSpPr/>
          <p:nvPr/>
        </p:nvSpPr>
        <p:spPr>
          <a:xfrm>
            <a:off x="438912" y="1353312"/>
            <a:ext cx="5431536" cy="3495803"/>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6" name="Image 0" descr="u11-simulation-c.jpg">    </p:cNvPr>
          <p:cNvPicPr>
            <a:picLocks noChangeAspect="1"/>
          </p:cNvPicPr>
          <p:nvPr/>
        </p:nvPicPr>
        <p:blipFill>
          <a:blip r:embed="rId1"/>
          <a:stretch>
            <a:fillRect/>
          </a:stretch>
        </p:blipFill>
        <p:spPr>
          <a:xfrm>
            <a:off x="457200" y="1371600"/>
            <a:ext cx="5394960" cy="3459227"/>
          </a:xfrm>
          <a:prstGeom prst="rect">
            <a:avLst/>
          </a:prstGeom>
        </p:spPr>
      </p:pic>
      <p:sp>
        <p:nvSpPr>
          <p:cNvPr id="7" name="Text 4"/>
          <p:cNvSpPr txBox="1"/>
          <p:nvPr/>
        </p:nvSpPr>
        <p:spPr>
          <a:xfrm>
            <a:off x="6172200" y="1371600"/>
            <a:ext cx="2743200" cy="292608"/>
          </a:xfrm>
          <a:prstGeom prst="rect">
            <a:avLst/>
          </a:prstGeom>
          <a:noFill/>
          <a:ln/>
        </p:spPr>
        <p:txBody>
          <a:bodyPr wrap="square" lIns="0" tIns="0" rIns="0" bIns="0" rtlCol="0" anchor="t"/>
          <a:lstStyle/>
          <a:p>
            <a:pPr indent="0" marL="0">
              <a:buNone/>
            </a:pPr>
            <a:r>
              <a:rPr lang="en-US" sz="1300" b="1" dirty="0">
                <a:solidFill>
                  <a:srgbClr val="2F5D50"/>
                </a:solidFill>
                <a:latin typeface="Malgun Gothic" pitchFamily="34" charset="0"/>
                <a:ea typeface="Malgun Gothic" pitchFamily="34" charset="-122"/>
                <a:cs typeface="Malgun Gothic" pitchFamily="34" charset="-120"/>
              </a:rPr>
              <a:t>입력값</a:t>
            </a:r>
            <a:endParaRPr lang="en-US" sz="1300" dirty="0"/>
          </a:p>
        </p:txBody>
      </p:sp>
      <p:sp>
        <p:nvSpPr>
          <p:cNvPr id="8" name="Text 5"/>
          <p:cNvSpPr txBox="1"/>
          <p:nvPr/>
        </p:nvSpPr>
        <p:spPr>
          <a:xfrm>
            <a:off x="6172200" y="1719072"/>
            <a:ext cx="2743200" cy="310896"/>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대지면적</a:t>
            </a:r>
            <a:endParaRPr lang="en-US" sz="1150" dirty="0"/>
          </a:p>
        </p:txBody>
      </p:sp>
      <p:sp>
        <p:nvSpPr>
          <p:cNvPr id="9" name="Text 6"/>
          <p:cNvSpPr txBox="1"/>
          <p:nvPr/>
        </p:nvSpPr>
        <p:spPr>
          <a:xfrm>
            <a:off x="8961120" y="1719072"/>
            <a:ext cx="2788920" cy="310896"/>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m²</a:t>
            </a:r>
            <a:endParaRPr lang="en-US" sz="1100" dirty="0"/>
          </a:p>
        </p:txBody>
      </p:sp>
      <p:sp>
        <p:nvSpPr>
          <p:cNvPr id="10" name="Text 7"/>
          <p:cNvSpPr txBox="1"/>
          <p:nvPr/>
        </p:nvSpPr>
        <p:spPr>
          <a:xfrm>
            <a:off x="6172200" y="2103120"/>
            <a:ext cx="2743200" cy="310896"/>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동수 · 동당 건축면적 · 층수</a:t>
            </a:r>
            <a:endParaRPr lang="en-US" sz="1150" dirty="0"/>
          </a:p>
        </p:txBody>
      </p:sp>
      <p:sp>
        <p:nvSpPr>
          <p:cNvPr id="11" name="Text 8"/>
          <p:cNvSpPr txBox="1"/>
          <p:nvPr/>
        </p:nvSpPr>
        <p:spPr>
          <a:xfrm>
            <a:off x="8961120" y="2103120"/>
            <a:ext cx="2788920" cy="310896"/>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 연면적·건폐율·용적률</a:t>
            </a:r>
            <a:endParaRPr lang="en-US" sz="1100" dirty="0"/>
          </a:p>
        </p:txBody>
      </p:sp>
      <p:sp>
        <p:nvSpPr>
          <p:cNvPr id="12" name="Text 9"/>
          <p:cNvSpPr txBox="1"/>
          <p:nvPr/>
        </p:nvSpPr>
        <p:spPr>
          <a:xfrm>
            <a:off x="6172200" y="2487168"/>
            <a:ext cx="2743200" cy="310896"/>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세대수 · 인구 · 평균 세대면적</a:t>
            </a:r>
            <a:endParaRPr lang="en-US" sz="1150" dirty="0"/>
          </a:p>
        </p:txBody>
      </p:sp>
      <p:sp>
        <p:nvSpPr>
          <p:cNvPr id="13" name="Text 10"/>
          <p:cNvSpPr txBox="1"/>
          <p:nvPr/>
        </p:nvSpPr>
        <p:spPr>
          <a:xfrm>
            <a:off x="8961120" y="2487168"/>
            <a:ext cx="2788920" cy="310896"/>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수용 인구, 세대당 값</a:t>
            </a:r>
            <a:endParaRPr lang="en-US" sz="1100" dirty="0"/>
          </a:p>
        </p:txBody>
      </p:sp>
      <p:sp>
        <p:nvSpPr>
          <p:cNvPr id="14" name="Text 11"/>
          <p:cNvSpPr txBox="1"/>
          <p:nvPr/>
        </p:nvSpPr>
        <p:spPr>
          <a:xfrm>
            <a:off x="6172200" y="2871216"/>
            <a:ext cx="2743200" cy="310896"/>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효율 계수</a:t>
            </a:r>
            <a:endParaRPr lang="en-US" sz="1150" dirty="0"/>
          </a:p>
        </p:txBody>
      </p:sp>
      <p:sp>
        <p:nvSpPr>
          <p:cNvPr id="15" name="Text 12"/>
          <p:cNvSpPr txBox="1"/>
          <p:nvPr/>
        </p:nvSpPr>
        <p:spPr>
          <a:xfrm>
            <a:off x="8961120" y="2871216"/>
            <a:ext cx="2788920" cy="310896"/>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1.0 = 지금 수준, 0.8 = 20% 고효율</a:t>
            </a:r>
            <a:endParaRPr lang="en-US" sz="1100" dirty="0"/>
          </a:p>
        </p:txBody>
      </p:sp>
      <p:sp>
        <p:nvSpPr>
          <p:cNvPr id="16" name="Text 13"/>
          <p:cNvSpPr txBox="1"/>
          <p:nvPr/>
        </p:nvSpPr>
        <p:spPr>
          <a:xfrm>
            <a:off x="6172200" y="3255264"/>
            <a:ext cx="2743200" cy="310896"/>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태양광 비율</a:t>
            </a:r>
            <a:endParaRPr lang="en-US" sz="1150" dirty="0"/>
          </a:p>
        </p:txBody>
      </p:sp>
      <p:sp>
        <p:nvSpPr>
          <p:cNvPr id="17" name="Text 14"/>
          <p:cNvSpPr txBox="1"/>
          <p:nvPr/>
        </p:nvSpPr>
        <p:spPr>
          <a:xfrm>
            <a:off x="8961120" y="3255264"/>
            <a:ext cx="2788920" cy="310896"/>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전력 수요 중 자가발전으로 상쇄하는 몫</a:t>
            </a:r>
            <a:endParaRPr lang="en-US" sz="1100" dirty="0"/>
          </a:p>
        </p:txBody>
      </p:sp>
      <p:sp>
        <p:nvSpPr>
          <p:cNvPr id="18" name="Text 15"/>
          <p:cNvSpPr txBox="1"/>
          <p:nvPr/>
        </p:nvSpPr>
        <p:spPr>
          <a:xfrm>
            <a:off x="6172200" y="3639312"/>
            <a:ext cx="2743200" cy="310896"/>
          </a:xfrm>
          <a:prstGeom prst="rect">
            <a:avLst/>
          </a:prstGeom>
          <a:noFill/>
          <a:ln/>
        </p:spPr>
        <p:txBody>
          <a:bodyPr wrap="square" lIns="0" tIns="0" rIns="0" bIns="0" rtlCol="0" anchor="t"/>
          <a:lstStyle/>
          <a:p>
            <a:pPr indent="0" marL="0">
              <a:buNone/>
            </a:pPr>
            <a:r>
              <a:rPr lang="en-US" sz="1150" b="1" dirty="0">
                <a:solidFill>
                  <a:srgbClr val="1C2622"/>
                </a:solidFill>
                <a:latin typeface="Malgun Gothic" pitchFamily="34" charset="0"/>
                <a:ea typeface="Malgun Gothic" pitchFamily="34" charset="-122"/>
                <a:cs typeface="Malgun Gothic" pitchFamily="34" charset="-120"/>
              </a:rPr>
              <a:t>녹지율</a:t>
            </a:r>
            <a:endParaRPr lang="en-US" sz="1150" dirty="0"/>
          </a:p>
        </p:txBody>
      </p:sp>
      <p:sp>
        <p:nvSpPr>
          <p:cNvPr id="19" name="Text 16"/>
          <p:cNvSpPr txBox="1"/>
          <p:nvPr/>
        </p:nvSpPr>
        <p:spPr>
          <a:xfrm>
            <a:off x="8961120" y="3639312"/>
            <a:ext cx="2788920" cy="310896"/>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공간 제약에만 적용</a:t>
            </a:r>
            <a:endParaRPr lang="en-US" sz="1100" dirty="0"/>
          </a:p>
        </p:txBody>
      </p:sp>
      <p:sp>
        <p:nvSpPr>
          <p:cNvPr id="20" name="Shape 17"/>
          <p:cNvSpPr/>
          <p:nvPr/>
        </p:nvSpPr>
        <p:spPr>
          <a:xfrm>
            <a:off x="6172200" y="4160520"/>
            <a:ext cx="5559552" cy="1417320"/>
          </a:xfrm>
          <a:prstGeom prst="roundRect">
            <a:avLst>
              <a:gd name="adj" fmla="val 5161"/>
            </a:avLst>
          </a:prstGeom>
          <a:solidFill>
            <a:srgbClr val="E2EEE8"/>
          </a:solidFill>
          <a:ln w="9525">
            <a:solidFill>
              <a:srgbClr val="D9D7CE"/>
            </a:solidFill>
            <a:prstDash val="solid"/>
          </a:ln>
        </p:spPr>
      </p:sp>
      <p:sp>
        <p:nvSpPr>
          <p:cNvPr id="21" name="Text 18"/>
          <p:cNvSpPr txBox="1"/>
          <p:nvPr/>
        </p:nvSpPr>
        <p:spPr>
          <a:xfrm>
            <a:off x="6400800" y="4279392"/>
            <a:ext cx="5120640" cy="274320"/>
          </a:xfrm>
          <a:prstGeom prst="rect">
            <a:avLst/>
          </a:prstGeom>
          <a:noFill/>
          <a:ln/>
        </p:spPr>
        <p:txBody>
          <a:bodyPr wrap="square" lIns="0" tIns="0" rIns="0" bIns="0" rtlCol="0" anchor="t"/>
          <a:lstStyle/>
          <a:p>
            <a:pPr indent="0" marL="0">
              <a:buNone/>
            </a:pPr>
            <a:r>
              <a:rPr lang="en-US" sz="1250" b="1" dirty="0">
                <a:solidFill>
                  <a:srgbClr val="2F5D50"/>
                </a:solidFill>
                <a:latin typeface="Malgun Gothic" pitchFamily="34" charset="0"/>
                <a:ea typeface="Malgun Gothic" pitchFamily="34" charset="-122"/>
                <a:cs typeface="Malgun Gothic" pitchFamily="34" charset="-120"/>
              </a:rPr>
              <a:t>계산식 (원단위 기반 1차 추정)</a:t>
            </a:r>
            <a:endParaRPr lang="en-US" sz="1250" dirty="0"/>
          </a:p>
        </p:txBody>
      </p:sp>
      <p:sp>
        <p:nvSpPr>
          <p:cNvPr id="22" name="Text 19"/>
          <p:cNvSpPr txBox="1"/>
          <p:nvPr/>
        </p:nvSpPr>
        <p:spPr>
          <a:xfrm>
            <a:off x="6400800" y="4590288"/>
            <a:ext cx="5212080" cy="914400"/>
          </a:xfrm>
          <a:prstGeom prst="rect">
            <a:avLst/>
          </a:prstGeom>
          <a:noFill/>
          <a:ln/>
        </p:spPr>
        <p:txBody>
          <a:bodyPr wrap="square" lIns="0" tIns="0" rIns="0" bIns="0" rtlCol="0" anchor="t"/>
          <a:lstStyle/>
          <a:p>
            <a:pPr indent="0" marL="0">
              <a:lnSpc>
                <a:spcPct val="115000"/>
              </a:lnSpc>
              <a:buNone/>
            </a:pPr>
            <a:r>
              <a:rPr lang="en-US" sz="1050" dirty="0">
                <a:solidFill>
                  <a:srgbClr val="1C2622"/>
                </a:solidFill>
                <a:latin typeface="Malgun Gothic" pitchFamily="34" charset="0"/>
                <a:ea typeface="Malgun Gothic" pitchFamily="34" charset="-122"/>
                <a:cs typeface="Malgun Gothic" pitchFamily="34" charset="-120"/>
              </a:rPr>
              <a:t>월별 전력 = 기준 월별 전력 × (계획 연면적 ÷ 기준 연면적) × 효율 × (1 − 태양광)</a:t>
            </a:r>
            <a:endParaRPr lang="en-US" sz="1050" dirty="0"/>
          </a:p>
          <a:p>
            <a:pPr indent="0" marL="0">
              <a:lnSpc>
                <a:spcPct val="115000"/>
              </a:lnSpc>
              <a:buNone/>
            </a:pPr>
            <a:r>
              <a:rPr lang="en-US" sz="1050" dirty="0">
                <a:solidFill>
                  <a:srgbClr val="1C2622"/>
                </a:solidFill>
                <a:latin typeface="Malgun Gothic" pitchFamily="34" charset="0"/>
                <a:ea typeface="Malgun Gothic" pitchFamily="34" charset="-122"/>
                <a:cs typeface="Malgun Gothic" pitchFamily="34" charset="-120"/>
              </a:rPr>
              <a:t>월별 가스 = 기준 월별 가스 × (계획 연면적 ÷ 기준 연면적) × 효율</a:t>
            </a:r>
            <a:endParaRPr lang="en-US" sz="1050" dirty="0"/>
          </a:p>
          <a:p>
            <a:pPr indent="0" marL="0">
              <a:lnSpc>
                <a:spcPct val="115000"/>
              </a:lnSpc>
              <a:buNone/>
            </a:pPr>
            <a:r>
              <a:rPr lang="en-US" sz="1050" dirty="0">
                <a:solidFill>
                  <a:srgbClr val="1C2622"/>
                </a:solidFill>
                <a:latin typeface="Malgun Gothic" pitchFamily="34" charset="0"/>
                <a:ea typeface="Malgun Gothic" pitchFamily="34" charset="-122"/>
                <a:cs typeface="Malgun Gothic" pitchFamily="34" charset="-120"/>
              </a:rPr>
              <a:t>탄소 = 전력 × 그해 국가 계수 + 가스 × 가정 계수</a:t>
            </a:r>
            <a:endParaRPr lang="en-US" sz="1050" dirty="0"/>
          </a:p>
        </p:txBody>
      </p:sp>
      <p:sp>
        <p:nvSpPr>
          <p:cNvPr id="23" name="Text 20"/>
          <p:cNvSpPr txBox="1"/>
          <p:nvPr/>
        </p:nvSpPr>
        <p:spPr>
          <a:xfrm>
            <a:off x="457200" y="4983480"/>
            <a:ext cx="5394960" cy="914400"/>
          </a:xfrm>
          <a:prstGeom prst="rect">
            <a:avLst/>
          </a:prstGeom>
          <a:noFill/>
          <a:ln/>
        </p:spPr>
        <p:txBody>
          <a:bodyPr wrap="square" lIns="0" tIns="0" rIns="0" bIns="0" rtlCol="0" anchor="t"/>
          <a:lstStyle/>
          <a:p>
            <a:pPr indent="0" marL="0">
              <a:lnSpc>
                <a:spcPct val="112000"/>
              </a:lnSpc>
              <a:buNone/>
            </a:pPr>
            <a:r>
              <a:rPr lang="en-US" sz="1100" dirty="0">
                <a:solidFill>
                  <a:srgbClr val="505B55"/>
                </a:solidFill>
                <a:latin typeface="Malgun Gothic" pitchFamily="34" charset="0"/>
                <a:ea typeface="Malgun Gothic" pitchFamily="34" charset="-122"/>
                <a:cs typeface="Malgun Gothic" pitchFamily="34" charset="-120"/>
              </a:rPr>
              <a:t>기준 = 그 격자에서 12개월 관측된 같은 지번 집합. 관측이 없는 격자는 지역 평균 원단위(추정 표시). 용도지역 상한(조례 → 시행령 → 국토계획법)도 함께 확인합니다.</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16</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사용법 ⑥</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지역 시뮬레이션: 구역을 그려 전후를 비교하고 목표를 계산합니다</a:t>
            </a:r>
            <a:endParaRPr lang="en-US" sz="2500" dirty="0"/>
          </a:p>
        </p:txBody>
      </p:sp>
      <p:sp>
        <p:nvSpPr>
          <p:cNvPr id="5" name="Shape 3"/>
          <p:cNvSpPr/>
          <p:nvPr/>
        </p:nvSpPr>
        <p:spPr>
          <a:xfrm>
            <a:off x="438912" y="1353312"/>
            <a:ext cx="6803136" cy="4375267"/>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6" name="Image 0" descr="u10-area-c.jpg">    </p:cNvPr>
          <p:cNvPicPr>
            <a:picLocks noChangeAspect="1"/>
          </p:cNvPicPr>
          <p:nvPr/>
        </p:nvPicPr>
        <p:blipFill>
          <a:blip r:embed="rId1"/>
          <a:stretch>
            <a:fillRect/>
          </a:stretch>
        </p:blipFill>
        <p:spPr>
          <a:xfrm>
            <a:off x="457200" y="1371600"/>
            <a:ext cx="6766560" cy="4338691"/>
          </a:xfrm>
          <a:prstGeom prst="rect">
            <a:avLst/>
          </a:prstGeom>
        </p:spPr>
      </p:pic>
      <p:sp>
        <p:nvSpPr>
          <p:cNvPr id="7" name="Shape 4"/>
          <p:cNvSpPr/>
          <p:nvPr/>
        </p:nvSpPr>
        <p:spPr>
          <a:xfrm>
            <a:off x="7543800" y="1417320"/>
            <a:ext cx="329184" cy="329184"/>
          </a:xfrm>
          <a:prstGeom prst="ellipse">
            <a:avLst/>
          </a:prstGeom>
          <a:solidFill>
            <a:srgbClr val="2F5D50"/>
          </a:solidFill>
          <a:ln w="12700">
            <a:solidFill>
              <a:srgbClr val="2F5D50"/>
            </a:solidFill>
            <a:prstDash val="solid"/>
          </a:ln>
        </p:spPr>
      </p:sp>
      <p:sp>
        <p:nvSpPr>
          <p:cNvPr id="8" name="Text 5"/>
          <p:cNvSpPr txBox="1"/>
          <p:nvPr/>
        </p:nvSpPr>
        <p:spPr>
          <a:xfrm>
            <a:off x="7543800" y="14264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9" name="Text 6"/>
          <p:cNvSpPr txBox="1"/>
          <p:nvPr/>
        </p:nvSpPr>
        <p:spPr>
          <a:xfrm>
            <a:off x="8001000" y="1435608"/>
            <a:ext cx="3730752" cy="292608"/>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구역 고르기</a:t>
            </a:r>
            <a:endParaRPr lang="en-US" sz="1350" dirty="0"/>
          </a:p>
        </p:txBody>
      </p:sp>
      <p:sp>
        <p:nvSpPr>
          <p:cNvPr id="10" name="Text 7"/>
          <p:cNvSpPr txBox="1"/>
          <p:nvPr/>
        </p:nvSpPr>
        <p:spPr>
          <a:xfrm>
            <a:off x="8001000" y="1764792"/>
            <a:ext cx="3730752" cy="420624"/>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원·다각형을 그리거나 행정동·격자를 고릅니다.</a:t>
            </a:r>
            <a:endParaRPr lang="en-US" sz="1150" dirty="0"/>
          </a:p>
        </p:txBody>
      </p:sp>
      <p:sp>
        <p:nvSpPr>
          <p:cNvPr id="11" name="Shape 8"/>
          <p:cNvSpPr/>
          <p:nvPr/>
        </p:nvSpPr>
        <p:spPr>
          <a:xfrm>
            <a:off x="7543800" y="2350008"/>
            <a:ext cx="329184" cy="329184"/>
          </a:xfrm>
          <a:prstGeom prst="ellipse">
            <a:avLst/>
          </a:prstGeom>
          <a:solidFill>
            <a:srgbClr val="2F5D50"/>
          </a:solidFill>
          <a:ln w="12700">
            <a:solidFill>
              <a:srgbClr val="2F5D50"/>
            </a:solidFill>
            <a:prstDash val="solid"/>
          </a:ln>
        </p:spPr>
      </p:sp>
      <p:sp>
        <p:nvSpPr>
          <p:cNvPr id="12" name="Text 9"/>
          <p:cNvSpPr txBox="1"/>
          <p:nvPr/>
        </p:nvSpPr>
        <p:spPr>
          <a:xfrm>
            <a:off x="7543800" y="235915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13" name="Text 10"/>
          <p:cNvSpPr txBox="1"/>
          <p:nvPr/>
        </p:nvSpPr>
        <p:spPr>
          <a:xfrm>
            <a:off x="8001000" y="2368296"/>
            <a:ext cx="3730752" cy="292608"/>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연도별 변화</a:t>
            </a:r>
            <a:endParaRPr lang="en-US" sz="1350" dirty="0"/>
          </a:p>
        </p:txBody>
      </p:sp>
      <p:sp>
        <p:nvSpPr>
          <p:cNvPr id="14" name="Text 11"/>
          <p:cNvSpPr txBox="1"/>
          <p:nvPr/>
        </p:nvSpPr>
        <p:spPr>
          <a:xfrm>
            <a:off x="8001000" y="2697480"/>
            <a:ext cx="3730752" cy="603504"/>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연도별 전력, 준공 단지, 기상·인구를 모읍니다. 전력은 K-apt 한 출처.</a:t>
            </a:r>
            <a:endParaRPr lang="en-US" sz="1150" dirty="0"/>
          </a:p>
        </p:txBody>
      </p:sp>
      <p:sp>
        <p:nvSpPr>
          <p:cNvPr id="15" name="Shape 12"/>
          <p:cNvSpPr/>
          <p:nvPr/>
        </p:nvSpPr>
        <p:spPr>
          <a:xfrm>
            <a:off x="7543800" y="3465576"/>
            <a:ext cx="329184" cy="329184"/>
          </a:xfrm>
          <a:prstGeom prst="ellipse">
            <a:avLst/>
          </a:prstGeom>
          <a:solidFill>
            <a:srgbClr val="2F5D50"/>
          </a:solidFill>
          <a:ln w="12700">
            <a:solidFill>
              <a:srgbClr val="2F5D50"/>
            </a:solidFill>
            <a:prstDash val="solid"/>
          </a:ln>
        </p:spPr>
      </p:sp>
      <p:sp>
        <p:nvSpPr>
          <p:cNvPr id="16" name="Text 13"/>
          <p:cNvSpPr txBox="1"/>
          <p:nvPr/>
        </p:nvSpPr>
        <p:spPr>
          <a:xfrm>
            <a:off x="7543800" y="34747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3</a:t>
            </a:r>
            <a:endParaRPr lang="en-US" sz="1200" dirty="0"/>
          </a:p>
        </p:txBody>
      </p:sp>
      <p:sp>
        <p:nvSpPr>
          <p:cNvPr id="17" name="Text 14"/>
          <p:cNvSpPr txBox="1"/>
          <p:nvPr/>
        </p:nvSpPr>
        <p:spPr>
          <a:xfrm>
            <a:off x="8001000" y="3483864"/>
            <a:ext cx="3730752" cy="292608"/>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개발 전후</a:t>
            </a:r>
            <a:endParaRPr lang="en-US" sz="1350" dirty="0"/>
          </a:p>
        </p:txBody>
      </p:sp>
      <p:sp>
        <p:nvSpPr>
          <p:cNvPr id="18" name="Text 15"/>
          <p:cNvSpPr txBox="1"/>
          <p:nvPr/>
        </p:nvSpPr>
        <p:spPr>
          <a:xfrm>
            <a:off x="8001000" y="3813048"/>
            <a:ext cx="3730752" cy="603504"/>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준공 연도를 기준으로, 두 기간 모두 보고한 같은 단지끼리 비교합니다.</a:t>
            </a:r>
            <a:endParaRPr lang="en-US" sz="1150" dirty="0"/>
          </a:p>
        </p:txBody>
      </p:sp>
      <p:sp>
        <p:nvSpPr>
          <p:cNvPr id="19" name="Shape 16"/>
          <p:cNvSpPr/>
          <p:nvPr/>
        </p:nvSpPr>
        <p:spPr>
          <a:xfrm>
            <a:off x="7543800" y="4581144"/>
            <a:ext cx="329184" cy="329184"/>
          </a:xfrm>
          <a:prstGeom prst="ellipse">
            <a:avLst/>
          </a:prstGeom>
          <a:solidFill>
            <a:srgbClr val="2F5D50"/>
          </a:solidFill>
          <a:ln w="12700">
            <a:solidFill>
              <a:srgbClr val="2F5D50"/>
            </a:solidFill>
            <a:prstDash val="solid"/>
          </a:ln>
        </p:spPr>
      </p:sp>
      <p:sp>
        <p:nvSpPr>
          <p:cNvPr id="20" name="Text 17"/>
          <p:cNvSpPr txBox="1"/>
          <p:nvPr/>
        </p:nvSpPr>
        <p:spPr>
          <a:xfrm>
            <a:off x="7543800" y="45902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4</a:t>
            </a:r>
            <a:endParaRPr lang="en-US" sz="1200" dirty="0"/>
          </a:p>
        </p:txBody>
      </p:sp>
      <p:sp>
        <p:nvSpPr>
          <p:cNvPr id="21" name="Text 18"/>
          <p:cNvSpPr txBox="1"/>
          <p:nvPr/>
        </p:nvSpPr>
        <p:spPr>
          <a:xfrm>
            <a:off x="8001000" y="4599432"/>
            <a:ext cx="3730752" cy="292608"/>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감축 노력</a:t>
            </a:r>
            <a:endParaRPr lang="en-US" sz="1350" dirty="0"/>
          </a:p>
        </p:txBody>
      </p:sp>
      <p:sp>
        <p:nvSpPr>
          <p:cNvPr id="22" name="Text 19"/>
          <p:cNvSpPr txBox="1"/>
          <p:nvPr/>
        </p:nvSpPr>
        <p:spPr>
          <a:xfrm>
            <a:off x="8001000" y="4928616"/>
            <a:ext cx="3730752" cy="603504"/>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추가 연면적과 목표 감축률을 넣으면 필요한 효율 개선·태양광을 구합니다.</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17</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사용법 ⑦</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기록과 자료: 보고서, 모델 검증, 수집 데이터</a:t>
            </a:r>
            <a:endParaRPr lang="en-US" sz="2500" dirty="0"/>
          </a:p>
        </p:txBody>
      </p:sp>
      <p:sp>
        <p:nvSpPr>
          <p:cNvPr id="5" name="Shape 3"/>
          <p:cNvSpPr/>
          <p:nvPr/>
        </p:nvSpPr>
        <p:spPr>
          <a:xfrm>
            <a:off x="438912" y="1307592"/>
            <a:ext cx="5559552" cy="3577886"/>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6" name="Image 0" descr="u14-reports-c.jpg">    </p:cNvPr>
          <p:cNvPicPr>
            <a:picLocks noChangeAspect="1"/>
          </p:cNvPicPr>
          <p:nvPr/>
        </p:nvPicPr>
        <p:blipFill>
          <a:blip r:embed="rId1"/>
          <a:stretch>
            <a:fillRect/>
          </a:stretch>
        </p:blipFill>
        <p:spPr>
          <a:xfrm>
            <a:off x="457200" y="1325880"/>
            <a:ext cx="5522976" cy="3541310"/>
          </a:xfrm>
          <a:prstGeom prst="rect">
            <a:avLst/>
          </a:prstGeom>
        </p:spPr>
      </p:pic>
      <p:sp>
        <p:nvSpPr>
          <p:cNvPr id="7" name="Shape 4"/>
          <p:cNvSpPr/>
          <p:nvPr/>
        </p:nvSpPr>
        <p:spPr>
          <a:xfrm>
            <a:off x="6190488" y="1307592"/>
            <a:ext cx="5559552" cy="3577886"/>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8" name="Image 1" descr="u13-data-c.jpg">    </p:cNvPr>
          <p:cNvPicPr>
            <a:picLocks noChangeAspect="1"/>
          </p:cNvPicPr>
          <p:nvPr/>
        </p:nvPicPr>
        <p:blipFill>
          <a:blip r:embed="rId2"/>
          <a:stretch>
            <a:fillRect/>
          </a:stretch>
        </p:blipFill>
        <p:spPr>
          <a:xfrm>
            <a:off x="6208776" y="1325880"/>
            <a:ext cx="5522976" cy="3541310"/>
          </a:xfrm>
          <a:prstGeom prst="rect">
            <a:avLst/>
          </a:prstGeom>
        </p:spPr>
      </p:pic>
      <p:sp>
        <p:nvSpPr>
          <p:cNvPr id="9" name="Shape 5"/>
          <p:cNvSpPr/>
          <p:nvPr/>
        </p:nvSpPr>
        <p:spPr>
          <a:xfrm>
            <a:off x="457200" y="5120640"/>
            <a:ext cx="329184" cy="329184"/>
          </a:xfrm>
          <a:prstGeom prst="ellipse">
            <a:avLst/>
          </a:prstGeom>
          <a:solidFill>
            <a:srgbClr val="2F5D50"/>
          </a:solidFill>
          <a:ln w="12700">
            <a:solidFill>
              <a:srgbClr val="2F5D50"/>
            </a:solidFill>
            <a:prstDash val="solid"/>
          </a:ln>
        </p:spPr>
      </p:sp>
      <p:sp>
        <p:nvSpPr>
          <p:cNvPr id="10" name="Text 6"/>
          <p:cNvSpPr txBox="1"/>
          <p:nvPr/>
        </p:nvSpPr>
        <p:spPr>
          <a:xfrm>
            <a:off x="457200" y="51297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11" name="Text 7"/>
          <p:cNvSpPr txBox="1"/>
          <p:nvPr/>
        </p:nvSpPr>
        <p:spPr>
          <a:xfrm>
            <a:off x="914400" y="5138928"/>
            <a:ext cx="3163824" cy="292608"/>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검토 보고서</a:t>
            </a:r>
            <a:endParaRPr lang="en-US" sz="1350" dirty="0"/>
          </a:p>
        </p:txBody>
      </p:sp>
      <p:sp>
        <p:nvSpPr>
          <p:cNvPr id="12" name="Text 8"/>
          <p:cNvSpPr txBox="1"/>
          <p:nvPr/>
        </p:nvSpPr>
        <p:spPr>
          <a:xfrm>
            <a:off x="914400" y="5468112"/>
            <a:ext cx="3163824" cy="82296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계획안 3개까지 골라 요약→대상지→현황→비교→유의사항→출처 순서로.</a:t>
            </a:r>
            <a:endParaRPr lang="en-US" sz="1150" dirty="0"/>
          </a:p>
        </p:txBody>
      </p:sp>
      <p:sp>
        <p:nvSpPr>
          <p:cNvPr id="13" name="Shape 9"/>
          <p:cNvSpPr/>
          <p:nvPr/>
        </p:nvSpPr>
        <p:spPr>
          <a:xfrm>
            <a:off x="4215384" y="5120640"/>
            <a:ext cx="329184" cy="329184"/>
          </a:xfrm>
          <a:prstGeom prst="ellipse">
            <a:avLst/>
          </a:prstGeom>
          <a:solidFill>
            <a:srgbClr val="2F5D50"/>
          </a:solidFill>
          <a:ln w="12700">
            <a:solidFill>
              <a:srgbClr val="2F5D50"/>
            </a:solidFill>
            <a:prstDash val="solid"/>
          </a:ln>
        </p:spPr>
      </p:sp>
      <p:sp>
        <p:nvSpPr>
          <p:cNvPr id="14" name="Text 10"/>
          <p:cNvSpPr txBox="1"/>
          <p:nvPr/>
        </p:nvSpPr>
        <p:spPr>
          <a:xfrm>
            <a:off x="4215384" y="51297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15" name="Text 11"/>
          <p:cNvSpPr txBox="1"/>
          <p:nvPr/>
        </p:nvSpPr>
        <p:spPr>
          <a:xfrm>
            <a:off x="4672584" y="5138928"/>
            <a:ext cx="3163824" cy="292608"/>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모델·공식 통계</a:t>
            </a:r>
            <a:endParaRPr lang="en-US" sz="1350" dirty="0"/>
          </a:p>
        </p:txBody>
      </p:sp>
      <p:sp>
        <p:nvSpPr>
          <p:cNvPr id="16" name="Text 12"/>
          <p:cNvSpPr txBox="1"/>
          <p:nvPr/>
        </p:nvSpPr>
        <p:spPr>
          <a:xfrm>
            <a:off x="4672584" y="5468112"/>
            <a:ext cx="3163824" cy="82296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모델 오차와, 지역 합계를 한전·인벤토리와 맞댄 결과.</a:t>
            </a:r>
            <a:endParaRPr lang="en-US" sz="1150" dirty="0"/>
          </a:p>
        </p:txBody>
      </p:sp>
      <p:sp>
        <p:nvSpPr>
          <p:cNvPr id="17" name="Shape 13"/>
          <p:cNvSpPr/>
          <p:nvPr/>
        </p:nvSpPr>
        <p:spPr>
          <a:xfrm>
            <a:off x="7973568" y="5120640"/>
            <a:ext cx="329184" cy="329184"/>
          </a:xfrm>
          <a:prstGeom prst="ellipse">
            <a:avLst/>
          </a:prstGeom>
          <a:solidFill>
            <a:srgbClr val="2F5D50"/>
          </a:solidFill>
          <a:ln w="12700">
            <a:solidFill>
              <a:srgbClr val="2F5D50"/>
            </a:solidFill>
            <a:prstDash val="solid"/>
          </a:ln>
        </p:spPr>
      </p:sp>
      <p:sp>
        <p:nvSpPr>
          <p:cNvPr id="18" name="Text 14"/>
          <p:cNvSpPr txBox="1"/>
          <p:nvPr/>
        </p:nvSpPr>
        <p:spPr>
          <a:xfrm>
            <a:off x="7973568" y="51297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3</a:t>
            </a:r>
            <a:endParaRPr lang="en-US" sz="1200" dirty="0"/>
          </a:p>
        </p:txBody>
      </p:sp>
      <p:sp>
        <p:nvSpPr>
          <p:cNvPr id="19" name="Text 15"/>
          <p:cNvSpPr txBox="1"/>
          <p:nvPr/>
        </p:nvSpPr>
        <p:spPr>
          <a:xfrm>
            <a:off x="8430768" y="5138928"/>
            <a:ext cx="3163824" cy="292608"/>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수집 데이터</a:t>
            </a:r>
            <a:endParaRPr lang="en-US" sz="1350" dirty="0"/>
          </a:p>
        </p:txBody>
      </p:sp>
      <p:sp>
        <p:nvSpPr>
          <p:cNvPr id="20" name="Text 16"/>
          <p:cNvSpPr txBox="1"/>
          <p:nvPr/>
        </p:nvSpPr>
        <p:spPr>
          <a:xfrm>
            <a:off x="8430768" y="5468112"/>
            <a:ext cx="3163824" cy="82296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자료별·연도별 수집 상태와 "빠진 자료 받기".</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F3A33"/>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8FB0A3"/>
                </a:solidFill>
                <a:latin typeface="Malgun Gothic" pitchFamily="34" charset="0"/>
                <a:ea typeface="Malgun Gothic" pitchFamily="34" charset="-122"/>
                <a:cs typeface="Malgun Gothic" pitchFamily="34" charset="-120"/>
              </a:rPr>
              <a:t>Carbon Urban DSS 소개와 활용 · 18</a:t>
            </a:r>
            <a:endParaRPr lang="en-US" sz="900" dirty="0"/>
          </a:p>
        </p:txBody>
      </p:sp>
      <p:sp>
        <p:nvSpPr>
          <p:cNvPr id="3" name="Text 1"/>
          <p:cNvSpPr txBox="1"/>
          <p:nvPr/>
        </p:nvSpPr>
        <p:spPr>
          <a:xfrm>
            <a:off x="548640" y="2011680"/>
            <a:ext cx="2743200" cy="457200"/>
          </a:xfrm>
          <a:prstGeom prst="rect">
            <a:avLst/>
          </a:prstGeom>
          <a:noFill/>
          <a:ln/>
        </p:spPr>
        <p:txBody>
          <a:bodyPr wrap="square" lIns="0" tIns="0" rIns="0" bIns="0" rtlCol="0" anchor="t"/>
          <a:lstStyle/>
          <a:p>
            <a:pPr indent="0" marL="0">
              <a:buNone/>
            </a:pPr>
            <a:r>
              <a:rPr lang="en-US" sz="1800" b="1" dirty="0">
                <a:solidFill>
                  <a:srgbClr val="A9C7BA"/>
                </a:solidFill>
                <a:latin typeface="Malgun Gothic" pitchFamily="34" charset="0"/>
                <a:ea typeface="Malgun Gothic" pitchFamily="34" charset="-122"/>
                <a:cs typeface="Malgun Gothic" pitchFamily="34" charset="-120"/>
              </a:rPr>
              <a:t>03</a:t>
            </a:r>
            <a:endParaRPr lang="en-US" sz="1800" dirty="0"/>
          </a:p>
        </p:txBody>
      </p:sp>
      <p:sp>
        <p:nvSpPr>
          <p:cNvPr id="4" name="Text 2"/>
          <p:cNvSpPr txBox="1"/>
          <p:nvPr/>
        </p:nvSpPr>
        <p:spPr>
          <a:xfrm>
            <a:off x="548640" y="2514600"/>
            <a:ext cx="10058400" cy="914400"/>
          </a:xfrm>
          <a:prstGeom prst="rect">
            <a:avLst/>
          </a:prstGeom>
          <a:noFill/>
          <a:ln/>
        </p:spPr>
        <p:txBody>
          <a:bodyPr wrap="square" lIns="0" tIns="0" rIns="0" bIns="0" rtlCol="0" anchor="t"/>
          <a:lstStyle/>
          <a:p>
            <a:pPr indent="0" marL="0">
              <a:buNone/>
            </a:pPr>
            <a:r>
              <a:rPr lang="en-US" sz="3800" b="1" dirty="0">
                <a:solidFill>
                  <a:srgbClr val="FFFFFF"/>
                </a:solidFill>
                <a:latin typeface="Malgun Gothic" pitchFamily="34" charset="0"/>
                <a:ea typeface="Malgun Gothic" pitchFamily="34" charset="-122"/>
                <a:cs typeface="Malgun Gothic" pitchFamily="34" charset="-120"/>
              </a:rPr>
              <a:t>어디에 쓰나: 활용 예시 11가지</a:t>
            </a:r>
            <a:endParaRPr lang="en-US" sz="3800" dirty="0"/>
          </a:p>
        </p:txBody>
      </p:sp>
      <p:sp>
        <p:nvSpPr>
          <p:cNvPr id="5" name="Text 3"/>
          <p:cNvSpPr txBox="1"/>
          <p:nvPr/>
        </p:nvSpPr>
        <p:spPr>
          <a:xfrm>
            <a:off x="548640" y="3566160"/>
            <a:ext cx="10058400" cy="822960"/>
          </a:xfrm>
          <a:prstGeom prst="rect">
            <a:avLst/>
          </a:prstGeom>
          <a:noFill/>
          <a:ln/>
        </p:spPr>
        <p:txBody>
          <a:bodyPr wrap="square" lIns="0" tIns="0" rIns="0" bIns="0" rtlCol="0" anchor="t"/>
          <a:lstStyle/>
          <a:p>
            <a:pPr indent="0" marL="0">
              <a:lnSpc>
                <a:spcPct val="115000"/>
              </a:lnSpc>
              <a:buNone/>
            </a:pPr>
            <a:r>
              <a:rPr lang="en-US" sz="1600" dirty="0">
                <a:solidFill>
                  <a:srgbClr val="CFE0D8"/>
                </a:solidFill>
                <a:latin typeface="Malgun Gothic" pitchFamily="34" charset="0"/>
                <a:ea typeface="Malgun Gothic" pitchFamily="34" charset="-122"/>
                <a:cs typeface="Malgun Gothic" pitchFamily="34" charset="-120"/>
              </a:rPr>
              <a:t>실제 업체·기관이 할 법한 질문을 PC의 실데이터 위에서 계산했습니다.</a:t>
            </a:r>
            <a:endParaRPr lang="en-US" sz="1600" dirty="0"/>
          </a:p>
          <a:p>
            <a:pPr indent="0" marL="0">
              <a:lnSpc>
                <a:spcPct val="115000"/>
              </a:lnSpc>
              <a:buNone/>
            </a:pPr>
            <a:r>
              <a:rPr lang="en-US" sz="1600" dirty="0">
                <a:solidFill>
                  <a:srgbClr val="CFE0D8"/>
                </a:solidFill>
                <a:latin typeface="Malgun Gothic" pitchFamily="34" charset="0"/>
                <a:ea typeface="Malgun Gothic" pitchFamily="34" charset="-122"/>
                <a:cs typeface="Malgun Gothic" pitchFamily="34" charset="-120"/>
              </a:rPr>
              <a:t>계획·목표는 가상의 입력이고, 기준값은 관측입니다.</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19</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활용 예시</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누가, 무엇을 묻고, 어느 메뉴로 답하나</a:t>
            </a:r>
            <a:endParaRPr lang="en-US" sz="2500" dirty="0"/>
          </a:p>
        </p:txBody>
      </p:sp>
      <p:sp>
        <p:nvSpPr>
          <p:cNvPr id="5" name="Shape 3"/>
          <p:cNvSpPr/>
          <p:nvPr/>
        </p:nvSpPr>
        <p:spPr>
          <a:xfrm>
            <a:off x="457200" y="1325880"/>
            <a:ext cx="3611880" cy="1078992"/>
          </a:xfrm>
          <a:prstGeom prst="roundRect">
            <a:avLst>
              <a:gd name="adj" fmla="val 6780"/>
            </a:avLst>
          </a:prstGeom>
          <a:solidFill>
            <a:srgbClr val="F4F6F4"/>
          </a:solidFill>
          <a:ln w="9525">
            <a:solidFill>
              <a:srgbClr val="D9D7CE"/>
            </a:solidFill>
            <a:prstDash val="solid"/>
          </a:ln>
        </p:spPr>
      </p:sp>
      <p:sp>
        <p:nvSpPr>
          <p:cNvPr id="6" name="Shape 4"/>
          <p:cNvSpPr/>
          <p:nvPr/>
        </p:nvSpPr>
        <p:spPr>
          <a:xfrm>
            <a:off x="640080" y="1508760"/>
            <a:ext cx="347472" cy="347472"/>
          </a:xfrm>
          <a:prstGeom prst="ellipse">
            <a:avLst/>
          </a:prstGeom>
          <a:solidFill>
            <a:srgbClr val="2F5D50"/>
          </a:solidFill>
          <a:ln w="12700">
            <a:solidFill>
              <a:srgbClr val="2F5D50"/>
            </a:solidFill>
            <a:prstDash val="solid"/>
          </a:ln>
        </p:spPr>
      </p:sp>
      <p:sp>
        <p:nvSpPr>
          <p:cNvPr id="7" name="Text 5"/>
          <p:cNvSpPr txBox="1"/>
          <p:nvPr/>
        </p:nvSpPr>
        <p:spPr>
          <a:xfrm>
            <a:off x="640080" y="151790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8" name="Text 6"/>
          <p:cNvSpPr txBox="1"/>
          <p:nvPr/>
        </p:nvSpPr>
        <p:spPr>
          <a:xfrm>
            <a:off x="1115568" y="1481328"/>
            <a:ext cx="283464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시행사·건설사</a:t>
            </a:r>
            <a:endParaRPr lang="en-US" sz="1200" dirty="0"/>
          </a:p>
        </p:txBody>
      </p:sp>
      <p:sp>
        <p:nvSpPr>
          <p:cNvPr id="9" name="Text 7"/>
          <p:cNvSpPr txBox="1"/>
          <p:nvPr/>
        </p:nvSpPr>
        <p:spPr>
          <a:xfrm>
            <a:off x="1115568" y="1764792"/>
            <a:ext cx="2834640" cy="329184"/>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고효율 설계를 하면 탄소가 얼마나 줄까?</a:t>
            </a:r>
            <a:endParaRPr lang="en-US" sz="1250" dirty="0"/>
          </a:p>
        </p:txBody>
      </p:sp>
      <p:sp>
        <p:nvSpPr>
          <p:cNvPr id="10" name="Text 8"/>
          <p:cNvSpPr txBox="1"/>
          <p:nvPr/>
        </p:nvSpPr>
        <p:spPr>
          <a:xfrm>
            <a:off x="1115568" y="2093976"/>
            <a:ext cx="2834640" cy="237744"/>
          </a:xfrm>
          <a:prstGeom prst="rect">
            <a:avLst/>
          </a:prstGeom>
          <a:noFill/>
          <a:ln/>
        </p:spPr>
        <p:txBody>
          <a:bodyPr wrap="square" lIns="0" tIns="0" rIns="0" bIns="0" rtlCol="0" anchor="t"/>
          <a:lstStyle/>
          <a:p>
            <a:pPr indent="0" marL="0">
              <a:buNone/>
            </a:pPr>
            <a:r>
              <a:rPr lang="en-US" sz="1000" dirty="0">
                <a:solidFill>
                  <a:srgbClr val="6B746E"/>
                </a:solidFill>
                <a:latin typeface="Malgun Gothic" pitchFamily="34" charset="0"/>
                <a:ea typeface="Malgun Gothic" pitchFamily="34" charset="-122"/>
                <a:cs typeface="Malgun Gothic" pitchFamily="34" charset="-120"/>
              </a:rPr>
              <a:t>시뮬레이션</a:t>
            </a:r>
            <a:endParaRPr lang="en-US" sz="1000" dirty="0"/>
          </a:p>
        </p:txBody>
      </p:sp>
      <p:sp>
        <p:nvSpPr>
          <p:cNvPr id="11" name="Shape 9"/>
          <p:cNvSpPr/>
          <p:nvPr/>
        </p:nvSpPr>
        <p:spPr>
          <a:xfrm>
            <a:off x="4279392" y="1325880"/>
            <a:ext cx="3611880" cy="1078992"/>
          </a:xfrm>
          <a:prstGeom prst="roundRect">
            <a:avLst>
              <a:gd name="adj" fmla="val 6780"/>
            </a:avLst>
          </a:prstGeom>
          <a:solidFill>
            <a:srgbClr val="F4F6F4"/>
          </a:solidFill>
          <a:ln w="9525">
            <a:solidFill>
              <a:srgbClr val="D9D7CE"/>
            </a:solidFill>
            <a:prstDash val="solid"/>
          </a:ln>
        </p:spPr>
      </p:sp>
      <p:sp>
        <p:nvSpPr>
          <p:cNvPr id="12" name="Shape 10"/>
          <p:cNvSpPr/>
          <p:nvPr/>
        </p:nvSpPr>
        <p:spPr>
          <a:xfrm>
            <a:off x="4462272" y="1508760"/>
            <a:ext cx="347472" cy="347472"/>
          </a:xfrm>
          <a:prstGeom prst="ellipse">
            <a:avLst/>
          </a:prstGeom>
          <a:solidFill>
            <a:srgbClr val="B7792F"/>
          </a:solidFill>
          <a:ln w="12700">
            <a:solidFill>
              <a:srgbClr val="B7792F"/>
            </a:solidFill>
            <a:prstDash val="solid"/>
          </a:ln>
        </p:spPr>
      </p:sp>
      <p:sp>
        <p:nvSpPr>
          <p:cNvPr id="13" name="Text 11"/>
          <p:cNvSpPr txBox="1"/>
          <p:nvPr/>
        </p:nvSpPr>
        <p:spPr>
          <a:xfrm>
            <a:off x="4462272" y="151790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14" name="Text 12"/>
          <p:cNvSpPr txBox="1"/>
          <p:nvPr/>
        </p:nvSpPr>
        <p:spPr>
          <a:xfrm>
            <a:off x="4937760" y="1481328"/>
            <a:ext cx="283464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설계사무소</a:t>
            </a:r>
            <a:endParaRPr lang="en-US" sz="1200" dirty="0"/>
          </a:p>
        </p:txBody>
      </p:sp>
      <p:sp>
        <p:nvSpPr>
          <p:cNvPr id="15" name="Text 13"/>
          <p:cNvSpPr txBox="1"/>
          <p:nvPr/>
        </p:nvSpPr>
        <p:spPr>
          <a:xfrm>
            <a:off x="4937760" y="1764792"/>
            <a:ext cx="2834640" cy="329184"/>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용도지역 상한 안에서 어떤 배치가 좋을까?</a:t>
            </a:r>
            <a:endParaRPr lang="en-US" sz="1250" dirty="0"/>
          </a:p>
        </p:txBody>
      </p:sp>
      <p:sp>
        <p:nvSpPr>
          <p:cNvPr id="16" name="Text 14"/>
          <p:cNvSpPr txBox="1"/>
          <p:nvPr/>
        </p:nvSpPr>
        <p:spPr>
          <a:xfrm>
            <a:off x="4937760" y="2093976"/>
            <a:ext cx="2834640" cy="237744"/>
          </a:xfrm>
          <a:prstGeom prst="rect">
            <a:avLst/>
          </a:prstGeom>
          <a:noFill/>
          <a:ln/>
        </p:spPr>
        <p:txBody>
          <a:bodyPr wrap="square" lIns="0" tIns="0" rIns="0" bIns="0" rtlCol="0" anchor="t"/>
          <a:lstStyle/>
          <a:p>
            <a:pPr indent="0" marL="0">
              <a:buNone/>
            </a:pPr>
            <a:r>
              <a:rPr lang="en-US" sz="1000" dirty="0">
                <a:solidFill>
                  <a:srgbClr val="6B746E"/>
                </a:solidFill>
                <a:latin typeface="Malgun Gothic" pitchFamily="34" charset="0"/>
                <a:ea typeface="Malgun Gothic" pitchFamily="34" charset="-122"/>
                <a:cs typeface="Malgun Gothic" pitchFamily="34" charset="-120"/>
              </a:rPr>
              <a:t>시뮬레이션 · 최적화</a:t>
            </a:r>
            <a:endParaRPr lang="en-US" sz="1000" dirty="0"/>
          </a:p>
        </p:txBody>
      </p:sp>
      <p:sp>
        <p:nvSpPr>
          <p:cNvPr id="17" name="Shape 15"/>
          <p:cNvSpPr/>
          <p:nvPr/>
        </p:nvSpPr>
        <p:spPr>
          <a:xfrm>
            <a:off x="8101584" y="1325880"/>
            <a:ext cx="3611880" cy="1078992"/>
          </a:xfrm>
          <a:prstGeom prst="roundRect">
            <a:avLst>
              <a:gd name="adj" fmla="val 6780"/>
            </a:avLst>
          </a:prstGeom>
          <a:solidFill>
            <a:srgbClr val="F4F6F4"/>
          </a:solidFill>
          <a:ln w="9525">
            <a:solidFill>
              <a:srgbClr val="D9D7CE"/>
            </a:solidFill>
            <a:prstDash val="solid"/>
          </a:ln>
        </p:spPr>
      </p:sp>
      <p:sp>
        <p:nvSpPr>
          <p:cNvPr id="18" name="Shape 16"/>
          <p:cNvSpPr/>
          <p:nvPr/>
        </p:nvSpPr>
        <p:spPr>
          <a:xfrm>
            <a:off x="8284464" y="1508760"/>
            <a:ext cx="347472" cy="347472"/>
          </a:xfrm>
          <a:prstGeom prst="ellipse">
            <a:avLst/>
          </a:prstGeom>
          <a:solidFill>
            <a:srgbClr val="2F5D50"/>
          </a:solidFill>
          <a:ln w="12700">
            <a:solidFill>
              <a:srgbClr val="2F5D50"/>
            </a:solidFill>
            <a:prstDash val="solid"/>
          </a:ln>
        </p:spPr>
      </p:sp>
      <p:sp>
        <p:nvSpPr>
          <p:cNvPr id="19" name="Text 17"/>
          <p:cNvSpPr txBox="1"/>
          <p:nvPr/>
        </p:nvSpPr>
        <p:spPr>
          <a:xfrm>
            <a:off x="8284464" y="151790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3</a:t>
            </a:r>
            <a:endParaRPr lang="en-US" sz="1200" dirty="0"/>
          </a:p>
        </p:txBody>
      </p:sp>
      <p:sp>
        <p:nvSpPr>
          <p:cNvPr id="20" name="Text 18"/>
          <p:cNvSpPr txBox="1"/>
          <p:nvPr/>
        </p:nvSpPr>
        <p:spPr>
          <a:xfrm>
            <a:off x="8759952" y="1481328"/>
            <a:ext cx="283464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전국 사업 건설사</a:t>
            </a:r>
            <a:endParaRPr lang="en-US" sz="1200" dirty="0"/>
          </a:p>
        </p:txBody>
      </p:sp>
      <p:sp>
        <p:nvSpPr>
          <p:cNvPr id="21" name="Text 19"/>
          <p:cNvSpPr txBox="1"/>
          <p:nvPr/>
        </p:nvSpPr>
        <p:spPr>
          <a:xfrm>
            <a:off x="8759952" y="1764792"/>
            <a:ext cx="2834640" cy="329184"/>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같은 계획을 다른 도시에서 하면?</a:t>
            </a:r>
            <a:endParaRPr lang="en-US" sz="1250" dirty="0"/>
          </a:p>
        </p:txBody>
      </p:sp>
      <p:sp>
        <p:nvSpPr>
          <p:cNvPr id="22" name="Text 20"/>
          <p:cNvSpPr txBox="1"/>
          <p:nvPr/>
        </p:nvSpPr>
        <p:spPr>
          <a:xfrm>
            <a:off x="8759952" y="2093976"/>
            <a:ext cx="2834640" cy="237744"/>
          </a:xfrm>
          <a:prstGeom prst="rect">
            <a:avLst/>
          </a:prstGeom>
          <a:noFill/>
          <a:ln/>
        </p:spPr>
        <p:txBody>
          <a:bodyPr wrap="square" lIns="0" tIns="0" rIns="0" bIns="0" rtlCol="0" anchor="t"/>
          <a:lstStyle/>
          <a:p>
            <a:pPr indent="0" marL="0">
              <a:buNone/>
            </a:pPr>
            <a:r>
              <a:rPr lang="en-US" sz="1000" dirty="0">
                <a:solidFill>
                  <a:srgbClr val="6B746E"/>
                </a:solidFill>
                <a:latin typeface="Malgun Gothic" pitchFamily="34" charset="0"/>
                <a:ea typeface="Malgun Gothic" pitchFamily="34" charset="-122"/>
                <a:cs typeface="Malgun Gothic" pitchFamily="34" charset="-120"/>
              </a:rPr>
              <a:t>시뮬레이션</a:t>
            </a:r>
            <a:endParaRPr lang="en-US" sz="1000" dirty="0"/>
          </a:p>
        </p:txBody>
      </p:sp>
      <p:sp>
        <p:nvSpPr>
          <p:cNvPr id="23" name="Shape 21"/>
          <p:cNvSpPr/>
          <p:nvPr/>
        </p:nvSpPr>
        <p:spPr>
          <a:xfrm>
            <a:off x="457200" y="2542032"/>
            <a:ext cx="3611880" cy="1078992"/>
          </a:xfrm>
          <a:prstGeom prst="roundRect">
            <a:avLst>
              <a:gd name="adj" fmla="val 6780"/>
            </a:avLst>
          </a:prstGeom>
          <a:solidFill>
            <a:srgbClr val="F4F6F4"/>
          </a:solidFill>
          <a:ln w="9525">
            <a:solidFill>
              <a:srgbClr val="D9D7CE"/>
            </a:solidFill>
            <a:prstDash val="solid"/>
          </a:ln>
        </p:spPr>
      </p:sp>
      <p:sp>
        <p:nvSpPr>
          <p:cNvPr id="24" name="Shape 22"/>
          <p:cNvSpPr/>
          <p:nvPr/>
        </p:nvSpPr>
        <p:spPr>
          <a:xfrm>
            <a:off x="640080" y="2724912"/>
            <a:ext cx="347472" cy="347472"/>
          </a:xfrm>
          <a:prstGeom prst="ellipse">
            <a:avLst/>
          </a:prstGeom>
          <a:solidFill>
            <a:srgbClr val="B7792F"/>
          </a:solidFill>
          <a:ln w="12700">
            <a:solidFill>
              <a:srgbClr val="B7792F"/>
            </a:solidFill>
            <a:prstDash val="solid"/>
          </a:ln>
        </p:spPr>
      </p:sp>
      <p:sp>
        <p:nvSpPr>
          <p:cNvPr id="25" name="Text 23"/>
          <p:cNvSpPr txBox="1"/>
          <p:nvPr/>
        </p:nvSpPr>
        <p:spPr>
          <a:xfrm>
            <a:off x="640080" y="273405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4</a:t>
            </a:r>
            <a:endParaRPr lang="en-US" sz="1200" dirty="0"/>
          </a:p>
        </p:txBody>
      </p:sp>
      <p:sp>
        <p:nvSpPr>
          <p:cNvPr id="26" name="Text 24"/>
          <p:cNvSpPr txBox="1"/>
          <p:nvPr/>
        </p:nvSpPr>
        <p:spPr>
          <a:xfrm>
            <a:off x="1115568" y="2697480"/>
            <a:ext cx="283464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도시가스·전력 공급사</a:t>
            </a:r>
            <a:endParaRPr lang="en-US" sz="1200" dirty="0"/>
          </a:p>
        </p:txBody>
      </p:sp>
      <p:sp>
        <p:nvSpPr>
          <p:cNvPr id="27" name="Text 25"/>
          <p:cNvSpPr txBox="1"/>
          <p:nvPr/>
        </p:nvSpPr>
        <p:spPr>
          <a:xfrm>
            <a:off x="1115568" y="2980944"/>
            <a:ext cx="2834640" cy="329184"/>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1,000세대 단지의 월별 수요는?</a:t>
            </a:r>
            <a:endParaRPr lang="en-US" sz="1250" dirty="0"/>
          </a:p>
        </p:txBody>
      </p:sp>
      <p:sp>
        <p:nvSpPr>
          <p:cNvPr id="28" name="Text 26"/>
          <p:cNvSpPr txBox="1"/>
          <p:nvPr/>
        </p:nvSpPr>
        <p:spPr>
          <a:xfrm>
            <a:off x="1115568" y="3310128"/>
            <a:ext cx="2834640" cy="237744"/>
          </a:xfrm>
          <a:prstGeom prst="rect">
            <a:avLst/>
          </a:prstGeom>
          <a:noFill/>
          <a:ln/>
        </p:spPr>
        <p:txBody>
          <a:bodyPr wrap="square" lIns="0" tIns="0" rIns="0" bIns="0" rtlCol="0" anchor="t"/>
          <a:lstStyle/>
          <a:p>
            <a:pPr indent="0" marL="0">
              <a:buNone/>
            </a:pPr>
            <a:r>
              <a:rPr lang="en-US" sz="1000" dirty="0">
                <a:solidFill>
                  <a:srgbClr val="6B746E"/>
                </a:solidFill>
                <a:latin typeface="Malgun Gothic" pitchFamily="34" charset="0"/>
                <a:ea typeface="Malgun Gothic" pitchFamily="34" charset="-122"/>
                <a:cs typeface="Malgun Gothic" pitchFamily="34" charset="-120"/>
              </a:rPr>
              <a:t>시뮬레이션</a:t>
            </a:r>
            <a:endParaRPr lang="en-US" sz="1000" dirty="0"/>
          </a:p>
        </p:txBody>
      </p:sp>
      <p:sp>
        <p:nvSpPr>
          <p:cNvPr id="29" name="Shape 27"/>
          <p:cNvSpPr/>
          <p:nvPr/>
        </p:nvSpPr>
        <p:spPr>
          <a:xfrm>
            <a:off x="4279392" y="2542032"/>
            <a:ext cx="3611880" cy="1078992"/>
          </a:xfrm>
          <a:prstGeom prst="roundRect">
            <a:avLst>
              <a:gd name="adj" fmla="val 6780"/>
            </a:avLst>
          </a:prstGeom>
          <a:solidFill>
            <a:srgbClr val="F4F6F4"/>
          </a:solidFill>
          <a:ln w="9525">
            <a:solidFill>
              <a:srgbClr val="D9D7CE"/>
            </a:solidFill>
            <a:prstDash val="solid"/>
          </a:ln>
        </p:spPr>
      </p:sp>
      <p:sp>
        <p:nvSpPr>
          <p:cNvPr id="30" name="Shape 28"/>
          <p:cNvSpPr/>
          <p:nvPr/>
        </p:nvSpPr>
        <p:spPr>
          <a:xfrm>
            <a:off x="4462272" y="2724912"/>
            <a:ext cx="347472" cy="347472"/>
          </a:xfrm>
          <a:prstGeom prst="ellipse">
            <a:avLst/>
          </a:prstGeom>
          <a:solidFill>
            <a:srgbClr val="2F5D50"/>
          </a:solidFill>
          <a:ln w="12700">
            <a:solidFill>
              <a:srgbClr val="2F5D50"/>
            </a:solidFill>
            <a:prstDash val="solid"/>
          </a:ln>
        </p:spPr>
      </p:sp>
      <p:sp>
        <p:nvSpPr>
          <p:cNvPr id="31" name="Text 29"/>
          <p:cNvSpPr txBox="1"/>
          <p:nvPr/>
        </p:nvSpPr>
        <p:spPr>
          <a:xfrm>
            <a:off x="4462272" y="273405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5</a:t>
            </a:r>
            <a:endParaRPr lang="en-US" sz="1200" dirty="0"/>
          </a:p>
        </p:txBody>
      </p:sp>
      <p:sp>
        <p:nvSpPr>
          <p:cNvPr id="32" name="Text 30"/>
          <p:cNvSpPr txBox="1"/>
          <p:nvPr/>
        </p:nvSpPr>
        <p:spPr>
          <a:xfrm>
            <a:off x="4937760" y="2697480"/>
            <a:ext cx="283464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지자체 기후·도시계획</a:t>
            </a:r>
            <a:endParaRPr lang="en-US" sz="1200" dirty="0"/>
          </a:p>
        </p:txBody>
      </p:sp>
      <p:sp>
        <p:nvSpPr>
          <p:cNvPr id="33" name="Text 31"/>
          <p:cNvSpPr txBox="1"/>
          <p:nvPr/>
        </p:nvSpPr>
        <p:spPr>
          <a:xfrm>
            <a:off x="4937760" y="2980944"/>
            <a:ext cx="2834640" cy="329184"/>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신규 개발에도 20%를 줄이려면?</a:t>
            </a:r>
            <a:endParaRPr lang="en-US" sz="1250" dirty="0"/>
          </a:p>
        </p:txBody>
      </p:sp>
      <p:sp>
        <p:nvSpPr>
          <p:cNvPr id="34" name="Text 32"/>
          <p:cNvSpPr txBox="1"/>
          <p:nvPr/>
        </p:nvSpPr>
        <p:spPr>
          <a:xfrm>
            <a:off x="4937760" y="3310128"/>
            <a:ext cx="2834640" cy="237744"/>
          </a:xfrm>
          <a:prstGeom prst="rect">
            <a:avLst/>
          </a:prstGeom>
          <a:noFill/>
          <a:ln/>
        </p:spPr>
        <p:txBody>
          <a:bodyPr wrap="square" lIns="0" tIns="0" rIns="0" bIns="0" rtlCol="0" anchor="t"/>
          <a:lstStyle/>
          <a:p>
            <a:pPr indent="0" marL="0">
              <a:buNone/>
            </a:pPr>
            <a:r>
              <a:rPr lang="en-US" sz="1000" dirty="0">
                <a:solidFill>
                  <a:srgbClr val="6B746E"/>
                </a:solidFill>
                <a:latin typeface="Malgun Gothic" pitchFamily="34" charset="0"/>
                <a:ea typeface="Malgun Gothic" pitchFamily="34" charset="-122"/>
                <a:cs typeface="Malgun Gothic" pitchFamily="34" charset="-120"/>
              </a:rPr>
              <a:t>지역 시뮬레이션</a:t>
            </a:r>
            <a:endParaRPr lang="en-US" sz="1000" dirty="0"/>
          </a:p>
        </p:txBody>
      </p:sp>
      <p:sp>
        <p:nvSpPr>
          <p:cNvPr id="35" name="Shape 33"/>
          <p:cNvSpPr/>
          <p:nvPr/>
        </p:nvSpPr>
        <p:spPr>
          <a:xfrm>
            <a:off x="8101584" y="2542032"/>
            <a:ext cx="3611880" cy="1078992"/>
          </a:xfrm>
          <a:prstGeom prst="roundRect">
            <a:avLst>
              <a:gd name="adj" fmla="val 6780"/>
            </a:avLst>
          </a:prstGeom>
          <a:solidFill>
            <a:srgbClr val="F4F6F4"/>
          </a:solidFill>
          <a:ln w="9525">
            <a:solidFill>
              <a:srgbClr val="D9D7CE"/>
            </a:solidFill>
            <a:prstDash val="solid"/>
          </a:ln>
        </p:spPr>
      </p:sp>
      <p:sp>
        <p:nvSpPr>
          <p:cNvPr id="36" name="Shape 34"/>
          <p:cNvSpPr/>
          <p:nvPr/>
        </p:nvSpPr>
        <p:spPr>
          <a:xfrm>
            <a:off x="8284464" y="2724912"/>
            <a:ext cx="347472" cy="347472"/>
          </a:xfrm>
          <a:prstGeom prst="ellipse">
            <a:avLst/>
          </a:prstGeom>
          <a:solidFill>
            <a:srgbClr val="B7792F"/>
          </a:solidFill>
          <a:ln w="12700">
            <a:solidFill>
              <a:srgbClr val="B7792F"/>
            </a:solidFill>
            <a:prstDash val="solid"/>
          </a:ln>
        </p:spPr>
      </p:sp>
      <p:sp>
        <p:nvSpPr>
          <p:cNvPr id="37" name="Text 35"/>
          <p:cNvSpPr txBox="1"/>
          <p:nvPr/>
        </p:nvSpPr>
        <p:spPr>
          <a:xfrm>
            <a:off x="8284464" y="273405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6</a:t>
            </a:r>
            <a:endParaRPr lang="en-US" sz="1200" dirty="0"/>
          </a:p>
        </p:txBody>
      </p:sp>
      <p:sp>
        <p:nvSpPr>
          <p:cNvPr id="38" name="Text 36"/>
          <p:cNvSpPr txBox="1"/>
          <p:nvPr/>
        </p:nvSpPr>
        <p:spPr>
          <a:xfrm>
            <a:off x="8759952" y="2697480"/>
            <a:ext cx="283464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에너지 컨설팅(ESCO)</a:t>
            </a:r>
            <a:endParaRPr lang="en-US" sz="1200" dirty="0"/>
          </a:p>
        </p:txBody>
      </p:sp>
      <p:sp>
        <p:nvSpPr>
          <p:cNvPr id="39" name="Text 37"/>
          <p:cNvSpPr txBox="1"/>
          <p:nvPr/>
        </p:nvSpPr>
        <p:spPr>
          <a:xfrm>
            <a:off x="8759952" y="2980944"/>
            <a:ext cx="2834640" cy="329184"/>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노후·가스 다소비 단지는 어디?</a:t>
            </a:r>
            <a:endParaRPr lang="en-US" sz="1250" dirty="0"/>
          </a:p>
        </p:txBody>
      </p:sp>
      <p:sp>
        <p:nvSpPr>
          <p:cNvPr id="40" name="Text 38"/>
          <p:cNvSpPr txBox="1"/>
          <p:nvPr/>
        </p:nvSpPr>
        <p:spPr>
          <a:xfrm>
            <a:off x="8759952" y="3310128"/>
            <a:ext cx="2834640" cy="237744"/>
          </a:xfrm>
          <a:prstGeom prst="rect">
            <a:avLst/>
          </a:prstGeom>
          <a:noFill/>
          <a:ln/>
        </p:spPr>
        <p:txBody>
          <a:bodyPr wrap="square" lIns="0" tIns="0" rIns="0" bIns="0" rtlCol="0" anchor="t"/>
          <a:lstStyle/>
          <a:p>
            <a:pPr indent="0" marL="0">
              <a:buNone/>
            </a:pPr>
            <a:r>
              <a:rPr lang="en-US" sz="1000" dirty="0">
                <a:solidFill>
                  <a:srgbClr val="6B746E"/>
                </a:solidFill>
                <a:latin typeface="Malgun Gothic" pitchFamily="34" charset="0"/>
                <a:ea typeface="Malgun Gothic" pitchFamily="34" charset="-122"/>
                <a:cs typeface="Malgun Gothic" pitchFamily="34" charset="-120"/>
              </a:rPr>
              <a:t>지도 분석</a:t>
            </a:r>
            <a:endParaRPr lang="en-US" sz="1000" dirty="0"/>
          </a:p>
        </p:txBody>
      </p:sp>
      <p:sp>
        <p:nvSpPr>
          <p:cNvPr id="41" name="Shape 39"/>
          <p:cNvSpPr/>
          <p:nvPr/>
        </p:nvSpPr>
        <p:spPr>
          <a:xfrm>
            <a:off x="457200" y="3758184"/>
            <a:ext cx="3611880" cy="1078992"/>
          </a:xfrm>
          <a:prstGeom prst="roundRect">
            <a:avLst>
              <a:gd name="adj" fmla="val 6780"/>
            </a:avLst>
          </a:prstGeom>
          <a:solidFill>
            <a:srgbClr val="F4F6F4"/>
          </a:solidFill>
          <a:ln w="9525">
            <a:solidFill>
              <a:srgbClr val="D9D7CE"/>
            </a:solidFill>
            <a:prstDash val="solid"/>
          </a:ln>
        </p:spPr>
      </p:sp>
      <p:sp>
        <p:nvSpPr>
          <p:cNvPr id="42" name="Shape 40"/>
          <p:cNvSpPr/>
          <p:nvPr/>
        </p:nvSpPr>
        <p:spPr>
          <a:xfrm>
            <a:off x="640080" y="3941064"/>
            <a:ext cx="347472" cy="347472"/>
          </a:xfrm>
          <a:prstGeom prst="ellipse">
            <a:avLst/>
          </a:prstGeom>
          <a:solidFill>
            <a:srgbClr val="2F5D50"/>
          </a:solidFill>
          <a:ln w="12700">
            <a:solidFill>
              <a:srgbClr val="2F5D50"/>
            </a:solidFill>
            <a:prstDash val="solid"/>
          </a:ln>
        </p:spPr>
      </p:sp>
      <p:sp>
        <p:nvSpPr>
          <p:cNvPr id="43" name="Text 41"/>
          <p:cNvSpPr txBox="1"/>
          <p:nvPr/>
        </p:nvSpPr>
        <p:spPr>
          <a:xfrm>
            <a:off x="640080" y="39502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7</a:t>
            </a:r>
            <a:endParaRPr lang="en-US" sz="1200" dirty="0"/>
          </a:p>
        </p:txBody>
      </p:sp>
      <p:sp>
        <p:nvSpPr>
          <p:cNvPr id="44" name="Text 42"/>
          <p:cNvSpPr txBox="1"/>
          <p:nvPr/>
        </p:nvSpPr>
        <p:spPr>
          <a:xfrm>
            <a:off x="1115568" y="3913632"/>
            <a:ext cx="283464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태양광 사업자</a:t>
            </a:r>
            <a:endParaRPr lang="en-US" sz="1200" dirty="0"/>
          </a:p>
        </p:txBody>
      </p:sp>
      <p:sp>
        <p:nvSpPr>
          <p:cNvPr id="45" name="Text 43"/>
          <p:cNvSpPr txBox="1"/>
          <p:nvPr/>
        </p:nvSpPr>
        <p:spPr>
          <a:xfrm>
            <a:off x="1115568" y="4197096"/>
            <a:ext cx="2834640" cy="329184"/>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전력을 가장 많이 쓰는 곳은 어디?</a:t>
            </a:r>
            <a:endParaRPr lang="en-US" sz="1250" dirty="0"/>
          </a:p>
        </p:txBody>
      </p:sp>
      <p:sp>
        <p:nvSpPr>
          <p:cNvPr id="46" name="Text 44"/>
          <p:cNvSpPr txBox="1"/>
          <p:nvPr/>
        </p:nvSpPr>
        <p:spPr>
          <a:xfrm>
            <a:off x="1115568" y="4526280"/>
            <a:ext cx="2834640" cy="237744"/>
          </a:xfrm>
          <a:prstGeom prst="rect">
            <a:avLst/>
          </a:prstGeom>
          <a:noFill/>
          <a:ln/>
        </p:spPr>
        <p:txBody>
          <a:bodyPr wrap="square" lIns="0" tIns="0" rIns="0" bIns="0" rtlCol="0" anchor="t"/>
          <a:lstStyle/>
          <a:p>
            <a:pPr indent="0" marL="0">
              <a:buNone/>
            </a:pPr>
            <a:r>
              <a:rPr lang="en-US" sz="1000" dirty="0">
                <a:solidFill>
                  <a:srgbClr val="6B746E"/>
                </a:solidFill>
                <a:latin typeface="Malgun Gothic" pitchFamily="34" charset="0"/>
                <a:ea typeface="Malgun Gothic" pitchFamily="34" charset="-122"/>
                <a:cs typeface="Malgun Gothic" pitchFamily="34" charset="-120"/>
              </a:rPr>
              <a:t>지도 분석</a:t>
            </a:r>
            <a:endParaRPr lang="en-US" sz="1000" dirty="0"/>
          </a:p>
        </p:txBody>
      </p:sp>
      <p:sp>
        <p:nvSpPr>
          <p:cNvPr id="47" name="Shape 45"/>
          <p:cNvSpPr/>
          <p:nvPr/>
        </p:nvSpPr>
        <p:spPr>
          <a:xfrm>
            <a:off x="4279392" y="3758184"/>
            <a:ext cx="3611880" cy="1078992"/>
          </a:xfrm>
          <a:prstGeom prst="roundRect">
            <a:avLst>
              <a:gd name="adj" fmla="val 6780"/>
            </a:avLst>
          </a:prstGeom>
          <a:solidFill>
            <a:srgbClr val="F4F6F4"/>
          </a:solidFill>
          <a:ln w="9525">
            <a:solidFill>
              <a:srgbClr val="D9D7CE"/>
            </a:solidFill>
            <a:prstDash val="solid"/>
          </a:ln>
        </p:spPr>
      </p:sp>
      <p:sp>
        <p:nvSpPr>
          <p:cNvPr id="48" name="Shape 46"/>
          <p:cNvSpPr/>
          <p:nvPr/>
        </p:nvSpPr>
        <p:spPr>
          <a:xfrm>
            <a:off x="4462272" y="3941064"/>
            <a:ext cx="347472" cy="347472"/>
          </a:xfrm>
          <a:prstGeom prst="ellipse">
            <a:avLst/>
          </a:prstGeom>
          <a:solidFill>
            <a:srgbClr val="B7792F"/>
          </a:solidFill>
          <a:ln w="12700">
            <a:solidFill>
              <a:srgbClr val="B7792F"/>
            </a:solidFill>
            <a:prstDash val="solid"/>
          </a:ln>
        </p:spPr>
      </p:sp>
      <p:sp>
        <p:nvSpPr>
          <p:cNvPr id="49" name="Text 47"/>
          <p:cNvSpPr txBox="1"/>
          <p:nvPr/>
        </p:nvSpPr>
        <p:spPr>
          <a:xfrm>
            <a:off x="4462272" y="39502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8</a:t>
            </a:r>
            <a:endParaRPr lang="en-US" sz="1200" dirty="0"/>
          </a:p>
        </p:txBody>
      </p:sp>
      <p:sp>
        <p:nvSpPr>
          <p:cNvPr id="50" name="Text 48"/>
          <p:cNvSpPr txBox="1"/>
          <p:nvPr/>
        </p:nvSpPr>
        <p:spPr>
          <a:xfrm>
            <a:off x="4937760" y="3913632"/>
            <a:ext cx="283464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관리사무소·자산운용</a:t>
            </a:r>
            <a:endParaRPr lang="en-US" sz="1200" dirty="0"/>
          </a:p>
        </p:txBody>
      </p:sp>
      <p:sp>
        <p:nvSpPr>
          <p:cNvPr id="51" name="Text 49"/>
          <p:cNvSpPr txBox="1"/>
          <p:nvPr/>
        </p:nvSpPr>
        <p:spPr>
          <a:xfrm>
            <a:off x="4937760" y="4197096"/>
            <a:ext cx="2834640" cy="329184"/>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우리 단지는 이웃보다 많이 쓰나?</a:t>
            </a:r>
            <a:endParaRPr lang="en-US" sz="1250" dirty="0"/>
          </a:p>
        </p:txBody>
      </p:sp>
      <p:sp>
        <p:nvSpPr>
          <p:cNvPr id="52" name="Text 50"/>
          <p:cNvSpPr txBox="1"/>
          <p:nvPr/>
        </p:nvSpPr>
        <p:spPr>
          <a:xfrm>
            <a:off x="4937760" y="4526280"/>
            <a:ext cx="2834640" cy="237744"/>
          </a:xfrm>
          <a:prstGeom prst="rect">
            <a:avLst/>
          </a:prstGeom>
          <a:noFill/>
          <a:ln/>
        </p:spPr>
        <p:txBody>
          <a:bodyPr wrap="square" lIns="0" tIns="0" rIns="0" bIns="0" rtlCol="0" anchor="t"/>
          <a:lstStyle/>
          <a:p>
            <a:pPr indent="0" marL="0">
              <a:buNone/>
            </a:pPr>
            <a:r>
              <a:rPr lang="en-US" sz="1000" dirty="0">
                <a:solidFill>
                  <a:srgbClr val="6B746E"/>
                </a:solidFill>
                <a:latin typeface="Malgun Gothic" pitchFamily="34" charset="0"/>
                <a:ea typeface="Malgun Gothic" pitchFamily="34" charset="-122"/>
                <a:cs typeface="Malgun Gothic" pitchFamily="34" charset="-120"/>
              </a:rPr>
              <a:t>지도·대시보드</a:t>
            </a:r>
            <a:endParaRPr lang="en-US" sz="1000" dirty="0"/>
          </a:p>
        </p:txBody>
      </p:sp>
      <p:sp>
        <p:nvSpPr>
          <p:cNvPr id="53" name="Shape 51"/>
          <p:cNvSpPr/>
          <p:nvPr/>
        </p:nvSpPr>
        <p:spPr>
          <a:xfrm>
            <a:off x="8101584" y="3758184"/>
            <a:ext cx="3611880" cy="1078992"/>
          </a:xfrm>
          <a:prstGeom prst="roundRect">
            <a:avLst>
              <a:gd name="adj" fmla="val 6780"/>
            </a:avLst>
          </a:prstGeom>
          <a:solidFill>
            <a:srgbClr val="F4F6F4"/>
          </a:solidFill>
          <a:ln w="9525">
            <a:solidFill>
              <a:srgbClr val="D9D7CE"/>
            </a:solidFill>
            <a:prstDash val="solid"/>
          </a:ln>
        </p:spPr>
      </p:sp>
      <p:sp>
        <p:nvSpPr>
          <p:cNvPr id="54" name="Shape 52"/>
          <p:cNvSpPr/>
          <p:nvPr/>
        </p:nvSpPr>
        <p:spPr>
          <a:xfrm>
            <a:off x="8284464" y="3941064"/>
            <a:ext cx="347472" cy="347472"/>
          </a:xfrm>
          <a:prstGeom prst="ellipse">
            <a:avLst/>
          </a:prstGeom>
          <a:solidFill>
            <a:srgbClr val="2F5D50"/>
          </a:solidFill>
          <a:ln w="12700">
            <a:solidFill>
              <a:srgbClr val="2F5D50"/>
            </a:solidFill>
            <a:prstDash val="solid"/>
          </a:ln>
        </p:spPr>
      </p:sp>
      <p:sp>
        <p:nvSpPr>
          <p:cNvPr id="55" name="Text 53"/>
          <p:cNvSpPr txBox="1"/>
          <p:nvPr/>
        </p:nvSpPr>
        <p:spPr>
          <a:xfrm>
            <a:off x="8284464" y="39502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9</a:t>
            </a:r>
            <a:endParaRPr lang="en-US" sz="1200" dirty="0"/>
          </a:p>
        </p:txBody>
      </p:sp>
      <p:sp>
        <p:nvSpPr>
          <p:cNvPr id="56" name="Text 54"/>
          <p:cNvSpPr txBox="1"/>
          <p:nvPr/>
        </p:nvSpPr>
        <p:spPr>
          <a:xfrm>
            <a:off x="8759952" y="3913632"/>
            <a:ext cx="283464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디벨로퍼·지자체 평가</a:t>
            </a:r>
            <a:endParaRPr lang="en-US" sz="1200" dirty="0"/>
          </a:p>
        </p:txBody>
      </p:sp>
      <p:sp>
        <p:nvSpPr>
          <p:cNvPr id="57" name="Text 55"/>
          <p:cNvSpPr txBox="1"/>
          <p:nvPr/>
        </p:nvSpPr>
        <p:spPr>
          <a:xfrm>
            <a:off x="8759952" y="4197096"/>
            <a:ext cx="2834640" cy="329184"/>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개발 뒤 기존 단지 사용은 늘었나?</a:t>
            </a:r>
            <a:endParaRPr lang="en-US" sz="1250" dirty="0"/>
          </a:p>
        </p:txBody>
      </p:sp>
      <p:sp>
        <p:nvSpPr>
          <p:cNvPr id="58" name="Text 56"/>
          <p:cNvSpPr txBox="1"/>
          <p:nvPr/>
        </p:nvSpPr>
        <p:spPr>
          <a:xfrm>
            <a:off x="8759952" y="4526280"/>
            <a:ext cx="2834640" cy="237744"/>
          </a:xfrm>
          <a:prstGeom prst="rect">
            <a:avLst/>
          </a:prstGeom>
          <a:noFill/>
          <a:ln/>
        </p:spPr>
        <p:txBody>
          <a:bodyPr wrap="square" lIns="0" tIns="0" rIns="0" bIns="0" rtlCol="0" anchor="t"/>
          <a:lstStyle/>
          <a:p>
            <a:pPr indent="0" marL="0">
              <a:buNone/>
            </a:pPr>
            <a:r>
              <a:rPr lang="en-US" sz="1000" dirty="0">
                <a:solidFill>
                  <a:srgbClr val="6B746E"/>
                </a:solidFill>
                <a:latin typeface="Malgun Gothic" pitchFamily="34" charset="0"/>
                <a:ea typeface="Malgun Gothic" pitchFamily="34" charset="-122"/>
                <a:cs typeface="Malgun Gothic" pitchFamily="34" charset="-120"/>
              </a:rPr>
              <a:t>지역 시뮬레이션</a:t>
            </a:r>
            <a:endParaRPr lang="en-US" sz="1000" dirty="0"/>
          </a:p>
        </p:txBody>
      </p:sp>
      <p:sp>
        <p:nvSpPr>
          <p:cNvPr id="59" name="Shape 57"/>
          <p:cNvSpPr/>
          <p:nvPr/>
        </p:nvSpPr>
        <p:spPr>
          <a:xfrm>
            <a:off x="457200" y="4974336"/>
            <a:ext cx="3611880" cy="1078992"/>
          </a:xfrm>
          <a:prstGeom prst="roundRect">
            <a:avLst>
              <a:gd name="adj" fmla="val 6780"/>
            </a:avLst>
          </a:prstGeom>
          <a:solidFill>
            <a:srgbClr val="F4F6F4"/>
          </a:solidFill>
          <a:ln w="9525">
            <a:solidFill>
              <a:srgbClr val="D9D7CE"/>
            </a:solidFill>
            <a:prstDash val="solid"/>
          </a:ln>
        </p:spPr>
      </p:sp>
      <p:sp>
        <p:nvSpPr>
          <p:cNvPr id="60" name="Shape 58"/>
          <p:cNvSpPr/>
          <p:nvPr/>
        </p:nvSpPr>
        <p:spPr>
          <a:xfrm>
            <a:off x="640080" y="5157216"/>
            <a:ext cx="347472" cy="347472"/>
          </a:xfrm>
          <a:prstGeom prst="ellipse">
            <a:avLst/>
          </a:prstGeom>
          <a:solidFill>
            <a:srgbClr val="B7792F"/>
          </a:solidFill>
          <a:ln w="12700">
            <a:solidFill>
              <a:srgbClr val="B7792F"/>
            </a:solidFill>
            <a:prstDash val="solid"/>
          </a:ln>
        </p:spPr>
      </p:sp>
      <p:sp>
        <p:nvSpPr>
          <p:cNvPr id="61" name="Text 59"/>
          <p:cNvSpPr txBox="1"/>
          <p:nvPr/>
        </p:nvSpPr>
        <p:spPr>
          <a:xfrm>
            <a:off x="640080" y="516636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10</a:t>
            </a:r>
            <a:endParaRPr lang="en-US" sz="1200" dirty="0"/>
          </a:p>
        </p:txBody>
      </p:sp>
      <p:sp>
        <p:nvSpPr>
          <p:cNvPr id="62" name="Text 60"/>
          <p:cNvSpPr txBox="1"/>
          <p:nvPr/>
        </p:nvSpPr>
        <p:spPr>
          <a:xfrm>
            <a:off x="1115568" y="5129784"/>
            <a:ext cx="283464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광역 에너지 정책</a:t>
            </a:r>
            <a:endParaRPr lang="en-US" sz="1200" dirty="0"/>
          </a:p>
        </p:txBody>
      </p:sp>
      <p:sp>
        <p:nvSpPr>
          <p:cNvPr id="63" name="Text 61"/>
          <p:cNvSpPr txBox="1"/>
          <p:nvPr/>
        </p:nvSpPr>
        <p:spPr>
          <a:xfrm>
            <a:off x="1115568" y="5413248"/>
            <a:ext cx="2834640" cy="329184"/>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도내 어느 시·군 전력이 늘었나?</a:t>
            </a:r>
            <a:endParaRPr lang="en-US" sz="1250" dirty="0"/>
          </a:p>
        </p:txBody>
      </p:sp>
      <p:sp>
        <p:nvSpPr>
          <p:cNvPr id="64" name="Text 62"/>
          <p:cNvSpPr txBox="1"/>
          <p:nvPr/>
        </p:nvSpPr>
        <p:spPr>
          <a:xfrm>
            <a:off x="1115568" y="5742432"/>
            <a:ext cx="2834640" cy="237744"/>
          </a:xfrm>
          <a:prstGeom prst="rect">
            <a:avLst/>
          </a:prstGeom>
          <a:noFill/>
          <a:ln/>
        </p:spPr>
        <p:txBody>
          <a:bodyPr wrap="square" lIns="0" tIns="0" rIns="0" bIns="0" rtlCol="0" anchor="t"/>
          <a:lstStyle/>
          <a:p>
            <a:pPr indent="0" marL="0">
              <a:buNone/>
            </a:pPr>
            <a:r>
              <a:rPr lang="en-US" sz="1000" dirty="0">
                <a:solidFill>
                  <a:srgbClr val="6B746E"/>
                </a:solidFill>
                <a:latin typeface="Malgun Gothic" pitchFamily="34" charset="0"/>
                <a:ea typeface="Malgun Gothic" pitchFamily="34" charset="-122"/>
                <a:cs typeface="Malgun Gothic" pitchFamily="34" charset="-120"/>
              </a:rPr>
              <a:t>전국 지도</a:t>
            </a:r>
            <a:endParaRPr lang="en-US" sz="1000" dirty="0"/>
          </a:p>
        </p:txBody>
      </p:sp>
      <p:sp>
        <p:nvSpPr>
          <p:cNvPr id="65" name="Shape 63"/>
          <p:cNvSpPr/>
          <p:nvPr/>
        </p:nvSpPr>
        <p:spPr>
          <a:xfrm>
            <a:off x="4279392" y="4974336"/>
            <a:ext cx="3611880" cy="1078992"/>
          </a:xfrm>
          <a:prstGeom prst="roundRect">
            <a:avLst>
              <a:gd name="adj" fmla="val 6780"/>
            </a:avLst>
          </a:prstGeom>
          <a:solidFill>
            <a:srgbClr val="F4F6F4"/>
          </a:solidFill>
          <a:ln w="9525">
            <a:solidFill>
              <a:srgbClr val="D9D7CE"/>
            </a:solidFill>
            <a:prstDash val="solid"/>
          </a:ln>
        </p:spPr>
      </p:sp>
      <p:sp>
        <p:nvSpPr>
          <p:cNvPr id="66" name="Shape 64"/>
          <p:cNvSpPr/>
          <p:nvPr/>
        </p:nvSpPr>
        <p:spPr>
          <a:xfrm>
            <a:off x="4462272" y="5157216"/>
            <a:ext cx="347472" cy="347472"/>
          </a:xfrm>
          <a:prstGeom prst="ellipse">
            <a:avLst/>
          </a:prstGeom>
          <a:solidFill>
            <a:srgbClr val="2F5D50"/>
          </a:solidFill>
          <a:ln w="12700">
            <a:solidFill>
              <a:srgbClr val="2F5D50"/>
            </a:solidFill>
            <a:prstDash val="solid"/>
          </a:ln>
        </p:spPr>
      </p:sp>
      <p:sp>
        <p:nvSpPr>
          <p:cNvPr id="67" name="Text 65"/>
          <p:cNvSpPr txBox="1"/>
          <p:nvPr/>
        </p:nvSpPr>
        <p:spPr>
          <a:xfrm>
            <a:off x="4462272" y="516636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11</a:t>
            </a:r>
            <a:endParaRPr lang="en-US" sz="1200" dirty="0"/>
          </a:p>
        </p:txBody>
      </p:sp>
      <p:sp>
        <p:nvSpPr>
          <p:cNvPr id="68" name="Text 66"/>
          <p:cNvSpPr txBox="1"/>
          <p:nvPr/>
        </p:nvSpPr>
        <p:spPr>
          <a:xfrm>
            <a:off x="4937760" y="5129784"/>
            <a:ext cx="283464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도시가스사·설계</a:t>
            </a:r>
            <a:endParaRPr lang="en-US" sz="1200" dirty="0"/>
          </a:p>
        </p:txBody>
      </p:sp>
      <p:sp>
        <p:nvSpPr>
          <p:cNvPr id="69" name="Text 67"/>
          <p:cNvSpPr txBox="1"/>
          <p:nvPr/>
        </p:nvSpPr>
        <p:spPr>
          <a:xfrm>
            <a:off x="4937760" y="5413248"/>
            <a:ext cx="2834640" cy="329184"/>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난방방식에 따라 가스 수요는?</a:t>
            </a:r>
            <a:endParaRPr lang="en-US" sz="1250" dirty="0"/>
          </a:p>
        </p:txBody>
      </p:sp>
      <p:sp>
        <p:nvSpPr>
          <p:cNvPr id="70" name="Text 68"/>
          <p:cNvSpPr txBox="1"/>
          <p:nvPr/>
        </p:nvSpPr>
        <p:spPr>
          <a:xfrm>
            <a:off x="4937760" y="5742432"/>
            <a:ext cx="2834640" cy="237744"/>
          </a:xfrm>
          <a:prstGeom prst="rect">
            <a:avLst/>
          </a:prstGeom>
          <a:noFill/>
          <a:ln/>
        </p:spPr>
        <p:txBody>
          <a:bodyPr wrap="square" lIns="0" tIns="0" rIns="0" bIns="0" rtlCol="0" anchor="t"/>
          <a:lstStyle/>
          <a:p>
            <a:pPr indent="0" marL="0">
              <a:buNone/>
            </a:pPr>
            <a:r>
              <a:rPr lang="en-US" sz="1000" dirty="0">
                <a:solidFill>
                  <a:srgbClr val="6B746E"/>
                </a:solidFill>
                <a:latin typeface="Malgun Gothic" pitchFamily="34" charset="0"/>
                <a:ea typeface="Malgun Gothic" pitchFamily="34" charset="-122"/>
                <a:cs typeface="Malgun Gothic" pitchFamily="34" charset="-120"/>
              </a:rPr>
              <a:t>지도·분석</a:t>
            </a:r>
            <a:endParaRPr lang="en-US" sz="1000" dirty="0"/>
          </a:p>
        </p:txBody>
      </p:sp>
      <p:sp>
        <p:nvSpPr>
          <p:cNvPr id="71" name="Shape 69"/>
          <p:cNvSpPr/>
          <p:nvPr/>
        </p:nvSpPr>
        <p:spPr>
          <a:xfrm>
            <a:off x="8101584" y="4974336"/>
            <a:ext cx="3611880" cy="1078992"/>
          </a:xfrm>
          <a:prstGeom prst="roundRect">
            <a:avLst>
              <a:gd name="adj" fmla="val 6780"/>
            </a:avLst>
          </a:prstGeom>
          <a:solidFill>
            <a:srgbClr val="E2EEE8"/>
          </a:solidFill>
          <a:ln w="9525">
            <a:solidFill>
              <a:srgbClr val="D9D7CE"/>
            </a:solidFill>
            <a:prstDash val="solid"/>
          </a:ln>
        </p:spPr>
      </p:sp>
      <p:sp>
        <p:nvSpPr>
          <p:cNvPr id="72" name="Text 70"/>
          <p:cNvSpPr txBox="1"/>
          <p:nvPr/>
        </p:nvSpPr>
        <p:spPr>
          <a:xfrm>
            <a:off x="8330184" y="5111496"/>
            <a:ext cx="3200400" cy="822960"/>
          </a:xfrm>
          <a:prstGeom prst="rect">
            <a:avLst/>
          </a:prstGeom>
          <a:noFill/>
          <a:ln/>
        </p:spPr>
        <p:txBody>
          <a:bodyPr wrap="square" lIns="0" tIns="0" rIns="0" bIns="0" rtlCol="0" anchor="ctr"/>
          <a:lstStyle/>
          <a:p>
            <a:pPr indent="0" marL="0">
              <a:buNone/>
            </a:pPr>
            <a:r>
              <a:rPr lang="en-US" sz="1150" dirty="0">
                <a:solidFill>
                  <a:srgbClr val="1C2622"/>
                </a:solidFill>
                <a:latin typeface="Malgun Gothic" pitchFamily="34" charset="0"/>
                <a:ea typeface="Malgun Gothic" pitchFamily="34" charset="-122"/>
                <a:cs typeface="Malgun Gothic" pitchFamily="34" charset="-120"/>
              </a:rPr>
              <a:t>모든 예시: 기준 에너지는 PC의 실제 관측, 계획·목표는 가상의 입력입니다.</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20</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활용 예시 1 · 시행사·건설사</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고효율 설계를 하면 탄소가 얼마나 줄까?</a:t>
            </a:r>
            <a:endParaRPr lang="en-US" sz="2500" dirty="0"/>
          </a:p>
        </p:txBody>
      </p:sp>
      <p:sp>
        <p:nvSpPr>
          <p:cNvPr id="5" name="Shape 3"/>
          <p:cNvSpPr/>
          <p:nvPr/>
        </p:nvSpPr>
        <p:spPr>
          <a:xfrm>
            <a:off x="457200" y="1325880"/>
            <a:ext cx="3931920" cy="4572000"/>
          </a:xfrm>
          <a:prstGeom prst="roundRect">
            <a:avLst>
              <a:gd name="adj" fmla="val 1860"/>
            </a:avLst>
          </a:prstGeom>
          <a:solidFill>
            <a:srgbClr val="F4F6F4"/>
          </a:solidFill>
          <a:ln w="9525">
            <a:solidFill>
              <a:srgbClr val="D9D7CE"/>
            </a:solidFill>
            <a:prstDash val="solid"/>
          </a:ln>
        </p:spPr>
      </p:sp>
      <p:sp>
        <p:nvSpPr>
          <p:cNvPr id="6" name="Text 4"/>
          <p:cNvSpPr txBox="1"/>
          <p:nvPr/>
        </p:nvSpPr>
        <p:spPr>
          <a:xfrm>
            <a:off x="685800" y="1481328"/>
            <a:ext cx="34747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상황</a:t>
            </a:r>
            <a:endParaRPr lang="en-US" sz="1200" dirty="0"/>
          </a:p>
        </p:txBody>
      </p:sp>
      <p:sp>
        <p:nvSpPr>
          <p:cNvPr id="7" name="Text 5"/>
          <p:cNvSpPr txBox="1"/>
          <p:nvPr/>
        </p:nvSpPr>
        <p:spPr>
          <a:xfrm>
            <a:off x="685800" y="1783080"/>
            <a:ext cx="3520440" cy="1051560"/>
          </a:xfrm>
          <a:prstGeom prst="rect">
            <a:avLst/>
          </a:prstGeom>
          <a:noFill/>
          <a:ln/>
        </p:spPr>
        <p:txBody>
          <a:bodyPr wrap="square" lIns="0" tIns="0" rIns="0" bIns="0" rtlCol="0" anchor="t"/>
          <a:lstStyle/>
          <a:p>
            <a:pPr indent="0" marL="0">
              <a:lnSpc>
                <a:spcPct val="112000"/>
              </a:lnSpc>
              <a:buNone/>
            </a:pPr>
            <a:r>
              <a:rPr lang="en-US" sz="1150" dirty="0">
                <a:solidFill>
                  <a:srgbClr val="1C2622"/>
                </a:solidFill>
                <a:latin typeface="Malgun Gothic" pitchFamily="34" charset="0"/>
                <a:ea typeface="Malgun Gothic" pitchFamily="34" charset="-122"/>
                <a:cs typeface="Malgun Gothic" pitchFamily="34" charset="-120"/>
              </a:rPr>
              <a:t>전주 우아동 일대(관측 격자)에 2만㎡ 대지, 15층 4동 480세대 공동주택을 검토. 설계 수준 세 가지를 비교해 분양 홍보와 설계 기준을 정하려 한다.</a:t>
            </a:r>
            <a:endParaRPr lang="en-US" sz="1150" dirty="0"/>
          </a:p>
        </p:txBody>
      </p:sp>
      <p:sp>
        <p:nvSpPr>
          <p:cNvPr id="8" name="Text 6"/>
          <p:cNvSpPr txBox="1"/>
          <p:nvPr/>
        </p:nvSpPr>
        <p:spPr>
          <a:xfrm>
            <a:off x="685800" y="2907792"/>
            <a:ext cx="34747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입력</a:t>
            </a:r>
            <a:endParaRPr lang="en-US" sz="1200" dirty="0"/>
          </a:p>
        </p:txBody>
      </p:sp>
      <p:sp>
        <p:nvSpPr>
          <p:cNvPr id="9" name="Text 7"/>
          <p:cNvSpPr txBox="1"/>
          <p:nvPr/>
        </p:nvSpPr>
        <p:spPr>
          <a:xfrm>
            <a:off x="685800" y="3218688"/>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대지 · 동 · 층</a:t>
            </a:r>
            <a:endParaRPr lang="en-US" sz="1100" dirty="0"/>
          </a:p>
        </p:txBody>
      </p:sp>
      <p:sp>
        <p:nvSpPr>
          <p:cNvPr id="10" name="Text 8"/>
          <p:cNvSpPr txBox="1"/>
          <p:nvPr/>
        </p:nvSpPr>
        <p:spPr>
          <a:xfrm>
            <a:off x="2103120" y="3218688"/>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20,000㎡ · 4동 · 15층</a:t>
            </a:r>
            <a:endParaRPr lang="en-US" sz="1100" dirty="0"/>
          </a:p>
        </p:txBody>
      </p:sp>
      <p:sp>
        <p:nvSpPr>
          <p:cNvPr id="11" name="Text 9"/>
          <p:cNvSpPr txBox="1"/>
          <p:nvPr/>
        </p:nvSpPr>
        <p:spPr>
          <a:xfrm>
            <a:off x="685800" y="3547872"/>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동당 건축면적</a:t>
            </a:r>
            <a:endParaRPr lang="en-US" sz="1100" dirty="0"/>
          </a:p>
        </p:txBody>
      </p:sp>
      <p:sp>
        <p:nvSpPr>
          <p:cNvPr id="12" name="Text 10"/>
          <p:cNvSpPr txBox="1"/>
          <p:nvPr/>
        </p:nvSpPr>
        <p:spPr>
          <a:xfrm>
            <a:off x="2103120" y="3547872"/>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800㎡ (연면적 48,000㎡)</a:t>
            </a:r>
            <a:endParaRPr lang="en-US" sz="1100" dirty="0"/>
          </a:p>
        </p:txBody>
      </p:sp>
      <p:sp>
        <p:nvSpPr>
          <p:cNvPr id="13" name="Text 11"/>
          <p:cNvSpPr txBox="1"/>
          <p:nvPr/>
        </p:nvSpPr>
        <p:spPr>
          <a:xfrm>
            <a:off x="685800" y="3877056"/>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세대 · 인구</a:t>
            </a:r>
            <a:endParaRPr lang="en-US" sz="1100" dirty="0"/>
          </a:p>
        </p:txBody>
      </p:sp>
      <p:sp>
        <p:nvSpPr>
          <p:cNvPr id="14" name="Text 12"/>
          <p:cNvSpPr txBox="1"/>
          <p:nvPr/>
        </p:nvSpPr>
        <p:spPr>
          <a:xfrm>
            <a:off x="2103120" y="3877056"/>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480세대 · 1,200명</a:t>
            </a:r>
            <a:endParaRPr lang="en-US" sz="1100" dirty="0"/>
          </a:p>
        </p:txBody>
      </p:sp>
      <p:sp>
        <p:nvSpPr>
          <p:cNvPr id="15" name="Text 13"/>
          <p:cNvSpPr txBox="1"/>
          <p:nvPr/>
        </p:nvSpPr>
        <p:spPr>
          <a:xfrm>
            <a:off x="685800" y="4206240"/>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A 일반 설계</a:t>
            </a:r>
            <a:endParaRPr lang="en-US" sz="1100" dirty="0"/>
          </a:p>
        </p:txBody>
      </p:sp>
      <p:sp>
        <p:nvSpPr>
          <p:cNvPr id="16" name="Text 14"/>
          <p:cNvSpPr txBox="1"/>
          <p:nvPr/>
        </p:nvSpPr>
        <p:spPr>
          <a:xfrm>
            <a:off x="2103120" y="4206240"/>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효율 1.0, 태양광 0%</a:t>
            </a:r>
            <a:endParaRPr lang="en-US" sz="1100" dirty="0"/>
          </a:p>
        </p:txBody>
      </p:sp>
      <p:sp>
        <p:nvSpPr>
          <p:cNvPr id="17" name="Text 15"/>
          <p:cNvSpPr txBox="1"/>
          <p:nvPr/>
        </p:nvSpPr>
        <p:spPr>
          <a:xfrm>
            <a:off x="685800" y="4535424"/>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B 고효율</a:t>
            </a:r>
            <a:endParaRPr lang="en-US" sz="1100" dirty="0"/>
          </a:p>
        </p:txBody>
      </p:sp>
      <p:sp>
        <p:nvSpPr>
          <p:cNvPr id="18" name="Text 16"/>
          <p:cNvSpPr txBox="1"/>
          <p:nvPr/>
        </p:nvSpPr>
        <p:spPr>
          <a:xfrm>
            <a:off x="2103120" y="4535424"/>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효율 0.8, 태양광 0%</a:t>
            </a:r>
            <a:endParaRPr lang="en-US" sz="1100" dirty="0"/>
          </a:p>
        </p:txBody>
      </p:sp>
      <p:sp>
        <p:nvSpPr>
          <p:cNvPr id="19" name="Text 17"/>
          <p:cNvSpPr txBox="1"/>
          <p:nvPr/>
        </p:nvSpPr>
        <p:spPr>
          <a:xfrm>
            <a:off x="685800" y="4864608"/>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C 고효율+태양광</a:t>
            </a:r>
            <a:endParaRPr lang="en-US" sz="1100" dirty="0"/>
          </a:p>
        </p:txBody>
      </p:sp>
      <p:sp>
        <p:nvSpPr>
          <p:cNvPr id="20" name="Text 18"/>
          <p:cNvSpPr txBox="1"/>
          <p:nvPr/>
        </p:nvSpPr>
        <p:spPr>
          <a:xfrm>
            <a:off x="2103120" y="4864608"/>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효율 0.8, 태양광 15%</a:t>
            </a:r>
            <a:endParaRPr lang="en-US" sz="1100" dirty="0"/>
          </a:p>
        </p:txBody>
      </p:sp>
      <p:sp>
        <p:nvSpPr>
          <p:cNvPr id="21" name="Shape 19"/>
          <p:cNvSpPr/>
          <p:nvPr/>
        </p:nvSpPr>
        <p:spPr>
          <a:xfrm>
            <a:off x="685800" y="5440680"/>
            <a:ext cx="3474720" cy="310896"/>
          </a:xfrm>
          <a:prstGeom prst="roundRect">
            <a:avLst>
              <a:gd name="adj" fmla="val 17647"/>
            </a:avLst>
          </a:prstGeom>
          <a:solidFill>
            <a:srgbClr val="FFFFFF"/>
          </a:solidFill>
          <a:ln w="12700">
            <a:solidFill>
              <a:srgbClr val="FFFFFF"/>
            </a:solidFill>
            <a:prstDash val="solid"/>
          </a:ln>
        </p:spPr>
      </p:sp>
      <p:sp>
        <p:nvSpPr>
          <p:cNvPr id="22" name="Text 20"/>
          <p:cNvSpPr txBox="1"/>
          <p:nvPr/>
        </p:nvSpPr>
        <p:spPr>
          <a:xfrm>
            <a:off x="685800" y="5440680"/>
            <a:ext cx="3474720" cy="310896"/>
          </a:xfrm>
          <a:prstGeom prst="rect">
            <a:avLst/>
          </a:prstGeom>
          <a:noFill/>
          <a:ln/>
        </p:spPr>
        <p:txBody>
          <a:bodyPr wrap="square" lIns="0" tIns="0" rIns="0" bIns="0" rtlCol="0" anchor="ctr"/>
          <a:lstStyle/>
          <a:p>
            <a:pPr algn="ctr" indent="0" marL="0">
              <a:buNone/>
            </a:pPr>
            <a:r>
              <a:rPr lang="en-US" sz="1050" b="1" dirty="0">
                <a:solidFill>
                  <a:srgbClr val="2F5D50"/>
                </a:solidFill>
                <a:latin typeface="Malgun Gothic" pitchFamily="34" charset="0"/>
                <a:ea typeface="Malgun Gothic" pitchFamily="34" charset="-122"/>
                <a:cs typeface="Malgun Gothic" pitchFamily="34" charset="-120"/>
              </a:rPr>
              <a:t>메뉴: 시뮬레이션 (계획안)</a:t>
            </a:r>
            <a:endParaRPr lang="en-US" sz="1050" dirty="0"/>
          </a:p>
        </p:txBody>
      </p:sp>
      <p:sp>
        <p:nvSpPr>
          <p:cNvPr id="23" name="Shape 21"/>
          <p:cNvSpPr/>
          <p:nvPr/>
        </p:nvSpPr>
        <p:spPr>
          <a:xfrm>
            <a:off x="457200" y="5989320"/>
            <a:ext cx="11274552" cy="411480"/>
          </a:xfrm>
          <a:prstGeom prst="roundRect">
            <a:avLst>
              <a:gd name="adj" fmla="val 13333"/>
            </a:avLst>
          </a:prstGeom>
          <a:solidFill>
            <a:srgbClr val="1F3A33"/>
          </a:solidFill>
          <a:ln w="12700">
            <a:solidFill>
              <a:srgbClr val="1F3A33"/>
            </a:solidFill>
            <a:prstDash val="solid"/>
          </a:ln>
        </p:spPr>
      </p:sp>
      <p:sp>
        <p:nvSpPr>
          <p:cNvPr id="24" name="Text 22"/>
          <p:cNvSpPr txBox="1"/>
          <p:nvPr/>
        </p:nvSpPr>
        <p:spPr>
          <a:xfrm>
            <a:off x="640080" y="5989320"/>
            <a:ext cx="10972800" cy="411480"/>
          </a:xfrm>
          <a:prstGeom prst="rect">
            <a:avLst/>
          </a:prstGeom>
          <a:noFill/>
          <a:ln/>
        </p:spPr>
        <p:txBody>
          <a:bodyPr wrap="square" lIns="0" tIns="0" rIns="0" bIns="0" rtlCol="0" anchor="ctr"/>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B 고효율로 연 272t, C 태양광 추가로 연 361t(−26.5%) 감축 → 설계 기준·홍보 근거로 사용</a:t>
            </a:r>
            <a:endParaRPr lang="en-US" sz="1250" dirty="0"/>
          </a:p>
        </p:txBody>
      </p:sp>
      <p:sp>
        <p:nvSpPr>
          <p:cNvPr id="25" name="Text 23"/>
          <p:cNvSpPr txBox="1"/>
          <p:nvPr/>
        </p:nvSpPr>
        <p:spPr>
          <a:xfrm>
            <a:off x="4572000" y="6473952"/>
            <a:ext cx="715975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기준: 같은 격자 6개 단지 12개월 관측(연면적 238,174㎡) · 가스 탄소는 가정 계수</a:t>
            </a:r>
            <a:endParaRPr lang="en-US" sz="900" dirty="0"/>
          </a:p>
        </p:txBody>
      </p:sp>
      <p:graphicFrame>
        <p:nvGraphicFramePr>
          <p:cNvPr id="27" name="Chart 0" descr=""/>
          <p:cNvGraphicFramePr/>
          <p:nvPr/>
        </p:nvGraphicFramePr>
        <p:xfrm>
          <a:off x="4709160" y="1325880"/>
          <a:ext cx="4297680" cy="4526280"/>
        </p:xfrm>
        <a:graphic xmlns:a="http://schemas.openxmlformats.org/drawingml/2006/main">
          <a:graphicData uri="http://schemas.openxmlformats.org/drawingml/2006/chart">
            <c:chart xmlns:c="http://schemas.openxmlformats.org/drawingml/2006/chart" r:id="rId1"/>
          </a:graphicData>
        </a:graphic>
      </p:graphicFrame>
      <p:sp>
        <p:nvSpPr>
          <p:cNvPr id="28" name="Text 24"/>
          <p:cNvSpPr txBox="1"/>
          <p:nvPr/>
        </p:nvSpPr>
        <p:spPr>
          <a:xfrm>
            <a:off x="9189720" y="1417320"/>
            <a:ext cx="2560320" cy="457200"/>
          </a:xfrm>
          <a:prstGeom prst="rect">
            <a:avLst/>
          </a:prstGeom>
          <a:noFill/>
          <a:ln/>
        </p:spPr>
        <p:txBody>
          <a:bodyPr wrap="square" lIns="0" tIns="0" rIns="0" bIns="0" rtlCol="0" anchor="t"/>
          <a:lstStyle/>
          <a:p>
            <a:pPr indent="0" marL="0">
              <a:buNone/>
            </a:pPr>
            <a:r>
              <a:rPr lang="en-US" sz="1900" b="1" dirty="0">
                <a:solidFill>
                  <a:srgbClr val="1F7A55"/>
                </a:solidFill>
                <a:latin typeface="Malgun Gothic" pitchFamily="34" charset="0"/>
                <a:ea typeface="Malgun Gothic" pitchFamily="34" charset="-122"/>
                <a:cs typeface="Malgun Gothic" pitchFamily="34" charset="-120"/>
              </a:rPr>
              <a:t>1,361t → 1,000t</a:t>
            </a:r>
            <a:endParaRPr lang="en-US" sz="1900" dirty="0"/>
          </a:p>
        </p:txBody>
      </p:sp>
      <p:sp>
        <p:nvSpPr>
          <p:cNvPr id="29" name="Text 25"/>
          <p:cNvSpPr txBox="1"/>
          <p:nvPr/>
        </p:nvSpPr>
        <p:spPr>
          <a:xfrm>
            <a:off x="9189720" y="1892808"/>
            <a:ext cx="2560320" cy="45720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연간 운영탄소 A → C</a:t>
            </a:r>
            <a:endParaRPr lang="en-US" sz="1050" dirty="0"/>
          </a:p>
        </p:txBody>
      </p:sp>
      <p:sp>
        <p:nvSpPr>
          <p:cNvPr id="30" name="Text 26"/>
          <p:cNvSpPr txBox="1"/>
          <p:nvPr/>
        </p:nvSpPr>
        <p:spPr>
          <a:xfrm>
            <a:off x="9189720" y="2532888"/>
            <a:ext cx="2560320" cy="457200"/>
          </a:xfrm>
          <a:prstGeom prst="rect">
            <a:avLst/>
          </a:prstGeom>
          <a:noFill/>
          <a:ln/>
        </p:spPr>
        <p:txBody>
          <a:bodyPr wrap="square" lIns="0" tIns="0" rIns="0" bIns="0" rtlCol="0" anchor="t"/>
          <a:lstStyle/>
          <a:p>
            <a:pPr indent="0" marL="0">
              <a:buNone/>
            </a:pPr>
            <a:r>
              <a:rPr lang="en-US" sz="1900" b="1" dirty="0">
                <a:solidFill>
                  <a:srgbClr val="2F5D50"/>
                </a:solidFill>
                <a:latin typeface="Malgun Gothic" pitchFamily="34" charset="0"/>
                <a:ea typeface="Malgun Gothic" pitchFamily="34" charset="-122"/>
                <a:cs typeface="Malgun Gothic" pitchFamily="34" charset="-120"/>
              </a:rPr>
              <a:t>3,400kWh</a:t>
            </a:r>
            <a:endParaRPr lang="en-US" sz="1900" dirty="0"/>
          </a:p>
        </p:txBody>
      </p:sp>
      <p:sp>
        <p:nvSpPr>
          <p:cNvPr id="31" name="Text 27"/>
          <p:cNvSpPr txBox="1"/>
          <p:nvPr/>
        </p:nvSpPr>
        <p:spPr>
          <a:xfrm>
            <a:off x="9189720" y="3008376"/>
            <a:ext cx="2560320" cy="45720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세대당 연 전력 (A)</a:t>
            </a:r>
            <a:endParaRPr lang="en-US" sz="1050" dirty="0"/>
          </a:p>
        </p:txBody>
      </p:sp>
      <p:sp>
        <p:nvSpPr>
          <p:cNvPr id="32" name="Text 28"/>
          <p:cNvSpPr txBox="1"/>
          <p:nvPr/>
        </p:nvSpPr>
        <p:spPr>
          <a:xfrm>
            <a:off x="9189720" y="3648456"/>
            <a:ext cx="2560320" cy="457200"/>
          </a:xfrm>
          <a:prstGeom prst="rect">
            <a:avLst/>
          </a:prstGeom>
          <a:noFill/>
          <a:ln/>
        </p:spPr>
        <p:txBody>
          <a:bodyPr wrap="square" lIns="0" tIns="0" rIns="0" bIns="0" rtlCol="0" anchor="t"/>
          <a:lstStyle/>
          <a:p>
            <a:pPr indent="0" marL="0">
              <a:buNone/>
            </a:pPr>
            <a:r>
              <a:rPr lang="en-US" sz="1900" b="1" dirty="0">
                <a:solidFill>
                  <a:srgbClr val="2F5D50"/>
                </a:solidFill>
                <a:latin typeface="Malgun Gothic" pitchFamily="34" charset="0"/>
                <a:ea typeface="Malgun Gothic" pitchFamily="34" charset="-122"/>
                <a:cs typeface="Malgun Gothic" pitchFamily="34" charset="-120"/>
              </a:rPr>
              <a:t>240%</a:t>
            </a:r>
            <a:endParaRPr lang="en-US" sz="1900" dirty="0"/>
          </a:p>
        </p:txBody>
      </p:sp>
      <p:sp>
        <p:nvSpPr>
          <p:cNvPr id="33" name="Text 29"/>
          <p:cNvSpPr txBox="1"/>
          <p:nvPr/>
        </p:nvSpPr>
        <p:spPr>
          <a:xfrm>
            <a:off x="9189720" y="4123944"/>
            <a:ext cx="2560320" cy="45720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용적률 · 조례 상한 250% 이내</a:t>
            </a:r>
            <a:endParaRPr lang="en-US" sz="1050" dirty="0"/>
          </a:p>
        </p:txBody>
      </p:sp>
      <p:sp>
        <p:nvSpPr>
          <p:cNvPr id="34" name="Text 30"/>
          <p:cNvSpPr txBox="1"/>
          <p:nvPr/>
        </p:nvSpPr>
        <p:spPr>
          <a:xfrm>
            <a:off x="9189720" y="4764024"/>
            <a:ext cx="2560320" cy="457200"/>
          </a:xfrm>
          <a:prstGeom prst="rect">
            <a:avLst/>
          </a:prstGeom>
          <a:noFill/>
          <a:ln/>
        </p:spPr>
        <p:txBody>
          <a:bodyPr wrap="square" lIns="0" tIns="0" rIns="0" bIns="0" rtlCol="0" anchor="t"/>
          <a:lstStyle/>
          <a:p>
            <a:pPr indent="0" marL="0">
              <a:buNone/>
            </a:pPr>
            <a:r>
              <a:rPr lang="en-US" sz="1900" b="1" dirty="0">
                <a:solidFill>
                  <a:srgbClr val="2F5D50"/>
                </a:solidFill>
                <a:latin typeface="Malgun Gothic" pitchFamily="34" charset="0"/>
                <a:ea typeface="Malgun Gothic" pitchFamily="34" charset="-122"/>
                <a:cs typeface="Malgun Gothic" pitchFamily="34" charset="-120"/>
              </a:rPr>
              <a:t>833kg</a:t>
            </a:r>
            <a:endParaRPr lang="en-US" sz="1900" dirty="0"/>
          </a:p>
        </p:txBody>
      </p:sp>
      <p:sp>
        <p:nvSpPr>
          <p:cNvPr id="35" name="Text 31"/>
          <p:cNvSpPr txBox="1"/>
          <p:nvPr/>
        </p:nvSpPr>
        <p:spPr>
          <a:xfrm>
            <a:off x="9189720" y="5239512"/>
            <a:ext cx="2560320" cy="45720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1인당 연 탄소 (C)</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21</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활용 예시 2 · 설계사무소</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용도지역 상한 안에서 어떤 배치가 좋을까?</a:t>
            </a:r>
            <a:endParaRPr lang="en-US" sz="2500" dirty="0"/>
          </a:p>
        </p:txBody>
      </p:sp>
      <p:sp>
        <p:nvSpPr>
          <p:cNvPr id="5" name="Shape 3"/>
          <p:cNvSpPr/>
          <p:nvPr/>
        </p:nvSpPr>
        <p:spPr>
          <a:xfrm>
            <a:off x="457200" y="1325880"/>
            <a:ext cx="3931920" cy="4572000"/>
          </a:xfrm>
          <a:prstGeom prst="roundRect">
            <a:avLst>
              <a:gd name="adj" fmla="val 1860"/>
            </a:avLst>
          </a:prstGeom>
          <a:solidFill>
            <a:srgbClr val="F4F6F4"/>
          </a:solidFill>
          <a:ln w="9525">
            <a:solidFill>
              <a:srgbClr val="D9D7CE"/>
            </a:solidFill>
            <a:prstDash val="solid"/>
          </a:ln>
        </p:spPr>
      </p:sp>
      <p:sp>
        <p:nvSpPr>
          <p:cNvPr id="6" name="Text 4"/>
          <p:cNvSpPr txBox="1"/>
          <p:nvPr/>
        </p:nvSpPr>
        <p:spPr>
          <a:xfrm>
            <a:off x="685800" y="1481328"/>
            <a:ext cx="34747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상황</a:t>
            </a:r>
            <a:endParaRPr lang="en-US" sz="1200" dirty="0"/>
          </a:p>
        </p:txBody>
      </p:sp>
      <p:sp>
        <p:nvSpPr>
          <p:cNvPr id="7" name="Text 5"/>
          <p:cNvSpPr txBox="1"/>
          <p:nvPr/>
        </p:nvSpPr>
        <p:spPr>
          <a:xfrm>
            <a:off x="685800" y="1783080"/>
            <a:ext cx="3520440" cy="1051560"/>
          </a:xfrm>
          <a:prstGeom prst="rect">
            <a:avLst/>
          </a:prstGeom>
          <a:noFill/>
          <a:ln/>
        </p:spPr>
        <p:txBody>
          <a:bodyPr wrap="square" lIns="0" tIns="0" rIns="0" bIns="0" rtlCol="0" anchor="t"/>
          <a:lstStyle/>
          <a:p>
            <a:pPr indent="0" marL="0">
              <a:lnSpc>
                <a:spcPct val="112000"/>
              </a:lnSpc>
              <a:buNone/>
            </a:pPr>
            <a:r>
              <a:rPr lang="en-US" sz="1150" dirty="0">
                <a:solidFill>
                  <a:srgbClr val="1C2622"/>
                </a:solidFill>
                <a:latin typeface="Malgun Gothic" pitchFamily="34" charset="0"/>
                <a:ea typeface="Malgun Gothic" pitchFamily="34" charset="-122"/>
                <a:cs typeface="Malgun Gothic" pitchFamily="34" charset="-120"/>
              </a:rPr>
              <a:t>같은 2만㎡ 대지에서 400세대 이상을 넣어야 한다. 층수·동수를 바꿔 가며 조례 상한(건폐율 60%·용적률 250%) 안의 후보를 자동으로 찾는다.</a:t>
            </a:r>
            <a:endParaRPr lang="en-US" sz="1150" dirty="0"/>
          </a:p>
        </p:txBody>
      </p:sp>
      <p:sp>
        <p:nvSpPr>
          <p:cNvPr id="8" name="Text 6"/>
          <p:cNvSpPr txBox="1"/>
          <p:nvPr/>
        </p:nvSpPr>
        <p:spPr>
          <a:xfrm>
            <a:off x="685800" y="2907792"/>
            <a:ext cx="34747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입력</a:t>
            </a:r>
            <a:endParaRPr lang="en-US" sz="1200" dirty="0"/>
          </a:p>
        </p:txBody>
      </p:sp>
      <p:sp>
        <p:nvSpPr>
          <p:cNvPr id="9" name="Text 7"/>
          <p:cNvSpPr txBox="1"/>
          <p:nvPr/>
        </p:nvSpPr>
        <p:spPr>
          <a:xfrm>
            <a:off x="685800" y="3218688"/>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대지</a:t>
            </a:r>
            <a:endParaRPr lang="en-US" sz="1100" dirty="0"/>
          </a:p>
        </p:txBody>
      </p:sp>
      <p:sp>
        <p:nvSpPr>
          <p:cNvPr id="10" name="Text 8"/>
          <p:cNvSpPr txBox="1"/>
          <p:nvPr/>
        </p:nvSpPr>
        <p:spPr>
          <a:xfrm>
            <a:off x="2103120" y="3218688"/>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20,000㎡ (동당 800㎡)</a:t>
            </a:r>
            <a:endParaRPr lang="en-US" sz="1100" dirty="0"/>
          </a:p>
        </p:txBody>
      </p:sp>
      <p:sp>
        <p:nvSpPr>
          <p:cNvPr id="11" name="Text 9"/>
          <p:cNvSpPr txBox="1"/>
          <p:nvPr/>
        </p:nvSpPr>
        <p:spPr>
          <a:xfrm>
            <a:off x="685800" y="3547872"/>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조건</a:t>
            </a:r>
            <a:endParaRPr lang="en-US" sz="1100" dirty="0"/>
          </a:p>
        </p:txBody>
      </p:sp>
      <p:sp>
        <p:nvSpPr>
          <p:cNvPr id="12" name="Text 10"/>
          <p:cNvSpPr txBox="1"/>
          <p:nvPr/>
        </p:nvSpPr>
        <p:spPr>
          <a:xfrm>
            <a:off x="2103120" y="3547872"/>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400세대·1,000명 이상</a:t>
            </a:r>
            <a:endParaRPr lang="en-US" sz="1100" dirty="0"/>
          </a:p>
        </p:txBody>
      </p:sp>
      <p:sp>
        <p:nvSpPr>
          <p:cNvPr id="13" name="Text 11"/>
          <p:cNvSpPr txBox="1"/>
          <p:nvPr/>
        </p:nvSpPr>
        <p:spPr>
          <a:xfrm>
            <a:off x="685800" y="3877056"/>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설계 수준</a:t>
            </a:r>
            <a:endParaRPr lang="en-US" sz="1100" dirty="0"/>
          </a:p>
        </p:txBody>
      </p:sp>
      <p:sp>
        <p:nvSpPr>
          <p:cNvPr id="14" name="Text 12"/>
          <p:cNvSpPr txBox="1"/>
          <p:nvPr/>
        </p:nvSpPr>
        <p:spPr>
          <a:xfrm>
            <a:off x="2103120" y="3877056"/>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효율 0.85, 태양광 10%</a:t>
            </a:r>
            <a:endParaRPr lang="en-US" sz="1100" dirty="0"/>
          </a:p>
        </p:txBody>
      </p:sp>
      <p:sp>
        <p:nvSpPr>
          <p:cNvPr id="15" name="Text 13"/>
          <p:cNvSpPr txBox="1"/>
          <p:nvPr/>
        </p:nvSpPr>
        <p:spPr>
          <a:xfrm>
            <a:off x="685800" y="4206240"/>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상한</a:t>
            </a:r>
            <a:endParaRPr lang="en-US" sz="1100" dirty="0"/>
          </a:p>
        </p:txBody>
      </p:sp>
      <p:sp>
        <p:nvSpPr>
          <p:cNvPr id="16" name="Text 14"/>
          <p:cNvSpPr txBox="1"/>
          <p:nvPr/>
        </p:nvSpPr>
        <p:spPr>
          <a:xfrm>
            <a:off x="2103120" y="4206240"/>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전주시 조례 기본 상한</a:t>
            </a:r>
            <a:endParaRPr lang="en-US" sz="1100" dirty="0"/>
          </a:p>
        </p:txBody>
      </p:sp>
      <p:sp>
        <p:nvSpPr>
          <p:cNvPr id="17" name="Text 15"/>
          <p:cNvSpPr txBox="1"/>
          <p:nvPr/>
        </p:nvSpPr>
        <p:spPr>
          <a:xfrm>
            <a:off x="685800" y="4535424"/>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탐색</a:t>
            </a:r>
            <a:endParaRPr lang="en-US" sz="1100" dirty="0"/>
          </a:p>
        </p:txBody>
      </p:sp>
      <p:sp>
        <p:nvSpPr>
          <p:cNvPr id="18" name="Text 16"/>
          <p:cNvSpPr txBox="1"/>
          <p:nvPr/>
        </p:nvSpPr>
        <p:spPr>
          <a:xfrm>
            <a:off x="2103120" y="4535424"/>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646개 후보 중 44개 적합</a:t>
            </a:r>
            <a:endParaRPr lang="en-US" sz="1100" dirty="0"/>
          </a:p>
        </p:txBody>
      </p:sp>
      <p:sp>
        <p:nvSpPr>
          <p:cNvPr id="19" name="Shape 17"/>
          <p:cNvSpPr/>
          <p:nvPr/>
        </p:nvSpPr>
        <p:spPr>
          <a:xfrm>
            <a:off x="685800" y="5440680"/>
            <a:ext cx="3474720" cy="310896"/>
          </a:xfrm>
          <a:prstGeom prst="roundRect">
            <a:avLst>
              <a:gd name="adj" fmla="val 17647"/>
            </a:avLst>
          </a:prstGeom>
          <a:solidFill>
            <a:srgbClr val="FFFFFF"/>
          </a:solidFill>
          <a:ln w="12700">
            <a:solidFill>
              <a:srgbClr val="FFFFFF"/>
            </a:solidFill>
            <a:prstDash val="solid"/>
          </a:ln>
        </p:spPr>
      </p:sp>
      <p:sp>
        <p:nvSpPr>
          <p:cNvPr id="20" name="Text 18"/>
          <p:cNvSpPr txBox="1"/>
          <p:nvPr/>
        </p:nvSpPr>
        <p:spPr>
          <a:xfrm>
            <a:off x="685800" y="5440680"/>
            <a:ext cx="3474720" cy="310896"/>
          </a:xfrm>
          <a:prstGeom prst="rect">
            <a:avLst/>
          </a:prstGeom>
          <a:noFill/>
          <a:ln/>
        </p:spPr>
        <p:txBody>
          <a:bodyPr wrap="square" lIns="0" tIns="0" rIns="0" bIns="0" rtlCol="0" anchor="ctr"/>
          <a:lstStyle/>
          <a:p>
            <a:pPr algn="ctr" indent="0" marL="0">
              <a:buNone/>
            </a:pPr>
            <a:r>
              <a:rPr lang="en-US" sz="1050" b="1" dirty="0">
                <a:solidFill>
                  <a:srgbClr val="2F5D50"/>
                </a:solidFill>
                <a:latin typeface="Malgun Gothic" pitchFamily="34" charset="0"/>
                <a:ea typeface="Malgun Gothic" pitchFamily="34" charset="-122"/>
                <a:cs typeface="Malgun Gothic" pitchFamily="34" charset="-120"/>
              </a:rPr>
              <a:t>메뉴: 시뮬레이션 → 최적화</a:t>
            </a:r>
            <a:endParaRPr lang="en-US" sz="1050" dirty="0"/>
          </a:p>
        </p:txBody>
      </p:sp>
      <p:sp>
        <p:nvSpPr>
          <p:cNvPr id="21" name="Shape 19"/>
          <p:cNvSpPr/>
          <p:nvPr/>
        </p:nvSpPr>
        <p:spPr>
          <a:xfrm>
            <a:off x="457200" y="5989320"/>
            <a:ext cx="11274552" cy="411480"/>
          </a:xfrm>
          <a:prstGeom prst="roundRect">
            <a:avLst>
              <a:gd name="adj" fmla="val 13333"/>
            </a:avLst>
          </a:prstGeom>
          <a:solidFill>
            <a:srgbClr val="1F3A33"/>
          </a:solidFill>
          <a:ln w="12700">
            <a:solidFill>
              <a:srgbClr val="1F3A33"/>
            </a:solidFill>
            <a:prstDash val="solid"/>
          </a:ln>
        </p:spPr>
      </p:sp>
      <p:sp>
        <p:nvSpPr>
          <p:cNvPr id="22" name="Text 20"/>
          <p:cNvSpPr txBox="1"/>
          <p:nvPr/>
        </p:nvSpPr>
        <p:spPr>
          <a:xfrm>
            <a:off x="640080" y="5989320"/>
            <a:ext cx="10972800" cy="411480"/>
          </a:xfrm>
          <a:prstGeom prst="rect">
            <a:avLst/>
          </a:prstGeom>
          <a:noFill/>
          <a:ln/>
        </p:spPr>
        <p:txBody>
          <a:bodyPr wrap="square" lIns="0" tIns="0" rIns="0" bIns="0" rtlCol="0" anchor="ctr"/>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총탄소 최소 22층 2동(414세대) ↔ 세대수 최대 26층 2동(489세대): 세대당 탄소는 같아 "세대수 vs 총탄소"로 협의</a:t>
            </a:r>
            <a:endParaRPr lang="en-US" sz="1250" dirty="0"/>
          </a:p>
        </p:txBody>
      </p:sp>
      <p:sp>
        <p:nvSpPr>
          <p:cNvPr id="23" name="Text 21"/>
          <p:cNvSpPr txBox="1"/>
          <p:nvPr/>
        </p:nvSpPr>
        <p:spPr>
          <a:xfrm>
            <a:off x="4572000" y="6473952"/>
            <a:ext cx="715975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원단위가 선형이라 ㎡당 탄소(22.8kg)는 같고 총량은 연면적에 비례 · 인허가 판단 아님</a:t>
            </a:r>
            <a:endParaRPr lang="en-US" sz="900" dirty="0"/>
          </a:p>
        </p:txBody>
      </p:sp>
      <p:sp>
        <p:nvSpPr>
          <p:cNvPr id="25" name="Text 22"/>
          <p:cNvSpPr txBox="1"/>
          <p:nvPr/>
        </p:nvSpPr>
        <p:spPr>
          <a:xfrm>
            <a:off x="4800600" y="1463040"/>
            <a:ext cx="2057400" cy="274320"/>
          </a:xfrm>
          <a:prstGeom prst="rect">
            <a:avLst/>
          </a:prstGeom>
          <a:noFill/>
          <a:ln/>
        </p:spPr>
        <p:txBody>
          <a:bodyPr wrap="square" lIns="0" tIns="0" rIns="0" bIns="0" rtlCol="0" anchor="t"/>
          <a:lstStyle/>
          <a:p>
            <a:pPr indent="0" marL="0">
              <a:buNone/>
            </a:pPr>
            <a:r>
              <a:rPr lang="en-US" sz="1100" b="1" dirty="0">
                <a:solidFill>
                  <a:srgbClr val="6B746E"/>
                </a:solidFill>
                <a:latin typeface="Malgun Gothic" pitchFamily="34" charset="0"/>
                <a:ea typeface="Malgun Gothic" pitchFamily="34" charset="-122"/>
                <a:cs typeface="Malgun Gothic" pitchFamily="34" charset="-120"/>
              </a:rPr>
              <a:t>후보</a:t>
            </a:r>
            <a:endParaRPr lang="en-US" sz="1100" dirty="0"/>
          </a:p>
        </p:txBody>
      </p:sp>
      <p:sp>
        <p:nvSpPr>
          <p:cNvPr id="26" name="Text 23"/>
          <p:cNvSpPr txBox="1"/>
          <p:nvPr/>
        </p:nvSpPr>
        <p:spPr>
          <a:xfrm>
            <a:off x="6949440" y="1463040"/>
            <a:ext cx="1005840" cy="274320"/>
          </a:xfrm>
          <a:prstGeom prst="rect">
            <a:avLst/>
          </a:prstGeom>
          <a:noFill/>
          <a:ln/>
        </p:spPr>
        <p:txBody>
          <a:bodyPr wrap="square" lIns="0" tIns="0" rIns="0" bIns="0" rtlCol="0" anchor="t"/>
          <a:lstStyle/>
          <a:p>
            <a:pPr indent="0" marL="0">
              <a:buNone/>
            </a:pPr>
            <a:r>
              <a:rPr lang="en-US" sz="1100" b="1" dirty="0">
                <a:solidFill>
                  <a:srgbClr val="6B746E"/>
                </a:solidFill>
                <a:latin typeface="Malgun Gothic" pitchFamily="34" charset="0"/>
                <a:ea typeface="Malgun Gothic" pitchFamily="34" charset="-122"/>
                <a:cs typeface="Malgun Gothic" pitchFamily="34" charset="-120"/>
              </a:rPr>
              <a:t>층×동</a:t>
            </a:r>
            <a:endParaRPr lang="en-US" sz="1100" dirty="0"/>
          </a:p>
        </p:txBody>
      </p:sp>
      <p:sp>
        <p:nvSpPr>
          <p:cNvPr id="27" name="Text 24"/>
          <p:cNvSpPr txBox="1"/>
          <p:nvPr/>
        </p:nvSpPr>
        <p:spPr>
          <a:xfrm>
            <a:off x="8046720" y="1463040"/>
            <a:ext cx="1005840" cy="274320"/>
          </a:xfrm>
          <a:prstGeom prst="rect">
            <a:avLst/>
          </a:prstGeom>
          <a:noFill/>
          <a:ln/>
        </p:spPr>
        <p:txBody>
          <a:bodyPr wrap="square" lIns="0" tIns="0" rIns="0" bIns="0" rtlCol="0" anchor="t"/>
          <a:lstStyle/>
          <a:p>
            <a:pPr indent="0" marL="0">
              <a:buNone/>
            </a:pPr>
            <a:r>
              <a:rPr lang="en-US" sz="1100" b="1" dirty="0">
                <a:solidFill>
                  <a:srgbClr val="6B746E"/>
                </a:solidFill>
                <a:latin typeface="Malgun Gothic" pitchFamily="34" charset="0"/>
                <a:ea typeface="Malgun Gothic" pitchFamily="34" charset="-122"/>
                <a:cs typeface="Malgun Gothic" pitchFamily="34" charset="-120"/>
              </a:rPr>
              <a:t>용적률</a:t>
            </a:r>
            <a:endParaRPr lang="en-US" sz="1100" dirty="0"/>
          </a:p>
        </p:txBody>
      </p:sp>
      <p:sp>
        <p:nvSpPr>
          <p:cNvPr id="28" name="Text 25"/>
          <p:cNvSpPr txBox="1"/>
          <p:nvPr/>
        </p:nvSpPr>
        <p:spPr>
          <a:xfrm>
            <a:off x="9144000" y="1463040"/>
            <a:ext cx="1005840" cy="274320"/>
          </a:xfrm>
          <a:prstGeom prst="rect">
            <a:avLst/>
          </a:prstGeom>
          <a:noFill/>
          <a:ln/>
        </p:spPr>
        <p:txBody>
          <a:bodyPr wrap="square" lIns="0" tIns="0" rIns="0" bIns="0" rtlCol="0" anchor="t"/>
          <a:lstStyle/>
          <a:p>
            <a:pPr indent="0" marL="0">
              <a:buNone/>
            </a:pPr>
            <a:r>
              <a:rPr lang="en-US" sz="1100" b="1" dirty="0">
                <a:solidFill>
                  <a:srgbClr val="6B746E"/>
                </a:solidFill>
                <a:latin typeface="Malgun Gothic" pitchFamily="34" charset="0"/>
                <a:ea typeface="Malgun Gothic" pitchFamily="34" charset="-122"/>
                <a:cs typeface="Malgun Gothic" pitchFamily="34" charset="-120"/>
              </a:rPr>
              <a:t>세대</a:t>
            </a:r>
            <a:endParaRPr lang="en-US" sz="1100" dirty="0"/>
          </a:p>
        </p:txBody>
      </p:sp>
      <p:sp>
        <p:nvSpPr>
          <p:cNvPr id="29" name="Text 26"/>
          <p:cNvSpPr txBox="1"/>
          <p:nvPr/>
        </p:nvSpPr>
        <p:spPr>
          <a:xfrm>
            <a:off x="10241280" y="1463040"/>
            <a:ext cx="1325880" cy="274320"/>
          </a:xfrm>
          <a:prstGeom prst="rect">
            <a:avLst/>
          </a:prstGeom>
          <a:noFill/>
          <a:ln/>
        </p:spPr>
        <p:txBody>
          <a:bodyPr wrap="square" lIns="0" tIns="0" rIns="0" bIns="0" rtlCol="0" anchor="t"/>
          <a:lstStyle/>
          <a:p>
            <a:pPr indent="0" marL="0">
              <a:buNone/>
            </a:pPr>
            <a:r>
              <a:rPr lang="en-US" sz="1100" b="1" dirty="0">
                <a:solidFill>
                  <a:srgbClr val="6B746E"/>
                </a:solidFill>
                <a:latin typeface="Malgun Gothic" pitchFamily="34" charset="0"/>
                <a:ea typeface="Malgun Gothic" pitchFamily="34" charset="-122"/>
                <a:cs typeface="Malgun Gothic" pitchFamily="34" charset="-120"/>
              </a:rPr>
              <a:t>연 탄소</a:t>
            </a:r>
            <a:endParaRPr lang="en-US" sz="1100" dirty="0"/>
          </a:p>
        </p:txBody>
      </p:sp>
      <p:sp>
        <p:nvSpPr>
          <p:cNvPr id="30" name="Shape 27"/>
          <p:cNvSpPr/>
          <p:nvPr/>
        </p:nvSpPr>
        <p:spPr>
          <a:xfrm>
            <a:off x="4709160" y="1828800"/>
            <a:ext cx="7022592" cy="621792"/>
          </a:xfrm>
          <a:prstGeom prst="rect">
            <a:avLst/>
          </a:prstGeom>
          <a:solidFill>
            <a:srgbClr val="E2EEE8"/>
          </a:solidFill>
          <a:ln w="12700">
            <a:solidFill>
              <a:srgbClr val="E2EEE8"/>
            </a:solidFill>
            <a:prstDash val="solid"/>
          </a:ln>
        </p:spPr>
      </p:sp>
      <p:sp>
        <p:nvSpPr>
          <p:cNvPr id="31" name="Text 28"/>
          <p:cNvSpPr txBox="1"/>
          <p:nvPr/>
        </p:nvSpPr>
        <p:spPr>
          <a:xfrm>
            <a:off x="4800600" y="1984248"/>
            <a:ext cx="2011680" cy="329184"/>
          </a:xfrm>
          <a:prstGeom prst="rect">
            <a:avLst/>
          </a:prstGeom>
          <a:noFill/>
          <a:ln/>
        </p:spPr>
        <p:txBody>
          <a:bodyPr wrap="square" lIns="0" tIns="0" rIns="0" bIns="0" rtlCol="0" anchor="t"/>
          <a:lstStyle/>
          <a:p>
            <a:pPr indent="0" marL="0">
              <a:buNone/>
            </a:pPr>
            <a:r>
              <a:rPr lang="en-US" sz="1150" dirty="0">
                <a:solidFill>
                  <a:srgbClr val="1C2622"/>
                </a:solidFill>
                <a:latin typeface="Malgun Gothic" pitchFamily="34" charset="0"/>
                <a:ea typeface="Malgun Gothic" pitchFamily="34" charset="-122"/>
                <a:cs typeface="Malgun Gothic" pitchFamily="34" charset="-120"/>
              </a:rPr>
              <a:t>탄소 최소</a:t>
            </a:r>
            <a:endParaRPr lang="en-US" sz="1150" dirty="0"/>
          </a:p>
        </p:txBody>
      </p:sp>
      <p:sp>
        <p:nvSpPr>
          <p:cNvPr id="32" name="Text 29"/>
          <p:cNvSpPr txBox="1"/>
          <p:nvPr/>
        </p:nvSpPr>
        <p:spPr>
          <a:xfrm>
            <a:off x="6949440" y="1984248"/>
            <a:ext cx="960120" cy="329184"/>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22층 × 2동</a:t>
            </a:r>
            <a:endParaRPr lang="en-US" sz="1300" dirty="0"/>
          </a:p>
        </p:txBody>
      </p:sp>
      <p:sp>
        <p:nvSpPr>
          <p:cNvPr id="33" name="Text 30"/>
          <p:cNvSpPr txBox="1"/>
          <p:nvPr/>
        </p:nvSpPr>
        <p:spPr>
          <a:xfrm>
            <a:off x="8046720" y="1984248"/>
            <a:ext cx="960120" cy="329184"/>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176%</a:t>
            </a:r>
            <a:endParaRPr lang="en-US" sz="1300" dirty="0"/>
          </a:p>
        </p:txBody>
      </p:sp>
      <p:sp>
        <p:nvSpPr>
          <p:cNvPr id="34" name="Text 31"/>
          <p:cNvSpPr txBox="1"/>
          <p:nvPr/>
        </p:nvSpPr>
        <p:spPr>
          <a:xfrm>
            <a:off x="9144000" y="1984248"/>
            <a:ext cx="960120" cy="329184"/>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414</a:t>
            </a:r>
            <a:endParaRPr lang="en-US" sz="1300" dirty="0"/>
          </a:p>
        </p:txBody>
      </p:sp>
      <p:sp>
        <p:nvSpPr>
          <p:cNvPr id="35" name="Text 32"/>
          <p:cNvSpPr txBox="1"/>
          <p:nvPr/>
        </p:nvSpPr>
        <p:spPr>
          <a:xfrm>
            <a:off x="10241280" y="1984248"/>
            <a:ext cx="1280160" cy="329184"/>
          </a:xfrm>
          <a:prstGeom prst="rect">
            <a:avLst/>
          </a:prstGeom>
          <a:noFill/>
          <a:ln/>
        </p:spPr>
        <p:txBody>
          <a:bodyPr wrap="square" lIns="0" tIns="0" rIns="0" bIns="0" rtlCol="0" anchor="t"/>
          <a:lstStyle/>
          <a:p>
            <a:pPr indent="0" marL="0">
              <a:buNone/>
            </a:pPr>
            <a:r>
              <a:rPr lang="en-US" sz="1300" b="1" dirty="0">
                <a:solidFill>
                  <a:srgbClr val="1F7A55"/>
                </a:solidFill>
                <a:latin typeface="Malgun Gothic" pitchFamily="34" charset="0"/>
                <a:ea typeface="Malgun Gothic" pitchFamily="34" charset="-122"/>
                <a:cs typeface="Malgun Gothic" pitchFamily="34" charset="-120"/>
              </a:rPr>
              <a:t>802t</a:t>
            </a:r>
            <a:endParaRPr lang="en-US" sz="1300" dirty="0"/>
          </a:p>
        </p:txBody>
      </p:sp>
      <p:sp>
        <p:nvSpPr>
          <p:cNvPr id="36" name="Shape 33"/>
          <p:cNvSpPr/>
          <p:nvPr/>
        </p:nvSpPr>
        <p:spPr>
          <a:xfrm>
            <a:off x="4709160" y="2542032"/>
            <a:ext cx="7022592" cy="621792"/>
          </a:xfrm>
          <a:prstGeom prst="rect">
            <a:avLst/>
          </a:prstGeom>
          <a:solidFill>
            <a:srgbClr val="F4F6F4"/>
          </a:solidFill>
          <a:ln w="12700">
            <a:solidFill>
              <a:srgbClr val="F4F6F4"/>
            </a:solidFill>
            <a:prstDash val="solid"/>
          </a:ln>
        </p:spPr>
      </p:sp>
      <p:sp>
        <p:nvSpPr>
          <p:cNvPr id="37" name="Text 34"/>
          <p:cNvSpPr txBox="1"/>
          <p:nvPr/>
        </p:nvSpPr>
        <p:spPr>
          <a:xfrm>
            <a:off x="4800600" y="2697480"/>
            <a:ext cx="2011680" cy="329184"/>
          </a:xfrm>
          <a:prstGeom prst="rect">
            <a:avLst/>
          </a:prstGeom>
          <a:noFill/>
          <a:ln/>
        </p:spPr>
        <p:txBody>
          <a:bodyPr wrap="square" lIns="0" tIns="0" rIns="0" bIns="0" rtlCol="0" anchor="t"/>
          <a:lstStyle/>
          <a:p>
            <a:pPr indent="0" marL="0">
              <a:buNone/>
            </a:pPr>
            <a:r>
              <a:rPr lang="en-US" sz="1150" dirty="0">
                <a:solidFill>
                  <a:srgbClr val="1C2622"/>
                </a:solidFill>
                <a:latin typeface="Malgun Gothic" pitchFamily="34" charset="0"/>
                <a:ea typeface="Malgun Gothic" pitchFamily="34" charset="-122"/>
                <a:cs typeface="Malgun Gothic" pitchFamily="34" charset="-120"/>
              </a:rPr>
              <a:t>세대당 탄소 최소</a:t>
            </a:r>
            <a:endParaRPr lang="en-US" sz="1150" dirty="0"/>
          </a:p>
        </p:txBody>
      </p:sp>
      <p:sp>
        <p:nvSpPr>
          <p:cNvPr id="38" name="Text 35"/>
          <p:cNvSpPr txBox="1"/>
          <p:nvPr/>
        </p:nvSpPr>
        <p:spPr>
          <a:xfrm>
            <a:off x="6949440" y="2697480"/>
            <a:ext cx="960120" cy="329184"/>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17층 × 3동</a:t>
            </a:r>
            <a:endParaRPr lang="en-US" sz="1300" dirty="0"/>
          </a:p>
        </p:txBody>
      </p:sp>
      <p:sp>
        <p:nvSpPr>
          <p:cNvPr id="39" name="Text 36"/>
          <p:cNvSpPr txBox="1"/>
          <p:nvPr/>
        </p:nvSpPr>
        <p:spPr>
          <a:xfrm>
            <a:off x="8046720" y="2697480"/>
            <a:ext cx="960120" cy="329184"/>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204%</a:t>
            </a:r>
            <a:endParaRPr lang="en-US" sz="1300" dirty="0"/>
          </a:p>
        </p:txBody>
      </p:sp>
      <p:sp>
        <p:nvSpPr>
          <p:cNvPr id="40" name="Text 37"/>
          <p:cNvSpPr txBox="1"/>
          <p:nvPr/>
        </p:nvSpPr>
        <p:spPr>
          <a:xfrm>
            <a:off x="9144000" y="2697480"/>
            <a:ext cx="960120" cy="329184"/>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480</a:t>
            </a:r>
            <a:endParaRPr lang="en-US" sz="1300" dirty="0"/>
          </a:p>
        </p:txBody>
      </p:sp>
      <p:sp>
        <p:nvSpPr>
          <p:cNvPr id="41" name="Text 38"/>
          <p:cNvSpPr txBox="1"/>
          <p:nvPr/>
        </p:nvSpPr>
        <p:spPr>
          <a:xfrm>
            <a:off x="10241280" y="2697480"/>
            <a:ext cx="1280160" cy="329184"/>
          </a:xfrm>
          <a:prstGeom prst="rect">
            <a:avLst/>
          </a:prstGeom>
          <a:noFill/>
          <a:ln/>
        </p:spPr>
        <p:txBody>
          <a:bodyPr wrap="square" lIns="0" tIns="0" rIns="0" bIns="0" rtlCol="0" anchor="t"/>
          <a:lstStyle/>
          <a:p>
            <a:pPr indent="0" marL="0">
              <a:buNone/>
            </a:pPr>
            <a:r>
              <a:rPr lang="en-US" sz="1300" b="1" dirty="0">
                <a:solidFill>
                  <a:srgbClr val="1F7A55"/>
                </a:solidFill>
                <a:latin typeface="Malgun Gothic" pitchFamily="34" charset="0"/>
                <a:ea typeface="Malgun Gothic" pitchFamily="34" charset="-122"/>
                <a:cs typeface="Malgun Gothic" pitchFamily="34" charset="-120"/>
              </a:rPr>
              <a:t>930t</a:t>
            </a:r>
            <a:endParaRPr lang="en-US" sz="1300" dirty="0"/>
          </a:p>
        </p:txBody>
      </p:sp>
      <p:sp>
        <p:nvSpPr>
          <p:cNvPr id="42" name="Shape 39"/>
          <p:cNvSpPr/>
          <p:nvPr/>
        </p:nvSpPr>
        <p:spPr>
          <a:xfrm>
            <a:off x="4709160" y="3255264"/>
            <a:ext cx="7022592" cy="621792"/>
          </a:xfrm>
          <a:prstGeom prst="rect">
            <a:avLst/>
          </a:prstGeom>
          <a:solidFill>
            <a:srgbClr val="F4F6F4"/>
          </a:solidFill>
          <a:ln w="12700">
            <a:solidFill>
              <a:srgbClr val="F4F6F4"/>
            </a:solidFill>
            <a:prstDash val="solid"/>
          </a:ln>
        </p:spPr>
      </p:sp>
      <p:sp>
        <p:nvSpPr>
          <p:cNvPr id="43" name="Text 40"/>
          <p:cNvSpPr txBox="1"/>
          <p:nvPr/>
        </p:nvSpPr>
        <p:spPr>
          <a:xfrm>
            <a:off x="4800600" y="3410712"/>
            <a:ext cx="2011680" cy="329184"/>
          </a:xfrm>
          <a:prstGeom prst="rect">
            <a:avLst/>
          </a:prstGeom>
          <a:noFill/>
          <a:ln/>
        </p:spPr>
        <p:txBody>
          <a:bodyPr wrap="square" lIns="0" tIns="0" rIns="0" bIns="0" rtlCol="0" anchor="t"/>
          <a:lstStyle/>
          <a:p>
            <a:pPr indent="0" marL="0">
              <a:buNone/>
            </a:pPr>
            <a:r>
              <a:rPr lang="en-US" sz="1150" dirty="0">
                <a:solidFill>
                  <a:srgbClr val="1C2622"/>
                </a:solidFill>
                <a:latin typeface="Malgun Gothic" pitchFamily="34" charset="0"/>
                <a:ea typeface="Malgun Gothic" pitchFamily="34" charset="-122"/>
                <a:cs typeface="Malgun Gothic" pitchFamily="34" charset="-120"/>
              </a:rPr>
              <a:t>20% 목적값 범위 내 수용량 최대</a:t>
            </a:r>
            <a:endParaRPr lang="en-US" sz="1150" dirty="0"/>
          </a:p>
        </p:txBody>
      </p:sp>
      <p:sp>
        <p:nvSpPr>
          <p:cNvPr id="44" name="Text 41"/>
          <p:cNvSpPr txBox="1"/>
          <p:nvPr/>
        </p:nvSpPr>
        <p:spPr>
          <a:xfrm>
            <a:off x="6949440" y="3410712"/>
            <a:ext cx="960120" cy="329184"/>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26층 × 2동</a:t>
            </a:r>
            <a:endParaRPr lang="en-US" sz="1300" dirty="0"/>
          </a:p>
        </p:txBody>
      </p:sp>
      <p:sp>
        <p:nvSpPr>
          <p:cNvPr id="45" name="Text 42"/>
          <p:cNvSpPr txBox="1"/>
          <p:nvPr/>
        </p:nvSpPr>
        <p:spPr>
          <a:xfrm>
            <a:off x="8046720" y="3410712"/>
            <a:ext cx="960120" cy="329184"/>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208%</a:t>
            </a:r>
            <a:endParaRPr lang="en-US" sz="1300" dirty="0"/>
          </a:p>
        </p:txBody>
      </p:sp>
      <p:sp>
        <p:nvSpPr>
          <p:cNvPr id="46" name="Text 43"/>
          <p:cNvSpPr txBox="1"/>
          <p:nvPr/>
        </p:nvSpPr>
        <p:spPr>
          <a:xfrm>
            <a:off x="9144000" y="3410712"/>
            <a:ext cx="960120" cy="329184"/>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489</a:t>
            </a:r>
            <a:endParaRPr lang="en-US" sz="1300" dirty="0"/>
          </a:p>
        </p:txBody>
      </p:sp>
      <p:sp>
        <p:nvSpPr>
          <p:cNvPr id="47" name="Text 44"/>
          <p:cNvSpPr txBox="1"/>
          <p:nvPr/>
        </p:nvSpPr>
        <p:spPr>
          <a:xfrm>
            <a:off x="10241280" y="3410712"/>
            <a:ext cx="1280160" cy="329184"/>
          </a:xfrm>
          <a:prstGeom prst="rect">
            <a:avLst/>
          </a:prstGeom>
          <a:noFill/>
          <a:ln/>
        </p:spPr>
        <p:txBody>
          <a:bodyPr wrap="square" lIns="0" tIns="0" rIns="0" bIns="0" rtlCol="0" anchor="t"/>
          <a:lstStyle/>
          <a:p>
            <a:pPr indent="0" marL="0">
              <a:buNone/>
            </a:pPr>
            <a:r>
              <a:rPr lang="en-US" sz="1300" b="1" dirty="0">
                <a:solidFill>
                  <a:srgbClr val="1F7A55"/>
                </a:solidFill>
                <a:latin typeface="Malgun Gothic" pitchFamily="34" charset="0"/>
                <a:ea typeface="Malgun Gothic" pitchFamily="34" charset="-122"/>
                <a:cs typeface="Malgun Gothic" pitchFamily="34" charset="-120"/>
              </a:rPr>
              <a:t>948t</a:t>
            </a:r>
            <a:endParaRPr lang="en-US" sz="1300" dirty="0"/>
          </a:p>
        </p:txBody>
      </p:sp>
      <p:sp>
        <p:nvSpPr>
          <p:cNvPr id="48" name="Shape 45"/>
          <p:cNvSpPr/>
          <p:nvPr/>
        </p:nvSpPr>
        <p:spPr>
          <a:xfrm>
            <a:off x="4709160" y="4114800"/>
            <a:ext cx="7022592" cy="1691640"/>
          </a:xfrm>
          <a:prstGeom prst="roundRect">
            <a:avLst>
              <a:gd name="adj" fmla="val 4324"/>
            </a:avLst>
          </a:prstGeom>
          <a:solidFill>
            <a:srgbClr val="FFFFFF"/>
          </a:solidFill>
          <a:ln w="9525">
            <a:solidFill>
              <a:srgbClr val="D9D7CE"/>
            </a:solidFill>
            <a:prstDash val="solid"/>
          </a:ln>
        </p:spPr>
      </p:sp>
      <p:sp>
        <p:nvSpPr>
          <p:cNvPr id="49" name="Text 46"/>
          <p:cNvSpPr txBox="1"/>
          <p:nvPr/>
        </p:nvSpPr>
        <p:spPr>
          <a:xfrm>
            <a:off x="4937760" y="4224528"/>
            <a:ext cx="27432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읽는 법</a:t>
            </a:r>
            <a:endParaRPr lang="en-US" sz="1200" dirty="0"/>
          </a:p>
        </p:txBody>
      </p:sp>
      <p:sp>
        <p:nvSpPr>
          <p:cNvPr id="50" name="Text 47"/>
          <p:cNvSpPr txBox="1"/>
          <p:nvPr/>
        </p:nvSpPr>
        <p:spPr>
          <a:xfrm>
            <a:off x="4937760" y="4553712"/>
            <a:ext cx="6611112" cy="1188720"/>
          </a:xfrm>
          <a:prstGeom prst="rect">
            <a:avLst/>
          </a:prstGeom>
          <a:noFill/>
          <a:ln/>
        </p:spPr>
        <p:txBody>
          <a:bodyPr wrap="square" lIns="0" tIns="0" rIns="0" bIns="0" rtlCol="0" anchor="t"/>
          <a:lstStyle/>
          <a:p>
            <a:pPr indent="0" marL="0">
              <a:lnSpc>
                <a:spcPct val="115000"/>
              </a:lnSpc>
              <a:buNone/>
            </a:pPr>
            <a:r>
              <a:rPr lang="en-US" sz="1150" dirty="0">
                <a:solidFill>
                  <a:srgbClr val="1C2622"/>
                </a:solidFill>
                <a:latin typeface="Malgun Gothic" pitchFamily="34" charset="0"/>
                <a:ea typeface="Malgun Gothic" pitchFamily="34" charset="-122"/>
                <a:cs typeface="Malgun Gothic" pitchFamily="34" charset="-120"/>
              </a:rPr>
              <a:t>• 상한·세대수 조건에 안 맞는 후보 602개는 빠집니다. 상한은 전주시 조례 기본값, 지구단위계획은 따로 확인.</a:t>
            </a:r>
            <a:endParaRPr lang="en-US" sz="1150" dirty="0"/>
          </a:p>
          <a:p>
            <a:pPr indent="0" marL="0">
              <a:lnSpc>
                <a:spcPct val="115000"/>
              </a:lnSpc>
              <a:buNone/>
            </a:pPr>
            <a:r>
              <a:rPr lang="en-US" sz="1150" dirty="0">
                <a:solidFill>
                  <a:srgbClr val="1C2622"/>
                </a:solidFill>
                <a:latin typeface="Malgun Gothic" pitchFamily="34" charset="0"/>
                <a:ea typeface="Malgun Gothic" pitchFamily="34" charset="-122"/>
                <a:cs typeface="Malgun Gothic" pitchFamily="34" charset="-120"/>
              </a:rPr>
              <a:t>• ㎡당 탄소는 22.8kg으로 같아서, "탄소 최소"는 곧 "연면적 최소"입니다.</a:t>
            </a:r>
            <a:endParaRPr lang="en-US" sz="1150" dirty="0"/>
          </a:p>
          <a:p>
            <a:pPr indent="0" marL="0">
              <a:lnSpc>
                <a:spcPct val="115000"/>
              </a:lnSpc>
              <a:buNone/>
            </a:pPr>
            <a:r>
              <a:rPr lang="en-US" sz="1150" dirty="0">
                <a:solidFill>
                  <a:srgbClr val="1C2622"/>
                </a:solidFill>
                <a:latin typeface="Malgun Gothic" pitchFamily="34" charset="0"/>
                <a:ea typeface="Malgun Gothic" pitchFamily="34" charset="-122"/>
                <a:cs typeface="Malgun Gothic" pitchFamily="34" charset="-120"/>
              </a:rPr>
              <a:t>• 세대당 탄소는 세 후보 모두 약 1.94t으로 거의 같습니다.</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22</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활용 예시 3 · 전국 사업 건설사</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같은 계획을 다른 도시에서 하면?</a:t>
            </a:r>
            <a:endParaRPr lang="en-US" sz="2500" dirty="0"/>
          </a:p>
        </p:txBody>
      </p:sp>
      <p:sp>
        <p:nvSpPr>
          <p:cNvPr id="5" name="Shape 3"/>
          <p:cNvSpPr/>
          <p:nvPr/>
        </p:nvSpPr>
        <p:spPr>
          <a:xfrm>
            <a:off x="457200" y="1325880"/>
            <a:ext cx="3931920" cy="4572000"/>
          </a:xfrm>
          <a:prstGeom prst="roundRect">
            <a:avLst>
              <a:gd name="adj" fmla="val 1860"/>
            </a:avLst>
          </a:prstGeom>
          <a:solidFill>
            <a:srgbClr val="F4F6F4"/>
          </a:solidFill>
          <a:ln w="9525">
            <a:solidFill>
              <a:srgbClr val="D9D7CE"/>
            </a:solidFill>
            <a:prstDash val="solid"/>
          </a:ln>
        </p:spPr>
      </p:sp>
      <p:sp>
        <p:nvSpPr>
          <p:cNvPr id="6" name="Text 4"/>
          <p:cNvSpPr txBox="1"/>
          <p:nvPr/>
        </p:nvSpPr>
        <p:spPr>
          <a:xfrm>
            <a:off x="685800" y="1481328"/>
            <a:ext cx="34747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상황</a:t>
            </a:r>
            <a:endParaRPr lang="en-US" sz="1200" dirty="0"/>
          </a:p>
        </p:txBody>
      </p:sp>
      <p:sp>
        <p:nvSpPr>
          <p:cNvPr id="7" name="Text 5"/>
          <p:cNvSpPr txBox="1"/>
          <p:nvPr/>
        </p:nvSpPr>
        <p:spPr>
          <a:xfrm>
            <a:off x="685800" y="1783080"/>
            <a:ext cx="3520440" cy="1051560"/>
          </a:xfrm>
          <a:prstGeom prst="rect">
            <a:avLst/>
          </a:prstGeom>
          <a:noFill/>
          <a:ln/>
        </p:spPr>
        <p:txBody>
          <a:bodyPr wrap="square" lIns="0" tIns="0" rIns="0" bIns="0" rtlCol="0" anchor="t"/>
          <a:lstStyle/>
          <a:p>
            <a:pPr indent="0" marL="0">
              <a:lnSpc>
                <a:spcPct val="112000"/>
              </a:lnSpc>
              <a:buNone/>
            </a:pPr>
            <a:r>
              <a:rPr lang="en-US" sz="1150" dirty="0">
                <a:solidFill>
                  <a:srgbClr val="1C2622"/>
                </a:solidFill>
                <a:latin typeface="Malgun Gothic" pitchFamily="34" charset="0"/>
                <a:ea typeface="Malgun Gothic" pitchFamily="34" charset="-122"/>
                <a:cs typeface="Malgun Gothic" pitchFamily="34" charset="-120"/>
              </a:rPr>
              <a:t>예시 1의 B안(고효율)을 그대로 수원 호매실 일대 격자에 놓아 본다. 도시마다 기준 단지와 조례 상한이 달라 결과가 달라진다.</a:t>
            </a:r>
            <a:endParaRPr lang="en-US" sz="1150" dirty="0"/>
          </a:p>
        </p:txBody>
      </p:sp>
      <p:sp>
        <p:nvSpPr>
          <p:cNvPr id="8" name="Text 6"/>
          <p:cNvSpPr txBox="1"/>
          <p:nvPr/>
        </p:nvSpPr>
        <p:spPr>
          <a:xfrm>
            <a:off x="685800" y="2907792"/>
            <a:ext cx="34747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입력</a:t>
            </a:r>
            <a:endParaRPr lang="en-US" sz="1200" dirty="0"/>
          </a:p>
        </p:txBody>
      </p:sp>
      <p:sp>
        <p:nvSpPr>
          <p:cNvPr id="9" name="Text 7"/>
          <p:cNvSpPr txBox="1"/>
          <p:nvPr/>
        </p:nvSpPr>
        <p:spPr>
          <a:xfrm>
            <a:off x="685800" y="3218688"/>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계획</a:t>
            </a:r>
            <a:endParaRPr lang="en-US" sz="1100" dirty="0"/>
          </a:p>
        </p:txBody>
      </p:sp>
      <p:sp>
        <p:nvSpPr>
          <p:cNvPr id="10" name="Text 8"/>
          <p:cNvSpPr txBox="1"/>
          <p:nvPr/>
        </p:nvSpPr>
        <p:spPr>
          <a:xfrm>
            <a:off x="2103120" y="3218688"/>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예시 1 B안과 동일</a:t>
            </a:r>
            <a:endParaRPr lang="en-US" sz="1100" dirty="0"/>
          </a:p>
        </p:txBody>
      </p:sp>
      <p:sp>
        <p:nvSpPr>
          <p:cNvPr id="11" name="Text 9"/>
          <p:cNvSpPr txBox="1"/>
          <p:nvPr/>
        </p:nvSpPr>
        <p:spPr>
          <a:xfrm>
            <a:off x="685800" y="3547872"/>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전주 기준</a:t>
            </a:r>
            <a:endParaRPr lang="en-US" sz="1100" dirty="0"/>
          </a:p>
        </p:txBody>
      </p:sp>
      <p:sp>
        <p:nvSpPr>
          <p:cNvPr id="12" name="Text 10"/>
          <p:cNvSpPr txBox="1"/>
          <p:nvPr/>
        </p:nvSpPr>
        <p:spPr>
          <a:xfrm>
            <a:off x="2103120" y="3547872"/>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우아동 일대 6개 단지 관측</a:t>
            </a:r>
            <a:endParaRPr lang="en-US" sz="1100" dirty="0"/>
          </a:p>
        </p:txBody>
      </p:sp>
      <p:sp>
        <p:nvSpPr>
          <p:cNvPr id="13" name="Text 11"/>
          <p:cNvSpPr txBox="1"/>
          <p:nvPr/>
        </p:nvSpPr>
        <p:spPr>
          <a:xfrm>
            <a:off x="685800" y="3877056"/>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수원 기준</a:t>
            </a:r>
            <a:endParaRPr lang="en-US" sz="1100" dirty="0"/>
          </a:p>
        </p:txBody>
      </p:sp>
      <p:sp>
        <p:nvSpPr>
          <p:cNvPr id="14" name="Text 12"/>
          <p:cNvSpPr txBox="1"/>
          <p:nvPr/>
        </p:nvSpPr>
        <p:spPr>
          <a:xfrm>
            <a:off x="2103120" y="3877056"/>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호매실 1개 단지 관측</a:t>
            </a:r>
            <a:endParaRPr lang="en-US" sz="1100" dirty="0"/>
          </a:p>
        </p:txBody>
      </p:sp>
      <p:sp>
        <p:nvSpPr>
          <p:cNvPr id="15" name="Text 13"/>
          <p:cNvSpPr txBox="1"/>
          <p:nvPr/>
        </p:nvSpPr>
        <p:spPr>
          <a:xfrm>
            <a:off x="685800" y="4206240"/>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상한</a:t>
            </a:r>
            <a:endParaRPr lang="en-US" sz="1100" dirty="0"/>
          </a:p>
        </p:txBody>
      </p:sp>
      <p:sp>
        <p:nvSpPr>
          <p:cNvPr id="16" name="Text 14"/>
          <p:cNvSpPr txBox="1"/>
          <p:nvPr/>
        </p:nvSpPr>
        <p:spPr>
          <a:xfrm>
            <a:off x="2103120" y="4206240"/>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각 시 조례 → 지구단위계획</a:t>
            </a:r>
            <a:endParaRPr lang="en-US" sz="1100" dirty="0"/>
          </a:p>
        </p:txBody>
      </p:sp>
      <p:sp>
        <p:nvSpPr>
          <p:cNvPr id="17" name="Shape 15"/>
          <p:cNvSpPr/>
          <p:nvPr/>
        </p:nvSpPr>
        <p:spPr>
          <a:xfrm>
            <a:off x="685800" y="5440680"/>
            <a:ext cx="3474720" cy="310896"/>
          </a:xfrm>
          <a:prstGeom prst="roundRect">
            <a:avLst>
              <a:gd name="adj" fmla="val 17647"/>
            </a:avLst>
          </a:prstGeom>
          <a:solidFill>
            <a:srgbClr val="FFFFFF"/>
          </a:solidFill>
          <a:ln w="12700">
            <a:solidFill>
              <a:srgbClr val="FFFFFF"/>
            </a:solidFill>
            <a:prstDash val="solid"/>
          </a:ln>
        </p:spPr>
      </p:sp>
      <p:sp>
        <p:nvSpPr>
          <p:cNvPr id="18" name="Text 16"/>
          <p:cNvSpPr txBox="1"/>
          <p:nvPr/>
        </p:nvSpPr>
        <p:spPr>
          <a:xfrm>
            <a:off x="685800" y="5440680"/>
            <a:ext cx="3474720" cy="310896"/>
          </a:xfrm>
          <a:prstGeom prst="rect">
            <a:avLst/>
          </a:prstGeom>
          <a:noFill/>
          <a:ln/>
        </p:spPr>
        <p:txBody>
          <a:bodyPr wrap="square" lIns="0" tIns="0" rIns="0" bIns="0" rtlCol="0" anchor="ctr"/>
          <a:lstStyle/>
          <a:p>
            <a:pPr algn="ctr" indent="0" marL="0">
              <a:buNone/>
            </a:pPr>
            <a:r>
              <a:rPr lang="en-US" sz="1050" b="1" dirty="0">
                <a:solidFill>
                  <a:srgbClr val="2F5D50"/>
                </a:solidFill>
                <a:latin typeface="Malgun Gothic" pitchFamily="34" charset="0"/>
                <a:ea typeface="Malgun Gothic" pitchFamily="34" charset="-122"/>
                <a:cs typeface="Malgun Gothic" pitchFamily="34" charset="-120"/>
              </a:rPr>
              <a:t>메뉴: 시뮬레이션 (지역만 바꿈)</a:t>
            </a:r>
            <a:endParaRPr lang="en-US" sz="1050" dirty="0"/>
          </a:p>
        </p:txBody>
      </p:sp>
      <p:sp>
        <p:nvSpPr>
          <p:cNvPr id="19" name="Shape 17"/>
          <p:cNvSpPr/>
          <p:nvPr/>
        </p:nvSpPr>
        <p:spPr>
          <a:xfrm>
            <a:off x="457200" y="5989320"/>
            <a:ext cx="11274552" cy="411480"/>
          </a:xfrm>
          <a:prstGeom prst="roundRect">
            <a:avLst>
              <a:gd name="adj" fmla="val 13333"/>
            </a:avLst>
          </a:prstGeom>
          <a:solidFill>
            <a:srgbClr val="1F3A33"/>
          </a:solidFill>
          <a:ln w="12700">
            <a:solidFill>
              <a:srgbClr val="1F3A33"/>
            </a:solidFill>
            <a:prstDash val="solid"/>
          </a:ln>
        </p:spPr>
      </p:sp>
      <p:sp>
        <p:nvSpPr>
          <p:cNvPr id="20" name="Text 18"/>
          <p:cNvSpPr txBox="1"/>
          <p:nvPr/>
        </p:nvSpPr>
        <p:spPr>
          <a:xfrm>
            <a:off x="640080" y="5989320"/>
            <a:ext cx="10972800" cy="411480"/>
          </a:xfrm>
          <a:prstGeom prst="rect">
            <a:avLst/>
          </a:prstGeom>
          <a:noFill/>
          <a:ln/>
        </p:spPr>
        <p:txBody>
          <a:bodyPr wrap="square" lIns="0" tIns="0" rIns="0" bIns="0" rtlCol="0" anchor="ctr"/>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수원은 용적률 240%가 조례 상한 192%를 넘고 대지 95%가 지구단위계획구역 → 계획을 줄이거나 지구단위계획 확인부터</a:t>
            </a:r>
            <a:endParaRPr lang="en-US" sz="1250" dirty="0"/>
          </a:p>
        </p:txBody>
      </p:sp>
      <p:sp>
        <p:nvSpPr>
          <p:cNvPr id="21" name="Text 19"/>
          <p:cNvSpPr txBox="1"/>
          <p:nvPr/>
        </p:nvSpPr>
        <p:spPr>
          <a:xfrm>
            <a:off x="4572000" y="6473952"/>
            <a:ext cx="715975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수원 기준 단지는 지역난방: 가스가 작고 지역난방 열의 탄소는 이 도구에 없음</a:t>
            </a:r>
            <a:endParaRPr lang="en-US" sz="900" dirty="0"/>
          </a:p>
        </p:txBody>
      </p:sp>
      <p:sp>
        <p:nvSpPr>
          <p:cNvPr id="23" name="Text 20"/>
          <p:cNvSpPr txBox="1"/>
          <p:nvPr/>
        </p:nvSpPr>
        <p:spPr>
          <a:xfrm>
            <a:off x="4709160" y="1371600"/>
            <a:ext cx="1828800" cy="274320"/>
          </a:xfrm>
          <a:prstGeom prst="rect">
            <a:avLst/>
          </a:prstGeom>
          <a:noFill/>
          <a:ln/>
        </p:spPr>
        <p:txBody>
          <a:bodyPr wrap="square" lIns="0" tIns="0" rIns="0" bIns="0" rtlCol="0" anchor="t"/>
          <a:lstStyle/>
          <a:p>
            <a:pPr indent="0" marL="0">
              <a:buNone/>
            </a:pPr>
            <a:endParaRPr lang="en-US" dirty="0"/>
          </a:p>
        </p:txBody>
      </p:sp>
      <p:sp>
        <p:nvSpPr>
          <p:cNvPr id="24" name="Shape 21"/>
          <p:cNvSpPr/>
          <p:nvPr/>
        </p:nvSpPr>
        <p:spPr>
          <a:xfrm>
            <a:off x="6812280" y="1371600"/>
            <a:ext cx="2377440" cy="384048"/>
          </a:xfrm>
          <a:prstGeom prst="roundRect">
            <a:avLst>
              <a:gd name="adj" fmla="val 14286"/>
            </a:avLst>
          </a:prstGeom>
          <a:solidFill>
            <a:srgbClr val="E2EEE8"/>
          </a:solidFill>
          <a:ln w="12700">
            <a:solidFill>
              <a:srgbClr val="E2EEE8"/>
            </a:solidFill>
            <a:prstDash val="solid"/>
          </a:ln>
        </p:spPr>
      </p:sp>
      <p:sp>
        <p:nvSpPr>
          <p:cNvPr id="25" name="Text 22"/>
          <p:cNvSpPr txBox="1"/>
          <p:nvPr/>
        </p:nvSpPr>
        <p:spPr>
          <a:xfrm>
            <a:off x="6812280" y="1371600"/>
            <a:ext cx="2377440" cy="384048"/>
          </a:xfrm>
          <a:prstGeom prst="rect">
            <a:avLst/>
          </a:prstGeom>
          <a:noFill/>
          <a:ln/>
        </p:spPr>
        <p:txBody>
          <a:bodyPr wrap="square" lIns="0" tIns="0" rIns="0" bIns="0" rtlCol="0" anchor="ctr"/>
          <a:lstStyle/>
          <a:p>
            <a:pPr algn="ctr" indent="0" marL="0">
              <a:buNone/>
            </a:pPr>
            <a:r>
              <a:rPr lang="en-US" sz="1200" b="1" dirty="0">
                <a:solidFill>
                  <a:srgbClr val="2F5D50"/>
                </a:solidFill>
                <a:latin typeface="Malgun Gothic" pitchFamily="34" charset="0"/>
                <a:ea typeface="Malgun Gothic" pitchFamily="34" charset="-122"/>
                <a:cs typeface="Malgun Gothic" pitchFamily="34" charset="-120"/>
              </a:rPr>
              <a:t>전주시 (우아동 일대)</a:t>
            </a:r>
            <a:endParaRPr lang="en-US" sz="1200" dirty="0"/>
          </a:p>
        </p:txBody>
      </p:sp>
      <p:sp>
        <p:nvSpPr>
          <p:cNvPr id="26" name="Shape 23"/>
          <p:cNvSpPr/>
          <p:nvPr/>
        </p:nvSpPr>
        <p:spPr>
          <a:xfrm>
            <a:off x="9326880" y="1371600"/>
            <a:ext cx="2377440" cy="384048"/>
          </a:xfrm>
          <a:prstGeom prst="roundRect">
            <a:avLst>
              <a:gd name="adj" fmla="val 14286"/>
            </a:avLst>
          </a:prstGeom>
          <a:solidFill>
            <a:srgbClr val="F6EBDD"/>
          </a:solidFill>
          <a:ln w="12700">
            <a:solidFill>
              <a:srgbClr val="F6EBDD"/>
            </a:solidFill>
            <a:prstDash val="solid"/>
          </a:ln>
        </p:spPr>
      </p:sp>
      <p:sp>
        <p:nvSpPr>
          <p:cNvPr id="27" name="Text 24"/>
          <p:cNvSpPr txBox="1"/>
          <p:nvPr/>
        </p:nvSpPr>
        <p:spPr>
          <a:xfrm>
            <a:off x="9326880" y="1371600"/>
            <a:ext cx="2377440" cy="384048"/>
          </a:xfrm>
          <a:prstGeom prst="rect">
            <a:avLst/>
          </a:prstGeom>
          <a:noFill/>
          <a:ln/>
        </p:spPr>
        <p:txBody>
          <a:bodyPr wrap="square" lIns="0" tIns="0" rIns="0" bIns="0" rtlCol="0" anchor="ctr"/>
          <a:lstStyle/>
          <a:p>
            <a:pPr algn="ctr" indent="0" marL="0">
              <a:buNone/>
            </a:pPr>
            <a:r>
              <a:rPr lang="en-US" sz="1200" b="1" dirty="0">
                <a:solidFill>
                  <a:srgbClr val="B7792F"/>
                </a:solidFill>
                <a:latin typeface="Malgun Gothic" pitchFamily="34" charset="0"/>
                <a:ea typeface="Malgun Gothic" pitchFamily="34" charset="-122"/>
                <a:cs typeface="Malgun Gothic" pitchFamily="34" charset="-120"/>
              </a:rPr>
              <a:t>수원시 (호매실 일대)</a:t>
            </a:r>
            <a:endParaRPr lang="en-US" sz="1200" dirty="0"/>
          </a:p>
        </p:txBody>
      </p:sp>
      <p:sp>
        <p:nvSpPr>
          <p:cNvPr id="28" name="Shape 25"/>
          <p:cNvSpPr/>
          <p:nvPr/>
        </p:nvSpPr>
        <p:spPr>
          <a:xfrm>
            <a:off x="4709160" y="1874520"/>
            <a:ext cx="7022592" cy="0"/>
          </a:xfrm>
          <a:prstGeom prst="line">
            <a:avLst/>
          </a:prstGeom>
          <a:noFill/>
          <a:ln w="9525">
            <a:solidFill>
              <a:srgbClr val="D9D7CE"/>
            </a:solidFill>
            <a:prstDash val="solid"/>
          </a:ln>
        </p:spPr>
      </p:sp>
      <p:sp>
        <p:nvSpPr>
          <p:cNvPr id="29" name="Text 26"/>
          <p:cNvSpPr txBox="1"/>
          <p:nvPr/>
        </p:nvSpPr>
        <p:spPr>
          <a:xfrm>
            <a:off x="4800600" y="2029968"/>
            <a:ext cx="1920240" cy="329184"/>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연 전력</a:t>
            </a:r>
            <a:endParaRPr lang="en-US" sz="1250" dirty="0"/>
          </a:p>
        </p:txBody>
      </p:sp>
      <p:sp>
        <p:nvSpPr>
          <p:cNvPr id="30" name="Text 27"/>
          <p:cNvSpPr txBox="1"/>
          <p:nvPr/>
        </p:nvSpPr>
        <p:spPr>
          <a:xfrm>
            <a:off x="6812280" y="2011680"/>
            <a:ext cx="2377440" cy="365760"/>
          </a:xfrm>
          <a:prstGeom prst="rect">
            <a:avLst/>
          </a:prstGeom>
          <a:noFill/>
          <a:ln/>
        </p:spPr>
        <p:txBody>
          <a:bodyPr wrap="square" lIns="0" tIns="0" rIns="0" bIns="0" rtlCol="0" anchor="t"/>
          <a:lstStyle/>
          <a:p>
            <a:pPr algn="ctr" indent="0" marL="0">
              <a:buNone/>
            </a:pPr>
            <a:r>
              <a:rPr lang="en-US" sz="1400" b="1" dirty="0">
                <a:solidFill>
                  <a:srgbClr val="2F5D50"/>
                </a:solidFill>
                <a:latin typeface="Malgun Gothic" pitchFamily="34" charset="0"/>
                <a:ea typeface="Malgun Gothic" pitchFamily="34" charset="-122"/>
                <a:cs typeface="Malgun Gothic" pitchFamily="34" charset="-120"/>
              </a:rPr>
              <a:t>1.31 GWh</a:t>
            </a:r>
            <a:endParaRPr lang="en-US" sz="1400" dirty="0"/>
          </a:p>
        </p:txBody>
      </p:sp>
      <p:sp>
        <p:nvSpPr>
          <p:cNvPr id="31" name="Text 28"/>
          <p:cNvSpPr txBox="1"/>
          <p:nvPr/>
        </p:nvSpPr>
        <p:spPr>
          <a:xfrm>
            <a:off x="9326880" y="2011680"/>
            <a:ext cx="2377440" cy="365760"/>
          </a:xfrm>
          <a:prstGeom prst="rect">
            <a:avLst/>
          </a:prstGeom>
          <a:noFill/>
          <a:ln/>
        </p:spPr>
        <p:txBody>
          <a:bodyPr wrap="square" lIns="0" tIns="0" rIns="0" bIns="0" rtlCol="0" anchor="t"/>
          <a:lstStyle/>
          <a:p>
            <a:pPr algn="ctr" indent="0" marL="0">
              <a:buNone/>
            </a:pPr>
            <a:r>
              <a:rPr lang="en-US" sz="1400" b="1" dirty="0">
                <a:solidFill>
                  <a:srgbClr val="B7792F"/>
                </a:solidFill>
                <a:latin typeface="Malgun Gothic" pitchFamily="34" charset="0"/>
                <a:ea typeface="Malgun Gothic" pitchFamily="34" charset="-122"/>
                <a:cs typeface="Malgun Gothic" pitchFamily="34" charset="-120"/>
              </a:rPr>
              <a:t>1.71 GWh</a:t>
            </a:r>
            <a:endParaRPr lang="en-US" sz="1400" dirty="0"/>
          </a:p>
        </p:txBody>
      </p:sp>
      <p:sp>
        <p:nvSpPr>
          <p:cNvPr id="32" name="Shape 29"/>
          <p:cNvSpPr/>
          <p:nvPr/>
        </p:nvSpPr>
        <p:spPr>
          <a:xfrm>
            <a:off x="4709160" y="2496312"/>
            <a:ext cx="7022592" cy="0"/>
          </a:xfrm>
          <a:prstGeom prst="line">
            <a:avLst/>
          </a:prstGeom>
          <a:noFill/>
          <a:ln w="9525">
            <a:solidFill>
              <a:srgbClr val="D9D7CE"/>
            </a:solidFill>
            <a:prstDash val="solid"/>
          </a:ln>
        </p:spPr>
      </p:sp>
      <p:sp>
        <p:nvSpPr>
          <p:cNvPr id="33" name="Text 30"/>
          <p:cNvSpPr txBox="1"/>
          <p:nvPr/>
        </p:nvSpPr>
        <p:spPr>
          <a:xfrm>
            <a:off x="4800600" y="2651760"/>
            <a:ext cx="1920240" cy="329184"/>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연 가스</a:t>
            </a:r>
            <a:endParaRPr lang="en-US" sz="1250" dirty="0"/>
          </a:p>
        </p:txBody>
      </p:sp>
      <p:sp>
        <p:nvSpPr>
          <p:cNvPr id="34" name="Text 31"/>
          <p:cNvSpPr txBox="1"/>
          <p:nvPr/>
        </p:nvSpPr>
        <p:spPr>
          <a:xfrm>
            <a:off x="6812280" y="2633472"/>
            <a:ext cx="2377440" cy="365760"/>
          </a:xfrm>
          <a:prstGeom prst="rect">
            <a:avLst/>
          </a:prstGeom>
          <a:noFill/>
          <a:ln/>
        </p:spPr>
        <p:txBody>
          <a:bodyPr wrap="square" lIns="0" tIns="0" rIns="0" bIns="0" rtlCol="0" anchor="t"/>
          <a:lstStyle/>
          <a:p>
            <a:pPr algn="ctr" indent="0" marL="0">
              <a:buNone/>
            </a:pPr>
            <a:r>
              <a:rPr lang="en-US" sz="1400" b="1" dirty="0">
                <a:solidFill>
                  <a:srgbClr val="2F5D50"/>
                </a:solidFill>
                <a:latin typeface="Malgun Gothic" pitchFamily="34" charset="0"/>
                <a:ea typeface="Malgun Gothic" pitchFamily="34" charset="-122"/>
                <a:cs typeface="Malgun Gothic" pitchFamily="34" charset="-120"/>
              </a:rPr>
              <a:t>2.72 GWh</a:t>
            </a:r>
            <a:endParaRPr lang="en-US" sz="1400" dirty="0"/>
          </a:p>
        </p:txBody>
      </p:sp>
      <p:sp>
        <p:nvSpPr>
          <p:cNvPr id="35" name="Text 32"/>
          <p:cNvSpPr txBox="1"/>
          <p:nvPr/>
        </p:nvSpPr>
        <p:spPr>
          <a:xfrm>
            <a:off x="9326880" y="2633472"/>
            <a:ext cx="2377440" cy="365760"/>
          </a:xfrm>
          <a:prstGeom prst="rect">
            <a:avLst/>
          </a:prstGeom>
          <a:noFill/>
          <a:ln/>
        </p:spPr>
        <p:txBody>
          <a:bodyPr wrap="square" lIns="0" tIns="0" rIns="0" bIns="0" rtlCol="0" anchor="t"/>
          <a:lstStyle/>
          <a:p>
            <a:pPr algn="ctr" indent="0" marL="0">
              <a:buNone/>
            </a:pPr>
            <a:r>
              <a:rPr lang="en-US" sz="1400" b="1" dirty="0">
                <a:solidFill>
                  <a:srgbClr val="B7792F"/>
                </a:solidFill>
                <a:latin typeface="Malgun Gothic" pitchFamily="34" charset="0"/>
                <a:ea typeface="Malgun Gothic" pitchFamily="34" charset="-122"/>
                <a:cs typeface="Malgun Gothic" pitchFamily="34" charset="-120"/>
              </a:rPr>
              <a:t>0.18 GWh *</a:t>
            </a:r>
            <a:endParaRPr lang="en-US" sz="1400" dirty="0"/>
          </a:p>
        </p:txBody>
      </p:sp>
      <p:sp>
        <p:nvSpPr>
          <p:cNvPr id="36" name="Shape 33"/>
          <p:cNvSpPr/>
          <p:nvPr/>
        </p:nvSpPr>
        <p:spPr>
          <a:xfrm>
            <a:off x="4709160" y="3118104"/>
            <a:ext cx="7022592" cy="0"/>
          </a:xfrm>
          <a:prstGeom prst="line">
            <a:avLst/>
          </a:prstGeom>
          <a:noFill/>
          <a:ln w="9525">
            <a:solidFill>
              <a:srgbClr val="D9D7CE"/>
            </a:solidFill>
            <a:prstDash val="solid"/>
          </a:ln>
        </p:spPr>
      </p:sp>
      <p:sp>
        <p:nvSpPr>
          <p:cNvPr id="37" name="Text 34"/>
          <p:cNvSpPr txBox="1"/>
          <p:nvPr/>
        </p:nvSpPr>
        <p:spPr>
          <a:xfrm>
            <a:off x="4800600" y="3273552"/>
            <a:ext cx="1920240" cy="329184"/>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연 탄소</a:t>
            </a:r>
            <a:endParaRPr lang="en-US" sz="1250" dirty="0"/>
          </a:p>
        </p:txBody>
      </p:sp>
      <p:sp>
        <p:nvSpPr>
          <p:cNvPr id="38" name="Text 35"/>
          <p:cNvSpPr txBox="1"/>
          <p:nvPr/>
        </p:nvSpPr>
        <p:spPr>
          <a:xfrm>
            <a:off x="6812280" y="3255264"/>
            <a:ext cx="2377440" cy="365760"/>
          </a:xfrm>
          <a:prstGeom prst="rect">
            <a:avLst/>
          </a:prstGeom>
          <a:noFill/>
          <a:ln/>
        </p:spPr>
        <p:txBody>
          <a:bodyPr wrap="square" lIns="0" tIns="0" rIns="0" bIns="0" rtlCol="0" anchor="t"/>
          <a:lstStyle/>
          <a:p>
            <a:pPr algn="ctr" indent="0" marL="0">
              <a:buNone/>
            </a:pPr>
            <a:r>
              <a:rPr lang="en-US" sz="1400" b="1" dirty="0">
                <a:solidFill>
                  <a:srgbClr val="2F5D50"/>
                </a:solidFill>
                <a:latin typeface="Malgun Gothic" pitchFamily="34" charset="0"/>
                <a:ea typeface="Malgun Gothic" pitchFamily="34" charset="-122"/>
                <a:cs typeface="Malgun Gothic" pitchFamily="34" charset="-120"/>
              </a:rPr>
              <a:t>1,089 t</a:t>
            </a:r>
            <a:endParaRPr lang="en-US" sz="1400" dirty="0"/>
          </a:p>
        </p:txBody>
      </p:sp>
      <p:sp>
        <p:nvSpPr>
          <p:cNvPr id="39" name="Text 36"/>
          <p:cNvSpPr txBox="1"/>
          <p:nvPr/>
        </p:nvSpPr>
        <p:spPr>
          <a:xfrm>
            <a:off x="9326880" y="3255264"/>
            <a:ext cx="2377440" cy="365760"/>
          </a:xfrm>
          <a:prstGeom prst="rect">
            <a:avLst/>
          </a:prstGeom>
          <a:noFill/>
          <a:ln/>
        </p:spPr>
        <p:txBody>
          <a:bodyPr wrap="square" lIns="0" tIns="0" rIns="0" bIns="0" rtlCol="0" anchor="t"/>
          <a:lstStyle/>
          <a:p>
            <a:pPr algn="ctr" indent="0" marL="0">
              <a:buNone/>
            </a:pPr>
            <a:r>
              <a:rPr lang="en-US" sz="1400" b="1" dirty="0">
                <a:solidFill>
                  <a:srgbClr val="B7792F"/>
                </a:solidFill>
                <a:latin typeface="Malgun Gothic" pitchFamily="34" charset="0"/>
                <a:ea typeface="Malgun Gothic" pitchFamily="34" charset="-122"/>
                <a:cs typeface="Malgun Gothic" pitchFamily="34" charset="-120"/>
              </a:rPr>
              <a:t>812 t *</a:t>
            </a:r>
            <a:endParaRPr lang="en-US" sz="1400" dirty="0"/>
          </a:p>
        </p:txBody>
      </p:sp>
      <p:sp>
        <p:nvSpPr>
          <p:cNvPr id="40" name="Shape 37"/>
          <p:cNvSpPr/>
          <p:nvPr/>
        </p:nvSpPr>
        <p:spPr>
          <a:xfrm>
            <a:off x="4709160" y="3739896"/>
            <a:ext cx="7022592" cy="0"/>
          </a:xfrm>
          <a:prstGeom prst="line">
            <a:avLst/>
          </a:prstGeom>
          <a:noFill/>
          <a:ln w="9525">
            <a:solidFill>
              <a:srgbClr val="D9D7CE"/>
            </a:solidFill>
            <a:prstDash val="solid"/>
          </a:ln>
        </p:spPr>
      </p:sp>
      <p:sp>
        <p:nvSpPr>
          <p:cNvPr id="41" name="Text 38"/>
          <p:cNvSpPr txBox="1"/>
          <p:nvPr/>
        </p:nvSpPr>
        <p:spPr>
          <a:xfrm>
            <a:off x="4800600" y="3895344"/>
            <a:ext cx="1920240" cy="329184"/>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㎡당 탄소</a:t>
            </a:r>
            <a:endParaRPr lang="en-US" sz="1250" dirty="0"/>
          </a:p>
        </p:txBody>
      </p:sp>
      <p:sp>
        <p:nvSpPr>
          <p:cNvPr id="42" name="Text 39"/>
          <p:cNvSpPr txBox="1"/>
          <p:nvPr/>
        </p:nvSpPr>
        <p:spPr>
          <a:xfrm>
            <a:off x="6812280" y="3877056"/>
            <a:ext cx="2377440" cy="365760"/>
          </a:xfrm>
          <a:prstGeom prst="rect">
            <a:avLst/>
          </a:prstGeom>
          <a:noFill/>
          <a:ln/>
        </p:spPr>
        <p:txBody>
          <a:bodyPr wrap="square" lIns="0" tIns="0" rIns="0" bIns="0" rtlCol="0" anchor="t"/>
          <a:lstStyle/>
          <a:p>
            <a:pPr algn="ctr" indent="0" marL="0">
              <a:buNone/>
            </a:pPr>
            <a:r>
              <a:rPr lang="en-US" sz="1400" b="1" dirty="0">
                <a:solidFill>
                  <a:srgbClr val="2F5D50"/>
                </a:solidFill>
                <a:latin typeface="Malgun Gothic" pitchFamily="34" charset="0"/>
                <a:ea typeface="Malgun Gothic" pitchFamily="34" charset="-122"/>
                <a:cs typeface="Malgun Gothic" pitchFamily="34" charset="-120"/>
              </a:rPr>
              <a:t>22.7 kg</a:t>
            </a:r>
            <a:endParaRPr lang="en-US" sz="1400" dirty="0"/>
          </a:p>
        </p:txBody>
      </p:sp>
      <p:sp>
        <p:nvSpPr>
          <p:cNvPr id="43" name="Text 40"/>
          <p:cNvSpPr txBox="1"/>
          <p:nvPr/>
        </p:nvSpPr>
        <p:spPr>
          <a:xfrm>
            <a:off x="9326880" y="3877056"/>
            <a:ext cx="2377440" cy="365760"/>
          </a:xfrm>
          <a:prstGeom prst="rect">
            <a:avLst/>
          </a:prstGeom>
          <a:noFill/>
          <a:ln/>
        </p:spPr>
        <p:txBody>
          <a:bodyPr wrap="square" lIns="0" tIns="0" rIns="0" bIns="0" rtlCol="0" anchor="t"/>
          <a:lstStyle/>
          <a:p>
            <a:pPr algn="ctr" indent="0" marL="0">
              <a:buNone/>
            </a:pPr>
            <a:r>
              <a:rPr lang="en-US" sz="1400" b="1" dirty="0">
                <a:solidFill>
                  <a:srgbClr val="B7792F"/>
                </a:solidFill>
                <a:latin typeface="Malgun Gothic" pitchFamily="34" charset="0"/>
                <a:ea typeface="Malgun Gothic" pitchFamily="34" charset="-122"/>
                <a:cs typeface="Malgun Gothic" pitchFamily="34" charset="-120"/>
              </a:rPr>
              <a:t>16.9 kg *</a:t>
            </a:r>
            <a:endParaRPr lang="en-US" sz="1400" dirty="0"/>
          </a:p>
        </p:txBody>
      </p:sp>
      <p:sp>
        <p:nvSpPr>
          <p:cNvPr id="44" name="Shape 41"/>
          <p:cNvSpPr/>
          <p:nvPr/>
        </p:nvSpPr>
        <p:spPr>
          <a:xfrm>
            <a:off x="4709160" y="4361688"/>
            <a:ext cx="7022592" cy="0"/>
          </a:xfrm>
          <a:prstGeom prst="line">
            <a:avLst/>
          </a:prstGeom>
          <a:noFill/>
          <a:ln w="9525">
            <a:solidFill>
              <a:srgbClr val="D9D7CE"/>
            </a:solidFill>
            <a:prstDash val="solid"/>
          </a:ln>
        </p:spPr>
      </p:sp>
      <p:sp>
        <p:nvSpPr>
          <p:cNvPr id="45" name="Text 42"/>
          <p:cNvSpPr txBox="1"/>
          <p:nvPr/>
        </p:nvSpPr>
        <p:spPr>
          <a:xfrm>
            <a:off x="4800600" y="4517136"/>
            <a:ext cx="1920240" cy="329184"/>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용적률 상한</a:t>
            </a:r>
            <a:endParaRPr lang="en-US" sz="1250" dirty="0"/>
          </a:p>
        </p:txBody>
      </p:sp>
      <p:sp>
        <p:nvSpPr>
          <p:cNvPr id="46" name="Text 43"/>
          <p:cNvSpPr txBox="1"/>
          <p:nvPr/>
        </p:nvSpPr>
        <p:spPr>
          <a:xfrm>
            <a:off x="6812280" y="4498848"/>
            <a:ext cx="2377440" cy="365760"/>
          </a:xfrm>
          <a:prstGeom prst="rect">
            <a:avLst/>
          </a:prstGeom>
          <a:noFill/>
          <a:ln/>
        </p:spPr>
        <p:txBody>
          <a:bodyPr wrap="square" lIns="0" tIns="0" rIns="0" bIns="0" rtlCol="0" anchor="t"/>
          <a:lstStyle/>
          <a:p>
            <a:pPr algn="ctr" indent="0" marL="0">
              <a:buNone/>
            </a:pPr>
            <a:r>
              <a:rPr lang="en-US" sz="1400" b="1" dirty="0">
                <a:solidFill>
                  <a:srgbClr val="2F5D50"/>
                </a:solidFill>
                <a:latin typeface="Malgun Gothic" pitchFamily="34" charset="0"/>
                <a:ea typeface="Malgun Gothic" pitchFamily="34" charset="-122"/>
                <a:cs typeface="Malgun Gothic" pitchFamily="34" charset="-120"/>
              </a:rPr>
              <a:t>250% → 이내</a:t>
            </a:r>
            <a:endParaRPr lang="en-US" sz="1400" dirty="0"/>
          </a:p>
        </p:txBody>
      </p:sp>
      <p:sp>
        <p:nvSpPr>
          <p:cNvPr id="47" name="Text 44"/>
          <p:cNvSpPr txBox="1"/>
          <p:nvPr/>
        </p:nvSpPr>
        <p:spPr>
          <a:xfrm>
            <a:off x="9326880" y="4498848"/>
            <a:ext cx="2377440" cy="365760"/>
          </a:xfrm>
          <a:prstGeom prst="rect">
            <a:avLst/>
          </a:prstGeom>
          <a:noFill/>
          <a:ln/>
        </p:spPr>
        <p:txBody>
          <a:bodyPr wrap="square" lIns="0" tIns="0" rIns="0" bIns="0" rtlCol="0" anchor="t"/>
          <a:lstStyle/>
          <a:p>
            <a:pPr algn="ctr" indent="0" marL="0">
              <a:buNone/>
            </a:pPr>
            <a:r>
              <a:rPr lang="en-US" sz="1400" b="1" dirty="0">
                <a:solidFill>
                  <a:srgbClr val="B42318"/>
                </a:solidFill>
                <a:latin typeface="Malgun Gothic" pitchFamily="34" charset="0"/>
                <a:ea typeface="Malgun Gothic" pitchFamily="34" charset="-122"/>
                <a:cs typeface="Malgun Gothic" pitchFamily="34" charset="-120"/>
              </a:rPr>
              <a:t>192% → 초과</a:t>
            </a:r>
            <a:endParaRPr lang="en-US" sz="1400" dirty="0"/>
          </a:p>
        </p:txBody>
      </p:sp>
      <p:sp>
        <p:nvSpPr>
          <p:cNvPr id="48" name="Shape 45"/>
          <p:cNvSpPr/>
          <p:nvPr/>
        </p:nvSpPr>
        <p:spPr>
          <a:xfrm>
            <a:off x="4709160" y="4983480"/>
            <a:ext cx="7022592" cy="0"/>
          </a:xfrm>
          <a:prstGeom prst="line">
            <a:avLst/>
          </a:prstGeom>
          <a:noFill/>
          <a:ln w="9525">
            <a:solidFill>
              <a:srgbClr val="D9D7CE"/>
            </a:solidFill>
            <a:prstDash val="solid"/>
          </a:ln>
        </p:spPr>
      </p:sp>
      <p:sp>
        <p:nvSpPr>
          <p:cNvPr id="49" name="Text 46"/>
          <p:cNvSpPr txBox="1"/>
          <p:nvPr/>
        </p:nvSpPr>
        <p:spPr>
          <a:xfrm>
            <a:off x="4800600" y="5138928"/>
            <a:ext cx="1920240" cy="329184"/>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지구단위계획</a:t>
            </a:r>
            <a:endParaRPr lang="en-US" sz="1250" dirty="0"/>
          </a:p>
        </p:txBody>
      </p:sp>
      <p:sp>
        <p:nvSpPr>
          <p:cNvPr id="50" name="Text 47"/>
          <p:cNvSpPr txBox="1"/>
          <p:nvPr/>
        </p:nvSpPr>
        <p:spPr>
          <a:xfrm>
            <a:off x="6812280" y="5120640"/>
            <a:ext cx="2377440" cy="365760"/>
          </a:xfrm>
          <a:prstGeom prst="rect">
            <a:avLst/>
          </a:prstGeom>
          <a:noFill/>
          <a:ln/>
        </p:spPr>
        <p:txBody>
          <a:bodyPr wrap="square" lIns="0" tIns="0" rIns="0" bIns="0" rtlCol="0" anchor="t"/>
          <a:lstStyle/>
          <a:p>
            <a:pPr algn="ctr" indent="0" marL="0">
              <a:buNone/>
            </a:pPr>
            <a:r>
              <a:rPr lang="en-US" sz="1400" b="1" dirty="0">
                <a:solidFill>
                  <a:srgbClr val="2F5D50"/>
                </a:solidFill>
                <a:latin typeface="Malgun Gothic" pitchFamily="34" charset="0"/>
                <a:ea typeface="Malgun Gothic" pitchFamily="34" charset="-122"/>
                <a:cs typeface="Malgun Gothic" pitchFamily="34" charset="-120"/>
              </a:rPr>
              <a:t>대상 규모(지침 확인)</a:t>
            </a:r>
            <a:endParaRPr lang="en-US" sz="1400" dirty="0"/>
          </a:p>
        </p:txBody>
      </p:sp>
      <p:sp>
        <p:nvSpPr>
          <p:cNvPr id="51" name="Text 48"/>
          <p:cNvSpPr txBox="1"/>
          <p:nvPr/>
        </p:nvSpPr>
        <p:spPr>
          <a:xfrm>
            <a:off x="9326880" y="5120640"/>
            <a:ext cx="2377440" cy="365760"/>
          </a:xfrm>
          <a:prstGeom prst="rect">
            <a:avLst/>
          </a:prstGeom>
          <a:noFill/>
          <a:ln/>
        </p:spPr>
        <p:txBody>
          <a:bodyPr wrap="square" lIns="0" tIns="0" rIns="0" bIns="0" rtlCol="0" anchor="t"/>
          <a:lstStyle/>
          <a:p>
            <a:pPr algn="ctr" indent="0" marL="0">
              <a:buNone/>
            </a:pPr>
            <a:r>
              <a:rPr lang="en-US" sz="1400" b="1" dirty="0">
                <a:solidFill>
                  <a:srgbClr val="B42318"/>
                </a:solidFill>
                <a:latin typeface="Malgun Gothic" pitchFamily="34" charset="0"/>
                <a:ea typeface="Malgun Gothic" pitchFamily="34" charset="-122"/>
                <a:cs typeface="Malgun Gothic" pitchFamily="34" charset="-120"/>
              </a:rPr>
              <a:t>대지 95% 구역 안</a:t>
            </a:r>
            <a:endParaRPr lang="en-US" sz="1400" dirty="0"/>
          </a:p>
        </p:txBody>
      </p:sp>
      <p:sp>
        <p:nvSpPr>
          <p:cNvPr id="52" name="Text 49"/>
          <p:cNvSpPr txBox="1"/>
          <p:nvPr/>
        </p:nvSpPr>
        <p:spPr>
          <a:xfrm>
            <a:off x="4709160" y="5669280"/>
            <a:ext cx="7022592" cy="274320"/>
          </a:xfrm>
          <a:prstGeom prst="rect">
            <a:avLst/>
          </a:prstGeom>
          <a:noFill/>
          <a:ln/>
        </p:spPr>
        <p:txBody>
          <a:bodyPr wrap="square" lIns="0" tIns="0" rIns="0" bIns="0" rtlCol="0" anchor="t"/>
          <a:lstStyle/>
          <a:p>
            <a:pPr indent="0" marL="0">
              <a:buNone/>
            </a:pPr>
            <a:r>
              <a:rPr lang="en-US" sz="1050" dirty="0">
                <a:solidFill>
                  <a:srgbClr val="6B746E"/>
                </a:solidFill>
                <a:latin typeface="Malgun Gothic" pitchFamily="34" charset="0"/>
                <a:ea typeface="Malgun Gothic" pitchFamily="34" charset="-122"/>
                <a:cs typeface="Malgun Gothic" pitchFamily="34" charset="-120"/>
              </a:rPr>
              <a:t>* 지역난방 기준 단지: 난방 열은 별도 공급이라 가스·탄소가 작게 보입니다.</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23</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활용 예시 4 · 도시가스·전력 공급사</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1,000세대 단지가 들어오면 달마다 얼마나 쓸까?</a:t>
            </a:r>
            <a:endParaRPr lang="en-US" sz="2500" dirty="0"/>
          </a:p>
        </p:txBody>
      </p:sp>
      <p:sp>
        <p:nvSpPr>
          <p:cNvPr id="5" name="Shape 3"/>
          <p:cNvSpPr/>
          <p:nvPr/>
        </p:nvSpPr>
        <p:spPr>
          <a:xfrm>
            <a:off x="457200" y="1325880"/>
            <a:ext cx="3931920" cy="4572000"/>
          </a:xfrm>
          <a:prstGeom prst="roundRect">
            <a:avLst>
              <a:gd name="adj" fmla="val 1860"/>
            </a:avLst>
          </a:prstGeom>
          <a:solidFill>
            <a:srgbClr val="F4F6F4"/>
          </a:solidFill>
          <a:ln w="9525">
            <a:solidFill>
              <a:srgbClr val="D9D7CE"/>
            </a:solidFill>
            <a:prstDash val="solid"/>
          </a:ln>
        </p:spPr>
      </p:sp>
      <p:sp>
        <p:nvSpPr>
          <p:cNvPr id="6" name="Text 4"/>
          <p:cNvSpPr txBox="1"/>
          <p:nvPr/>
        </p:nvSpPr>
        <p:spPr>
          <a:xfrm>
            <a:off x="685800" y="1481328"/>
            <a:ext cx="34747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상황</a:t>
            </a:r>
            <a:endParaRPr lang="en-US" sz="1200" dirty="0"/>
          </a:p>
        </p:txBody>
      </p:sp>
      <p:sp>
        <p:nvSpPr>
          <p:cNvPr id="7" name="Text 5"/>
          <p:cNvSpPr txBox="1"/>
          <p:nvPr/>
        </p:nvSpPr>
        <p:spPr>
          <a:xfrm>
            <a:off x="685800" y="1783080"/>
            <a:ext cx="3520440" cy="1051560"/>
          </a:xfrm>
          <a:prstGeom prst="rect">
            <a:avLst/>
          </a:prstGeom>
          <a:noFill/>
          <a:ln/>
        </p:spPr>
        <p:txBody>
          <a:bodyPr wrap="square" lIns="0" tIns="0" rIns="0" bIns="0" rtlCol="0" anchor="t"/>
          <a:lstStyle/>
          <a:p>
            <a:pPr indent="0" marL="0">
              <a:lnSpc>
                <a:spcPct val="112000"/>
              </a:lnSpc>
              <a:buNone/>
            </a:pPr>
            <a:r>
              <a:rPr lang="en-US" sz="1150" dirty="0">
                <a:solidFill>
                  <a:srgbClr val="1C2622"/>
                </a:solidFill>
                <a:latin typeface="Malgun Gothic" pitchFamily="34" charset="0"/>
                <a:ea typeface="Malgun Gothic" pitchFamily="34" charset="-122"/>
                <a:cs typeface="Malgun Gothic" pitchFamily="34" charset="-120"/>
              </a:rPr>
              <a:t>전주 우아동 일대에 1,000세대 단지 입주 예정. 배관·변압기 용량과 계절별 공급 계획을 세우려면 월별 수요가 필요하다.</a:t>
            </a:r>
            <a:endParaRPr lang="en-US" sz="1150" dirty="0"/>
          </a:p>
        </p:txBody>
      </p:sp>
      <p:sp>
        <p:nvSpPr>
          <p:cNvPr id="8" name="Text 6"/>
          <p:cNvSpPr txBox="1"/>
          <p:nvPr/>
        </p:nvSpPr>
        <p:spPr>
          <a:xfrm>
            <a:off x="685800" y="2907792"/>
            <a:ext cx="34747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입력</a:t>
            </a:r>
            <a:endParaRPr lang="en-US" sz="1200" dirty="0"/>
          </a:p>
        </p:txBody>
      </p:sp>
      <p:sp>
        <p:nvSpPr>
          <p:cNvPr id="9" name="Text 7"/>
          <p:cNvSpPr txBox="1"/>
          <p:nvPr/>
        </p:nvSpPr>
        <p:spPr>
          <a:xfrm>
            <a:off x="685800" y="3218688"/>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대지 · 동 · 층</a:t>
            </a:r>
            <a:endParaRPr lang="en-US" sz="1100" dirty="0"/>
          </a:p>
        </p:txBody>
      </p:sp>
      <p:sp>
        <p:nvSpPr>
          <p:cNvPr id="10" name="Text 8"/>
          <p:cNvSpPr txBox="1"/>
          <p:nvPr/>
        </p:nvSpPr>
        <p:spPr>
          <a:xfrm>
            <a:off x="2103120" y="3218688"/>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40,000㎡ · 10동 · 15층</a:t>
            </a:r>
            <a:endParaRPr lang="en-US" sz="1100" dirty="0"/>
          </a:p>
        </p:txBody>
      </p:sp>
      <p:sp>
        <p:nvSpPr>
          <p:cNvPr id="11" name="Text 9"/>
          <p:cNvSpPr txBox="1"/>
          <p:nvPr/>
        </p:nvSpPr>
        <p:spPr>
          <a:xfrm>
            <a:off x="685800" y="3547872"/>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연면적</a:t>
            </a:r>
            <a:endParaRPr lang="en-US" sz="1100" dirty="0"/>
          </a:p>
        </p:txBody>
      </p:sp>
      <p:sp>
        <p:nvSpPr>
          <p:cNvPr id="12" name="Text 10"/>
          <p:cNvSpPr txBox="1"/>
          <p:nvPr/>
        </p:nvSpPr>
        <p:spPr>
          <a:xfrm>
            <a:off x="2103120" y="3547872"/>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90,000㎡ (용적률 225%)</a:t>
            </a:r>
            <a:endParaRPr lang="en-US" sz="1100" dirty="0"/>
          </a:p>
        </p:txBody>
      </p:sp>
      <p:sp>
        <p:nvSpPr>
          <p:cNvPr id="13" name="Text 11"/>
          <p:cNvSpPr txBox="1"/>
          <p:nvPr/>
        </p:nvSpPr>
        <p:spPr>
          <a:xfrm>
            <a:off x="685800" y="3877056"/>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세대 · 인구</a:t>
            </a:r>
            <a:endParaRPr lang="en-US" sz="1100" dirty="0"/>
          </a:p>
        </p:txBody>
      </p:sp>
      <p:sp>
        <p:nvSpPr>
          <p:cNvPr id="14" name="Text 12"/>
          <p:cNvSpPr txBox="1"/>
          <p:nvPr/>
        </p:nvSpPr>
        <p:spPr>
          <a:xfrm>
            <a:off x="2103120" y="3877056"/>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1,000세대 · 2,500명</a:t>
            </a:r>
            <a:endParaRPr lang="en-US" sz="1100" dirty="0"/>
          </a:p>
        </p:txBody>
      </p:sp>
      <p:sp>
        <p:nvSpPr>
          <p:cNvPr id="15" name="Text 13"/>
          <p:cNvSpPr txBox="1"/>
          <p:nvPr/>
        </p:nvSpPr>
        <p:spPr>
          <a:xfrm>
            <a:off x="685800" y="4206240"/>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설계 수준</a:t>
            </a:r>
            <a:endParaRPr lang="en-US" sz="1100" dirty="0"/>
          </a:p>
        </p:txBody>
      </p:sp>
      <p:sp>
        <p:nvSpPr>
          <p:cNvPr id="16" name="Text 14"/>
          <p:cNvSpPr txBox="1"/>
          <p:nvPr/>
        </p:nvSpPr>
        <p:spPr>
          <a:xfrm>
            <a:off x="2103120" y="4206240"/>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효율 1.0 (주변 단지 수준)</a:t>
            </a:r>
            <a:endParaRPr lang="en-US" sz="1100" dirty="0"/>
          </a:p>
        </p:txBody>
      </p:sp>
      <p:sp>
        <p:nvSpPr>
          <p:cNvPr id="17" name="Shape 15"/>
          <p:cNvSpPr/>
          <p:nvPr/>
        </p:nvSpPr>
        <p:spPr>
          <a:xfrm>
            <a:off x="685800" y="5440680"/>
            <a:ext cx="3474720" cy="310896"/>
          </a:xfrm>
          <a:prstGeom prst="roundRect">
            <a:avLst>
              <a:gd name="adj" fmla="val 17647"/>
            </a:avLst>
          </a:prstGeom>
          <a:solidFill>
            <a:srgbClr val="FFFFFF"/>
          </a:solidFill>
          <a:ln w="12700">
            <a:solidFill>
              <a:srgbClr val="FFFFFF"/>
            </a:solidFill>
            <a:prstDash val="solid"/>
          </a:ln>
        </p:spPr>
      </p:sp>
      <p:sp>
        <p:nvSpPr>
          <p:cNvPr id="18" name="Text 16"/>
          <p:cNvSpPr txBox="1"/>
          <p:nvPr/>
        </p:nvSpPr>
        <p:spPr>
          <a:xfrm>
            <a:off x="685800" y="5440680"/>
            <a:ext cx="3474720" cy="310896"/>
          </a:xfrm>
          <a:prstGeom prst="rect">
            <a:avLst/>
          </a:prstGeom>
          <a:noFill/>
          <a:ln/>
        </p:spPr>
        <p:txBody>
          <a:bodyPr wrap="square" lIns="0" tIns="0" rIns="0" bIns="0" rtlCol="0" anchor="ctr"/>
          <a:lstStyle/>
          <a:p>
            <a:pPr algn="ctr" indent="0" marL="0">
              <a:buNone/>
            </a:pPr>
            <a:r>
              <a:rPr lang="en-US" sz="1050" b="1" dirty="0">
                <a:solidFill>
                  <a:srgbClr val="2F5D50"/>
                </a:solidFill>
                <a:latin typeface="Malgun Gothic" pitchFamily="34" charset="0"/>
                <a:ea typeface="Malgun Gothic" pitchFamily="34" charset="-122"/>
                <a:cs typeface="Malgun Gothic" pitchFamily="34" charset="-120"/>
              </a:rPr>
              <a:t>메뉴: 시뮬레이션 (월별 결과)</a:t>
            </a:r>
            <a:endParaRPr lang="en-US" sz="1050" dirty="0"/>
          </a:p>
        </p:txBody>
      </p:sp>
      <p:sp>
        <p:nvSpPr>
          <p:cNvPr id="19" name="Shape 17"/>
          <p:cNvSpPr/>
          <p:nvPr/>
        </p:nvSpPr>
        <p:spPr>
          <a:xfrm>
            <a:off x="457200" y="5989320"/>
            <a:ext cx="11274552" cy="411480"/>
          </a:xfrm>
          <a:prstGeom prst="roundRect">
            <a:avLst>
              <a:gd name="adj" fmla="val 13333"/>
            </a:avLst>
          </a:prstGeom>
          <a:solidFill>
            <a:srgbClr val="1F3A33"/>
          </a:solidFill>
          <a:ln w="12700">
            <a:solidFill>
              <a:srgbClr val="1F3A33"/>
            </a:solidFill>
            <a:prstDash val="solid"/>
          </a:ln>
        </p:spPr>
      </p:sp>
      <p:sp>
        <p:nvSpPr>
          <p:cNvPr id="20" name="Text 18"/>
          <p:cNvSpPr txBox="1"/>
          <p:nvPr/>
        </p:nvSpPr>
        <p:spPr>
          <a:xfrm>
            <a:off x="640080" y="5989320"/>
            <a:ext cx="10972800" cy="411480"/>
          </a:xfrm>
          <a:prstGeom prst="rect">
            <a:avLst/>
          </a:prstGeom>
          <a:noFill/>
          <a:ln/>
        </p:spPr>
        <p:txBody>
          <a:bodyPr wrap="square" lIns="0" tIns="0" rIns="0" bIns="0" rtlCol="0" anchor="ctr"/>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전력은 8월 346MWh가 최대, 가스는 2월 1,187MWh로 8월(148MWh)의 8배 → 겨울 공급 여유를 우선 확보</a:t>
            </a:r>
            <a:endParaRPr lang="en-US" sz="1250" dirty="0"/>
          </a:p>
        </p:txBody>
      </p:sp>
      <p:sp>
        <p:nvSpPr>
          <p:cNvPr id="21" name="Text 19"/>
          <p:cNvSpPr txBox="1"/>
          <p:nvPr/>
        </p:nvSpPr>
        <p:spPr>
          <a:xfrm>
            <a:off x="4572000" y="6473952"/>
            <a:ext cx="715975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관측 단지의 월별 계절성을 그대로 적용 (기상 보정 없음) · 가스는 건축HUB kWh 환산값</a:t>
            </a:r>
            <a:endParaRPr lang="en-US" sz="900" dirty="0"/>
          </a:p>
        </p:txBody>
      </p:sp>
      <p:graphicFrame>
        <p:nvGraphicFramePr>
          <p:cNvPr id="23" name="Chart 0" descr=""/>
          <p:cNvGraphicFramePr/>
          <p:nvPr/>
        </p:nvGraphicFramePr>
        <p:xfrm>
          <a:off x="4709160" y="1325880"/>
          <a:ext cx="7022592" cy="45262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24</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활용 예시 5 · 지자체 기후·도시계획 부서</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신규 개발이 있어도 20%를 줄이려면?</a:t>
            </a:r>
            <a:endParaRPr lang="en-US" sz="2500" dirty="0"/>
          </a:p>
        </p:txBody>
      </p:sp>
      <p:sp>
        <p:nvSpPr>
          <p:cNvPr id="5" name="Shape 3"/>
          <p:cNvSpPr/>
          <p:nvPr/>
        </p:nvSpPr>
        <p:spPr>
          <a:xfrm>
            <a:off x="457200" y="1325880"/>
            <a:ext cx="3931920" cy="4572000"/>
          </a:xfrm>
          <a:prstGeom prst="roundRect">
            <a:avLst>
              <a:gd name="adj" fmla="val 1860"/>
            </a:avLst>
          </a:prstGeom>
          <a:solidFill>
            <a:srgbClr val="F4F6F4"/>
          </a:solidFill>
          <a:ln w="9525">
            <a:solidFill>
              <a:srgbClr val="D9D7CE"/>
            </a:solidFill>
            <a:prstDash val="solid"/>
          </a:ln>
        </p:spPr>
      </p:sp>
      <p:sp>
        <p:nvSpPr>
          <p:cNvPr id="6" name="Text 4"/>
          <p:cNvSpPr txBox="1"/>
          <p:nvPr/>
        </p:nvSpPr>
        <p:spPr>
          <a:xfrm>
            <a:off x="685800" y="1481328"/>
            <a:ext cx="34747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상황</a:t>
            </a:r>
            <a:endParaRPr lang="en-US" sz="1200" dirty="0"/>
          </a:p>
        </p:txBody>
      </p:sp>
      <p:sp>
        <p:nvSpPr>
          <p:cNvPr id="7" name="Text 5"/>
          <p:cNvSpPr txBox="1"/>
          <p:nvPr/>
        </p:nvSpPr>
        <p:spPr>
          <a:xfrm>
            <a:off x="685800" y="1783080"/>
            <a:ext cx="3520440" cy="1051560"/>
          </a:xfrm>
          <a:prstGeom prst="rect">
            <a:avLst/>
          </a:prstGeom>
          <a:noFill/>
          <a:ln/>
        </p:spPr>
        <p:txBody>
          <a:bodyPr wrap="square" lIns="0" tIns="0" rIns="0" bIns="0" rtlCol="0" anchor="t"/>
          <a:lstStyle/>
          <a:p>
            <a:pPr indent="0" marL="0">
              <a:lnSpc>
                <a:spcPct val="112000"/>
              </a:lnSpc>
              <a:buNone/>
            </a:pPr>
            <a:r>
              <a:rPr lang="en-US" sz="1150" dirty="0">
                <a:solidFill>
                  <a:srgbClr val="1C2622"/>
                </a:solidFill>
                <a:latin typeface="Malgun Gothic" pitchFamily="34" charset="0"/>
                <a:ea typeface="Malgun Gothic" pitchFamily="34" charset="-122"/>
                <a:cs typeface="Malgun Gothic" pitchFamily="34" charset="-120"/>
              </a:rPr>
              <a:t>전주 도심 반경 2km에 공동주택 연면적 10만㎡가 새로 들어올 예정. 이 구역 공동주택 전력 탄소를 2025년보다 20% 줄이는 목표를 세우려 한다.</a:t>
            </a:r>
            <a:endParaRPr lang="en-US" sz="1150" dirty="0"/>
          </a:p>
        </p:txBody>
      </p:sp>
      <p:sp>
        <p:nvSpPr>
          <p:cNvPr id="8" name="Text 6"/>
          <p:cNvSpPr txBox="1"/>
          <p:nvPr/>
        </p:nvSpPr>
        <p:spPr>
          <a:xfrm>
            <a:off x="685800" y="2907792"/>
            <a:ext cx="34747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입력</a:t>
            </a:r>
            <a:endParaRPr lang="en-US" sz="1200" dirty="0"/>
          </a:p>
        </p:txBody>
      </p:sp>
      <p:sp>
        <p:nvSpPr>
          <p:cNvPr id="9" name="Text 7"/>
          <p:cNvSpPr txBox="1"/>
          <p:nvPr/>
        </p:nvSpPr>
        <p:spPr>
          <a:xfrm>
            <a:off x="685800" y="3218688"/>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구역</a:t>
            </a:r>
            <a:endParaRPr lang="en-US" sz="1100" dirty="0"/>
          </a:p>
        </p:txBody>
      </p:sp>
      <p:sp>
        <p:nvSpPr>
          <p:cNvPr id="10" name="Text 8"/>
          <p:cNvSpPr txBox="1"/>
          <p:nvPr/>
        </p:nvSpPr>
        <p:spPr>
          <a:xfrm>
            <a:off x="2103120" y="3218688"/>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전주 도심 반경 2km</a:t>
            </a:r>
            <a:endParaRPr lang="en-US" sz="1100" dirty="0"/>
          </a:p>
        </p:txBody>
      </p:sp>
      <p:sp>
        <p:nvSpPr>
          <p:cNvPr id="11" name="Text 9"/>
          <p:cNvSpPr txBox="1"/>
          <p:nvPr/>
        </p:nvSpPr>
        <p:spPr>
          <a:xfrm>
            <a:off x="685800" y="3547872"/>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기준</a:t>
            </a:r>
            <a:endParaRPr lang="en-US" sz="1100" dirty="0"/>
          </a:p>
        </p:txBody>
      </p:sp>
      <p:sp>
        <p:nvSpPr>
          <p:cNvPr id="12" name="Text 10"/>
          <p:cNvSpPr txBox="1"/>
          <p:nvPr/>
        </p:nvSpPr>
        <p:spPr>
          <a:xfrm>
            <a:off x="2103120" y="3547872"/>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2025년 관측 46개 단지</a:t>
            </a:r>
            <a:endParaRPr lang="en-US" sz="1100" dirty="0"/>
          </a:p>
        </p:txBody>
      </p:sp>
      <p:sp>
        <p:nvSpPr>
          <p:cNvPr id="13" name="Text 11"/>
          <p:cNvSpPr txBox="1"/>
          <p:nvPr/>
        </p:nvSpPr>
        <p:spPr>
          <a:xfrm>
            <a:off x="685800" y="3877056"/>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추가 연면적</a:t>
            </a:r>
            <a:endParaRPr lang="en-US" sz="1100" dirty="0"/>
          </a:p>
        </p:txBody>
      </p:sp>
      <p:sp>
        <p:nvSpPr>
          <p:cNvPr id="14" name="Text 12"/>
          <p:cNvSpPr txBox="1"/>
          <p:nvPr/>
        </p:nvSpPr>
        <p:spPr>
          <a:xfrm>
            <a:off x="2103120" y="3877056"/>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100,000㎡</a:t>
            </a:r>
            <a:endParaRPr lang="en-US" sz="1100" dirty="0"/>
          </a:p>
        </p:txBody>
      </p:sp>
      <p:sp>
        <p:nvSpPr>
          <p:cNvPr id="15" name="Text 13"/>
          <p:cNvSpPr txBox="1"/>
          <p:nvPr/>
        </p:nvSpPr>
        <p:spPr>
          <a:xfrm>
            <a:off x="685800" y="4206240"/>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목표</a:t>
            </a:r>
            <a:endParaRPr lang="en-US" sz="1100" dirty="0"/>
          </a:p>
        </p:txBody>
      </p:sp>
      <p:sp>
        <p:nvSpPr>
          <p:cNvPr id="16" name="Text 14"/>
          <p:cNvSpPr txBox="1"/>
          <p:nvPr/>
        </p:nvSpPr>
        <p:spPr>
          <a:xfrm>
            <a:off x="2103120" y="4206240"/>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2025년 대비 −20%</a:t>
            </a:r>
            <a:endParaRPr lang="en-US" sz="1100" dirty="0"/>
          </a:p>
        </p:txBody>
      </p:sp>
      <p:sp>
        <p:nvSpPr>
          <p:cNvPr id="17" name="Text 15"/>
          <p:cNvSpPr txBox="1"/>
          <p:nvPr/>
        </p:nvSpPr>
        <p:spPr>
          <a:xfrm>
            <a:off x="685800" y="4535424"/>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태양광 가정</a:t>
            </a:r>
            <a:endParaRPr lang="en-US" sz="1100" dirty="0"/>
          </a:p>
        </p:txBody>
      </p:sp>
      <p:sp>
        <p:nvSpPr>
          <p:cNvPr id="18" name="Text 16"/>
          <p:cNvSpPr txBox="1"/>
          <p:nvPr/>
        </p:nvSpPr>
        <p:spPr>
          <a:xfrm>
            <a:off x="2103120" y="4535424"/>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kW당 연 1,300kWh</a:t>
            </a:r>
            <a:endParaRPr lang="en-US" sz="1100" dirty="0"/>
          </a:p>
        </p:txBody>
      </p:sp>
      <p:sp>
        <p:nvSpPr>
          <p:cNvPr id="19" name="Shape 17"/>
          <p:cNvSpPr/>
          <p:nvPr/>
        </p:nvSpPr>
        <p:spPr>
          <a:xfrm>
            <a:off x="685800" y="5440680"/>
            <a:ext cx="3474720" cy="310896"/>
          </a:xfrm>
          <a:prstGeom prst="roundRect">
            <a:avLst>
              <a:gd name="adj" fmla="val 17647"/>
            </a:avLst>
          </a:prstGeom>
          <a:solidFill>
            <a:srgbClr val="FFFFFF"/>
          </a:solidFill>
          <a:ln w="12700">
            <a:solidFill>
              <a:srgbClr val="FFFFFF"/>
            </a:solidFill>
            <a:prstDash val="solid"/>
          </a:ln>
        </p:spPr>
      </p:sp>
      <p:sp>
        <p:nvSpPr>
          <p:cNvPr id="20" name="Text 18"/>
          <p:cNvSpPr txBox="1"/>
          <p:nvPr/>
        </p:nvSpPr>
        <p:spPr>
          <a:xfrm>
            <a:off x="685800" y="5440680"/>
            <a:ext cx="3474720" cy="310896"/>
          </a:xfrm>
          <a:prstGeom prst="rect">
            <a:avLst/>
          </a:prstGeom>
          <a:noFill/>
          <a:ln/>
        </p:spPr>
        <p:txBody>
          <a:bodyPr wrap="square" lIns="0" tIns="0" rIns="0" bIns="0" rtlCol="0" anchor="ctr"/>
          <a:lstStyle/>
          <a:p>
            <a:pPr algn="ctr" indent="0" marL="0">
              <a:buNone/>
            </a:pPr>
            <a:r>
              <a:rPr lang="en-US" sz="1050" b="1" dirty="0">
                <a:solidFill>
                  <a:srgbClr val="2F5D50"/>
                </a:solidFill>
                <a:latin typeface="Malgun Gothic" pitchFamily="34" charset="0"/>
                <a:ea typeface="Malgun Gothic" pitchFamily="34" charset="-122"/>
                <a:cs typeface="Malgun Gothic" pitchFamily="34" charset="-120"/>
              </a:rPr>
              <a:t>메뉴: 지역 시뮬레이션 → 감축 노력</a:t>
            </a:r>
            <a:endParaRPr lang="en-US" sz="1050" dirty="0"/>
          </a:p>
        </p:txBody>
      </p:sp>
      <p:sp>
        <p:nvSpPr>
          <p:cNvPr id="21" name="Shape 19"/>
          <p:cNvSpPr/>
          <p:nvPr/>
        </p:nvSpPr>
        <p:spPr>
          <a:xfrm>
            <a:off x="457200" y="5989320"/>
            <a:ext cx="11274552" cy="411480"/>
          </a:xfrm>
          <a:prstGeom prst="roundRect">
            <a:avLst>
              <a:gd name="adj" fmla="val 13333"/>
            </a:avLst>
          </a:prstGeom>
          <a:solidFill>
            <a:srgbClr val="1F3A33"/>
          </a:solidFill>
          <a:ln w="12700">
            <a:solidFill>
              <a:srgbClr val="1F3A33"/>
            </a:solidFill>
            <a:prstDash val="solid"/>
          </a:ln>
        </p:spPr>
      </p:sp>
      <p:sp>
        <p:nvSpPr>
          <p:cNvPr id="22" name="Text 20"/>
          <p:cNvSpPr txBox="1"/>
          <p:nvPr/>
        </p:nvSpPr>
        <p:spPr>
          <a:xfrm>
            <a:off x="640080" y="5989320"/>
            <a:ext cx="10972800" cy="411480"/>
          </a:xfrm>
          <a:prstGeom prst="rect">
            <a:avLst/>
          </a:prstGeom>
          <a:noFill/>
          <a:ln/>
        </p:spPr>
        <p:txBody>
          <a:bodyPr wrap="square" lIns="0" tIns="0" rIns="0" bIns="0" rtlCol="0" anchor="ctr"/>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신축만으로는 불가능(신축 부하의 7배를 줄여야 함) → 기존 포함 전 건물 22.6% 효율 개선 또는 태양광 약 15.0MW</a:t>
            </a:r>
            <a:endParaRPr lang="en-US" sz="1250" dirty="0"/>
          </a:p>
        </p:txBody>
      </p:sp>
      <p:sp>
        <p:nvSpPr>
          <p:cNvPr id="23" name="Text 21"/>
          <p:cNvSpPr txBox="1"/>
          <p:nvPr/>
        </p:nvSpPr>
        <p:spPr>
          <a:xfrm>
            <a:off x="4572000" y="6473952"/>
            <a:ext cx="715975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전력 운영탄소만 (가스 제외) · K-apt 보고 단지 기준 · 태양광 발전량은 입력 가정</a:t>
            </a:r>
            <a:endParaRPr lang="en-US" sz="900" dirty="0"/>
          </a:p>
        </p:txBody>
      </p:sp>
      <p:graphicFrame>
        <p:nvGraphicFramePr>
          <p:cNvPr id="25" name="Chart 0" descr=""/>
          <p:cNvGraphicFramePr/>
          <p:nvPr/>
        </p:nvGraphicFramePr>
        <p:xfrm>
          <a:off x="4709160" y="1325880"/>
          <a:ext cx="3931920" cy="4526280"/>
        </p:xfrm>
        <a:graphic xmlns:a="http://schemas.openxmlformats.org/drawingml/2006/main">
          <a:graphicData uri="http://schemas.openxmlformats.org/drawingml/2006/chart">
            <c:chart xmlns:c="http://schemas.openxmlformats.org/drawingml/2006/chart" r:id="rId1"/>
          </a:graphicData>
        </a:graphic>
      </p:graphicFrame>
      <p:sp>
        <p:nvSpPr>
          <p:cNvPr id="26" name="Text 22"/>
          <p:cNvSpPr txBox="1"/>
          <p:nvPr/>
        </p:nvSpPr>
        <p:spPr>
          <a:xfrm>
            <a:off x="8823960" y="1417320"/>
            <a:ext cx="2926080" cy="457200"/>
          </a:xfrm>
          <a:prstGeom prst="rect">
            <a:avLst/>
          </a:prstGeom>
          <a:noFill/>
          <a:ln/>
        </p:spPr>
        <p:txBody>
          <a:bodyPr wrap="square" lIns="0" tIns="0" rIns="0" bIns="0" rtlCol="0" anchor="t"/>
          <a:lstStyle/>
          <a:p>
            <a:pPr indent="0" marL="0">
              <a:buNone/>
            </a:pPr>
            <a:r>
              <a:rPr lang="en-US" sz="2100" b="1" dirty="0">
                <a:solidFill>
                  <a:srgbClr val="B42318"/>
                </a:solidFill>
                <a:latin typeface="Malgun Gothic" pitchFamily="34" charset="0"/>
                <a:ea typeface="Malgun Gothic" pitchFamily="34" charset="-122"/>
                <a:cs typeface="Malgun Gothic" pitchFamily="34" charset="-120"/>
              </a:rPr>
              <a:t>8,871t</a:t>
            </a:r>
            <a:endParaRPr lang="en-US" sz="2100" dirty="0"/>
          </a:p>
        </p:txBody>
      </p:sp>
      <p:sp>
        <p:nvSpPr>
          <p:cNvPr id="27" name="Text 23"/>
          <p:cNvSpPr txBox="1"/>
          <p:nvPr/>
        </p:nvSpPr>
        <p:spPr>
          <a:xfrm>
            <a:off x="8823960" y="1892808"/>
            <a:ext cx="2926080" cy="45720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줄여야 할 탄소 (연)</a:t>
            </a:r>
            <a:endParaRPr lang="en-US" sz="1050" dirty="0"/>
          </a:p>
        </p:txBody>
      </p:sp>
      <p:sp>
        <p:nvSpPr>
          <p:cNvPr id="28" name="Text 24"/>
          <p:cNvSpPr txBox="1"/>
          <p:nvPr/>
        </p:nvSpPr>
        <p:spPr>
          <a:xfrm>
            <a:off x="8823960" y="2532888"/>
            <a:ext cx="2926080" cy="457200"/>
          </a:xfrm>
          <a:prstGeom prst="rect">
            <a:avLst/>
          </a:prstGeom>
          <a:noFill/>
          <a:ln/>
        </p:spPr>
        <p:txBody>
          <a:bodyPr wrap="square" lIns="0" tIns="0" rIns="0" bIns="0" rtlCol="0" anchor="t"/>
          <a:lstStyle/>
          <a:p>
            <a:pPr indent="0" marL="0">
              <a:buNone/>
            </a:pPr>
            <a:r>
              <a:rPr lang="en-US" sz="2100" b="1" dirty="0">
                <a:solidFill>
                  <a:srgbClr val="6B746E"/>
                </a:solidFill>
                <a:latin typeface="Malgun Gothic" pitchFamily="34" charset="0"/>
                <a:ea typeface="Malgun Gothic" pitchFamily="34" charset="-122"/>
                <a:cs typeface="Malgun Gothic" pitchFamily="34" charset="-120"/>
              </a:rPr>
              <a:t>700%</a:t>
            </a:r>
            <a:endParaRPr lang="en-US" sz="2100" dirty="0"/>
          </a:p>
        </p:txBody>
      </p:sp>
      <p:sp>
        <p:nvSpPr>
          <p:cNvPr id="29" name="Text 25"/>
          <p:cNvSpPr txBox="1"/>
          <p:nvPr/>
        </p:nvSpPr>
        <p:spPr>
          <a:xfrm>
            <a:off x="8823960" y="3008376"/>
            <a:ext cx="2926080" cy="45720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신축만 고칠 때 필요한 효율 → 불가능</a:t>
            </a:r>
            <a:endParaRPr lang="en-US" sz="1050" dirty="0"/>
          </a:p>
        </p:txBody>
      </p:sp>
      <p:sp>
        <p:nvSpPr>
          <p:cNvPr id="30" name="Text 26"/>
          <p:cNvSpPr txBox="1"/>
          <p:nvPr/>
        </p:nvSpPr>
        <p:spPr>
          <a:xfrm>
            <a:off x="8823960" y="3648456"/>
            <a:ext cx="2926080" cy="457200"/>
          </a:xfrm>
          <a:prstGeom prst="rect">
            <a:avLst/>
          </a:prstGeom>
          <a:noFill/>
          <a:ln/>
        </p:spPr>
        <p:txBody>
          <a:bodyPr wrap="square" lIns="0" tIns="0" rIns="0" bIns="0" rtlCol="0" anchor="t"/>
          <a:lstStyle/>
          <a:p>
            <a:pPr indent="0" marL="0">
              <a:buNone/>
            </a:pPr>
            <a:r>
              <a:rPr lang="en-US" sz="2100" b="1" dirty="0">
                <a:solidFill>
                  <a:srgbClr val="1F7A55"/>
                </a:solidFill>
                <a:latin typeface="Malgun Gothic" pitchFamily="34" charset="0"/>
                <a:ea typeface="Malgun Gothic" pitchFamily="34" charset="-122"/>
                <a:cs typeface="Malgun Gothic" pitchFamily="34" charset="-120"/>
              </a:rPr>
              <a:t>22.6%</a:t>
            </a:r>
            <a:endParaRPr lang="en-US" sz="2100" dirty="0"/>
          </a:p>
        </p:txBody>
      </p:sp>
      <p:sp>
        <p:nvSpPr>
          <p:cNvPr id="31" name="Text 27"/>
          <p:cNvSpPr txBox="1"/>
          <p:nvPr/>
        </p:nvSpPr>
        <p:spPr>
          <a:xfrm>
            <a:off x="8823960" y="4123944"/>
            <a:ext cx="2926080" cy="45720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전 건물 효율 개선이면</a:t>
            </a:r>
            <a:endParaRPr lang="en-US" sz="1050" dirty="0"/>
          </a:p>
        </p:txBody>
      </p:sp>
      <p:sp>
        <p:nvSpPr>
          <p:cNvPr id="32" name="Text 28"/>
          <p:cNvSpPr txBox="1"/>
          <p:nvPr/>
        </p:nvSpPr>
        <p:spPr>
          <a:xfrm>
            <a:off x="8823960" y="4764024"/>
            <a:ext cx="2926080" cy="457200"/>
          </a:xfrm>
          <a:prstGeom prst="rect">
            <a:avLst/>
          </a:prstGeom>
          <a:noFill/>
          <a:ln/>
        </p:spPr>
        <p:txBody>
          <a:bodyPr wrap="square" lIns="0" tIns="0" rIns="0" bIns="0" rtlCol="0" anchor="t"/>
          <a:lstStyle/>
          <a:p>
            <a:pPr indent="0" marL="0">
              <a:buNone/>
            </a:pPr>
            <a:r>
              <a:rPr lang="en-US" sz="2100" b="1" dirty="0">
                <a:solidFill>
                  <a:srgbClr val="1F7A55"/>
                </a:solidFill>
                <a:latin typeface="Malgun Gothic" pitchFamily="34" charset="0"/>
                <a:ea typeface="Malgun Gothic" pitchFamily="34" charset="-122"/>
                <a:cs typeface="Malgun Gothic" pitchFamily="34" charset="-120"/>
              </a:rPr>
              <a:t>15.0MW</a:t>
            </a:r>
            <a:endParaRPr lang="en-US" sz="2100" dirty="0"/>
          </a:p>
        </p:txBody>
      </p:sp>
      <p:sp>
        <p:nvSpPr>
          <p:cNvPr id="33" name="Text 29"/>
          <p:cNvSpPr txBox="1"/>
          <p:nvPr/>
        </p:nvSpPr>
        <p:spPr>
          <a:xfrm>
            <a:off x="8823960" y="5239512"/>
            <a:ext cx="2926080" cy="45720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태양광이면 (연 19.5GWh 상쇄)</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25</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활용 예시 6 · 에너지 컨설팅(ESCO)</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노후되고 가스를 많이 쓰는 단지는 어디?</a:t>
            </a:r>
            <a:endParaRPr lang="en-US" sz="2500" dirty="0"/>
          </a:p>
        </p:txBody>
      </p:sp>
      <p:sp>
        <p:nvSpPr>
          <p:cNvPr id="5" name="Shape 3"/>
          <p:cNvSpPr/>
          <p:nvPr/>
        </p:nvSpPr>
        <p:spPr>
          <a:xfrm>
            <a:off x="457200" y="1325880"/>
            <a:ext cx="3931920" cy="4572000"/>
          </a:xfrm>
          <a:prstGeom prst="roundRect">
            <a:avLst>
              <a:gd name="adj" fmla="val 1860"/>
            </a:avLst>
          </a:prstGeom>
          <a:solidFill>
            <a:srgbClr val="F4F6F4"/>
          </a:solidFill>
          <a:ln w="9525">
            <a:solidFill>
              <a:srgbClr val="D9D7CE"/>
            </a:solidFill>
            <a:prstDash val="solid"/>
          </a:ln>
        </p:spPr>
      </p:sp>
      <p:sp>
        <p:nvSpPr>
          <p:cNvPr id="6" name="Text 4"/>
          <p:cNvSpPr txBox="1"/>
          <p:nvPr/>
        </p:nvSpPr>
        <p:spPr>
          <a:xfrm>
            <a:off x="685800" y="1481328"/>
            <a:ext cx="34747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상황</a:t>
            </a:r>
            <a:endParaRPr lang="en-US" sz="1200" dirty="0"/>
          </a:p>
        </p:txBody>
      </p:sp>
      <p:sp>
        <p:nvSpPr>
          <p:cNvPr id="7" name="Text 5"/>
          <p:cNvSpPr txBox="1"/>
          <p:nvPr/>
        </p:nvSpPr>
        <p:spPr>
          <a:xfrm>
            <a:off x="685800" y="1783080"/>
            <a:ext cx="3520440" cy="1051560"/>
          </a:xfrm>
          <a:prstGeom prst="rect">
            <a:avLst/>
          </a:prstGeom>
          <a:noFill/>
          <a:ln/>
        </p:spPr>
        <p:txBody>
          <a:bodyPr wrap="square" lIns="0" tIns="0" rIns="0" bIns="0" rtlCol="0" anchor="t"/>
          <a:lstStyle/>
          <a:p>
            <a:pPr indent="0" marL="0">
              <a:lnSpc>
                <a:spcPct val="112000"/>
              </a:lnSpc>
              <a:buNone/>
            </a:pPr>
            <a:r>
              <a:rPr lang="en-US" sz="1150" dirty="0">
                <a:solidFill>
                  <a:srgbClr val="1C2622"/>
                </a:solidFill>
                <a:latin typeface="Malgun Gothic" pitchFamily="34" charset="0"/>
                <a:ea typeface="Malgun Gothic" pitchFamily="34" charset="-122"/>
                <a:cs typeface="Malgun Gothic" pitchFamily="34" charset="-120"/>
              </a:rPr>
              <a:t>단열·창호·보일러 교체 사업 영업 대상을 찾는다. 2000년 이전 준공 연면적이 절반 넘고 가스를 많이 쓰는 격자를 고른 뒤 절감 효과를 제안한다.</a:t>
            </a:r>
            <a:endParaRPr lang="en-US" sz="1150" dirty="0"/>
          </a:p>
        </p:txBody>
      </p:sp>
      <p:sp>
        <p:nvSpPr>
          <p:cNvPr id="8" name="Text 6"/>
          <p:cNvSpPr txBox="1"/>
          <p:nvPr/>
        </p:nvSpPr>
        <p:spPr>
          <a:xfrm>
            <a:off x="685800" y="2907792"/>
            <a:ext cx="34747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입력</a:t>
            </a:r>
            <a:endParaRPr lang="en-US" sz="1200" dirty="0"/>
          </a:p>
        </p:txBody>
      </p:sp>
      <p:sp>
        <p:nvSpPr>
          <p:cNvPr id="9" name="Text 7"/>
          <p:cNvSpPr txBox="1"/>
          <p:nvPr/>
        </p:nvSpPr>
        <p:spPr>
          <a:xfrm>
            <a:off x="685800" y="3218688"/>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조건 1</a:t>
            </a:r>
            <a:endParaRPr lang="en-US" sz="1100" dirty="0"/>
          </a:p>
        </p:txBody>
      </p:sp>
      <p:sp>
        <p:nvSpPr>
          <p:cNvPr id="10" name="Text 8"/>
          <p:cNvSpPr txBox="1"/>
          <p:nvPr/>
        </p:nvSpPr>
        <p:spPr>
          <a:xfrm>
            <a:off x="2103120" y="3218688"/>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2000년 이전 준공 연면적 ≥ 50%</a:t>
            </a:r>
            <a:endParaRPr lang="en-US" sz="1100" dirty="0"/>
          </a:p>
        </p:txBody>
      </p:sp>
      <p:sp>
        <p:nvSpPr>
          <p:cNvPr id="11" name="Text 9"/>
          <p:cNvSpPr txBox="1"/>
          <p:nvPr/>
        </p:nvSpPr>
        <p:spPr>
          <a:xfrm>
            <a:off x="685800" y="3547872"/>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조건 2</a:t>
            </a:r>
            <a:endParaRPr lang="en-US" sz="1100" dirty="0"/>
          </a:p>
        </p:txBody>
      </p:sp>
      <p:sp>
        <p:nvSpPr>
          <p:cNvPr id="12" name="Text 10"/>
          <p:cNvSpPr txBox="1"/>
          <p:nvPr/>
        </p:nvSpPr>
        <p:spPr>
          <a:xfrm>
            <a:off x="2103120" y="3547872"/>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공동주택 가스 연간 관측</a:t>
            </a:r>
            <a:endParaRPr lang="en-US" sz="1100" dirty="0"/>
          </a:p>
        </p:txBody>
      </p:sp>
      <p:sp>
        <p:nvSpPr>
          <p:cNvPr id="13" name="Text 11"/>
          <p:cNvSpPr txBox="1"/>
          <p:nvPr/>
        </p:nvSpPr>
        <p:spPr>
          <a:xfrm>
            <a:off x="685800" y="3877056"/>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정렬</a:t>
            </a:r>
            <a:endParaRPr lang="en-US" sz="1100" dirty="0"/>
          </a:p>
        </p:txBody>
      </p:sp>
      <p:sp>
        <p:nvSpPr>
          <p:cNvPr id="14" name="Text 12"/>
          <p:cNvSpPr txBox="1"/>
          <p:nvPr/>
        </p:nvSpPr>
        <p:spPr>
          <a:xfrm>
            <a:off x="2103120" y="3877056"/>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연간 가스 사용량 큰 순</a:t>
            </a:r>
            <a:endParaRPr lang="en-US" sz="1100" dirty="0"/>
          </a:p>
        </p:txBody>
      </p:sp>
      <p:sp>
        <p:nvSpPr>
          <p:cNvPr id="15" name="Text 13"/>
          <p:cNvSpPr txBox="1"/>
          <p:nvPr/>
        </p:nvSpPr>
        <p:spPr>
          <a:xfrm>
            <a:off x="685800" y="4206240"/>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제안 가정</a:t>
            </a:r>
            <a:endParaRPr lang="en-US" sz="1100" dirty="0"/>
          </a:p>
        </p:txBody>
      </p:sp>
      <p:sp>
        <p:nvSpPr>
          <p:cNvPr id="16" name="Text 14"/>
          <p:cNvSpPr txBox="1"/>
          <p:nvPr/>
        </p:nvSpPr>
        <p:spPr>
          <a:xfrm>
            <a:off x="2103120" y="4206240"/>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가스 20% 절감</a:t>
            </a:r>
            <a:endParaRPr lang="en-US" sz="1100" dirty="0"/>
          </a:p>
        </p:txBody>
      </p:sp>
      <p:sp>
        <p:nvSpPr>
          <p:cNvPr id="17" name="Shape 15"/>
          <p:cNvSpPr/>
          <p:nvPr/>
        </p:nvSpPr>
        <p:spPr>
          <a:xfrm>
            <a:off x="685800" y="5440680"/>
            <a:ext cx="3474720" cy="310896"/>
          </a:xfrm>
          <a:prstGeom prst="roundRect">
            <a:avLst>
              <a:gd name="adj" fmla="val 17647"/>
            </a:avLst>
          </a:prstGeom>
          <a:solidFill>
            <a:srgbClr val="FFFFFF"/>
          </a:solidFill>
          <a:ln w="12700">
            <a:solidFill>
              <a:srgbClr val="FFFFFF"/>
            </a:solidFill>
            <a:prstDash val="solid"/>
          </a:ln>
        </p:spPr>
      </p:sp>
      <p:sp>
        <p:nvSpPr>
          <p:cNvPr id="18" name="Text 16"/>
          <p:cNvSpPr txBox="1"/>
          <p:nvPr/>
        </p:nvSpPr>
        <p:spPr>
          <a:xfrm>
            <a:off x="685800" y="5440680"/>
            <a:ext cx="3474720" cy="310896"/>
          </a:xfrm>
          <a:prstGeom prst="rect">
            <a:avLst/>
          </a:prstGeom>
          <a:noFill/>
          <a:ln/>
        </p:spPr>
        <p:txBody>
          <a:bodyPr wrap="square" lIns="0" tIns="0" rIns="0" bIns="0" rtlCol="0" anchor="ctr"/>
          <a:lstStyle/>
          <a:p>
            <a:pPr algn="ctr" indent="0" marL="0">
              <a:buNone/>
            </a:pPr>
            <a:r>
              <a:rPr lang="en-US" sz="1050" b="1" dirty="0">
                <a:solidFill>
                  <a:srgbClr val="2F5D50"/>
                </a:solidFill>
                <a:latin typeface="Malgun Gothic" pitchFamily="34" charset="0"/>
                <a:ea typeface="Malgun Gothic" pitchFamily="34" charset="-122"/>
                <a:cs typeface="Malgun Gothic" pitchFamily="34" charset="-120"/>
              </a:rPr>
              <a:t>메뉴: 지도 분석 (노후 연면적 · 가스)</a:t>
            </a:r>
            <a:endParaRPr lang="en-US" sz="1050" dirty="0"/>
          </a:p>
        </p:txBody>
      </p:sp>
      <p:sp>
        <p:nvSpPr>
          <p:cNvPr id="19" name="Shape 17"/>
          <p:cNvSpPr/>
          <p:nvPr/>
        </p:nvSpPr>
        <p:spPr>
          <a:xfrm>
            <a:off x="457200" y="5989320"/>
            <a:ext cx="11274552" cy="411480"/>
          </a:xfrm>
          <a:prstGeom prst="roundRect">
            <a:avLst>
              <a:gd name="adj" fmla="val 13333"/>
            </a:avLst>
          </a:prstGeom>
          <a:solidFill>
            <a:srgbClr val="1F3A33"/>
          </a:solidFill>
          <a:ln w="12700">
            <a:solidFill>
              <a:srgbClr val="1F3A33"/>
            </a:solidFill>
            <a:prstDash val="solid"/>
          </a:ln>
        </p:spPr>
      </p:sp>
      <p:sp>
        <p:nvSpPr>
          <p:cNvPr id="20" name="Text 18"/>
          <p:cNvSpPr txBox="1"/>
          <p:nvPr/>
        </p:nvSpPr>
        <p:spPr>
          <a:xfrm>
            <a:off x="640080" y="5989320"/>
            <a:ext cx="10972800" cy="411480"/>
          </a:xfrm>
          <a:prstGeom prst="rect">
            <a:avLst/>
          </a:prstGeom>
          <a:noFill/>
          <a:ln/>
        </p:spPr>
        <p:txBody>
          <a:bodyPr wrap="square" lIns="0" tIns="0" rIns="0" bIns="0" rtlCol="0" anchor="ctr"/>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조건 맞는 격자 57곳 중 상위 5곳만 20% 절감해도 연 21.2GWh, 약 3,878t 감축 → 단지별 제안서로</a:t>
            </a:r>
            <a:endParaRPr lang="en-US" sz="1250" dirty="0"/>
          </a:p>
        </p:txBody>
      </p:sp>
      <p:sp>
        <p:nvSpPr>
          <p:cNvPr id="21" name="Text 19"/>
          <p:cNvSpPr txBox="1"/>
          <p:nvPr/>
        </p:nvSpPr>
        <p:spPr>
          <a:xfrm>
            <a:off x="4572000" y="6473952"/>
            <a:ext cx="715975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가스 원단위 전주 중앙값 65.2kWh/㎡ · 탄소는 가정 계수 0.1826 · 노후 비율은 건축물대장 기준</a:t>
            </a:r>
            <a:endParaRPr lang="en-US" sz="900" dirty="0"/>
          </a:p>
        </p:txBody>
      </p:sp>
      <p:sp>
        <p:nvSpPr>
          <p:cNvPr id="23" name="Text 20"/>
          <p:cNvSpPr txBox="1"/>
          <p:nvPr/>
        </p:nvSpPr>
        <p:spPr>
          <a:xfrm>
            <a:off x="4782312" y="1417320"/>
            <a:ext cx="2423160" cy="274320"/>
          </a:xfrm>
          <a:prstGeom prst="rect">
            <a:avLst/>
          </a:prstGeom>
          <a:noFill/>
          <a:ln/>
        </p:spPr>
        <p:txBody>
          <a:bodyPr wrap="square" lIns="0" tIns="0" rIns="0" bIns="0" rtlCol="0" anchor="t"/>
          <a:lstStyle/>
          <a:p>
            <a:pPr algn="l" indent="0" marL="0">
              <a:buNone/>
            </a:pPr>
            <a:r>
              <a:rPr lang="en-US" sz="1100" b="1" dirty="0">
                <a:solidFill>
                  <a:srgbClr val="6B746E"/>
                </a:solidFill>
                <a:latin typeface="Malgun Gothic" pitchFamily="34" charset="0"/>
                <a:ea typeface="Malgun Gothic" pitchFamily="34" charset="-122"/>
                <a:cs typeface="Malgun Gothic" pitchFamily="34" charset="-120"/>
              </a:rPr>
              <a:t>격자 (행정동)</a:t>
            </a:r>
            <a:endParaRPr lang="en-US" sz="1100" dirty="0"/>
          </a:p>
        </p:txBody>
      </p:sp>
      <p:sp>
        <p:nvSpPr>
          <p:cNvPr id="24" name="Text 21"/>
          <p:cNvSpPr txBox="1"/>
          <p:nvPr/>
        </p:nvSpPr>
        <p:spPr>
          <a:xfrm>
            <a:off x="7296912" y="1417320"/>
            <a:ext cx="868680" cy="274320"/>
          </a:xfrm>
          <a:prstGeom prst="rect">
            <a:avLst/>
          </a:prstGeom>
          <a:noFill/>
          <a:ln/>
        </p:spPr>
        <p:txBody>
          <a:bodyPr wrap="square" lIns="0" tIns="0" rIns="0" bIns="0" rtlCol="0" anchor="t"/>
          <a:lstStyle/>
          <a:p>
            <a:pPr algn="r" indent="0" marL="0">
              <a:buNone/>
            </a:pPr>
            <a:r>
              <a:rPr lang="en-US" sz="1100" b="1" dirty="0">
                <a:solidFill>
                  <a:srgbClr val="6B746E"/>
                </a:solidFill>
                <a:latin typeface="Malgun Gothic" pitchFamily="34" charset="0"/>
                <a:ea typeface="Malgun Gothic" pitchFamily="34" charset="-122"/>
                <a:cs typeface="Malgun Gothic" pitchFamily="34" charset="-120"/>
              </a:rPr>
              <a:t>노후</a:t>
            </a:r>
            <a:endParaRPr lang="en-US" sz="1100" dirty="0"/>
          </a:p>
        </p:txBody>
      </p:sp>
      <p:sp>
        <p:nvSpPr>
          <p:cNvPr id="25" name="Text 22"/>
          <p:cNvSpPr txBox="1"/>
          <p:nvPr/>
        </p:nvSpPr>
        <p:spPr>
          <a:xfrm>
            <a:off x="8257032" y="1417320"/>
            <a:ext cx="1143000" cy="274320"/>
          </a:xfrm>
          <a:prstGeom prst="rect">
            <a:avLst/>
          </a:prstGeom>
          <a:noFill/>
          <a:ln/>
        </p:spPr>
        <p:txBody>
          <a:bodyPr wrap="square" lIns="0" tIns="0" rIns="0" bIns="0" rtlCol="0" anchor="t"/>
          <a:lstStyle/>
          <a:p>
            <a:pPr algn="r" indent="0" marL="0">
              <a:buNone/>
            </a:pPr>
            <a:r>
              <a:rPr lang="en-US" sz="1100" b="1" dirty="0">
                <a:solidFill>
                  <a:srgbClr val="6B746E"/>
                </a:solidFill>
                <a:latin typeface="Malgun Gothic" pitchFamily="34" charset="0"/>
                <a:ea typeface="Malgun Gothic" pitchFamily="34" charset="-122"/>
                <a:cs typeface="Malgun Gothic" pitchFamily="34" charset="-120"/>
              </a:rPr>
              <a:t>가스 GWh</a:t>
            </a:r>
            <a:endParaRPr lang="en-US" sz="1100" dirty="0"/>
          </a:p>
        </p:txBody>
      </p:sp>
      <p:sp>
        <p:nvSpPr>
          <p:cNvPr id="26" name="Text 23"/>
          <p:cNvSpPr txBox="1"/>
          <p:nvPr/>
        </p:nvSpPr>
        <p:spPr>
          <a:xfrm>
            <a:off x="9491472" y="1417320"/>
            <a:ext cx="1005840" cy="274320"/>
          </a:xfrm>
          <a:prstGeom prst="rect">
            <a:avLst/>
          </a:prstGeom>
          <a:noFill/>
          <a:ln/>
        </p:spPr>
        <p:txBody>
          <a:bodyPr wrap="square" lIns="0" tIns="0" rIns="0" bIns="0" rtlCol="0" anchor="t"/>
          <a:lstStyle/>
          <a:p>
            <a:pPr algn="r" indent="0" marL="0">
              <a:buNone/>
            </a:pPr>
            <a:r>
              <a:rPr lang="en-US" sz="1100" b="1" dirty="0">
                <a:solidFill>
                  <a:srgbClr val="6B746E"/>
                </a:solidFill>
                <a:latin typeface="Malgun Gothic" pitchFamily="34" charset="0"/>
                <a:ea typeface="Malgun Gothic" pitchFamily="34" charset="-122"/>
                <a:cs typeface="Malgun Gothic" pitchFamily="34" charset="-120"/>
              </a:rPr>
              <a:t>kWh/㎡</a:t>
            </a:r>
            <a:endParaRPr lang="en-US" sz="1100" dirty="0"/>
          </a:p>
        </p:txBody>
      </p:sp>
      <p:sp>
        <p:nvSpPr>
          <p:cNvPr id="27" name="Text 24"/>
          <p:cNvSpPr txBox="1"/>
          <p:nvPr/>
        </p:nvSpPr>
        <p:spPr>
          <a:xfrm>
            <a:off x="10588752" y="1417320"/>
            <a:ext cx="1124712" cy="274320"/>
          </a:xfrm>
          <a:prstGeom prst="rect">
            <a:avLst/>
          </a:prstGeom>
          <a:noFill/>
          <a:ln/>
        </p:spPr>
        <p:txBody>
          <a:bodyPr wrap="square" lIns="0" tIns="0" rIns="0" bIns="0" rtlCol="0" anchor="t"/>
          <a:lstStyle/>
          <a:p>
            <a:pPr algn="r" indent="0" marL="0">
              <a:buNone/>
            </a:pPr>
            <a:r>
              <a:rPr lang="en-US" sz="1100" b="1" dirty="0">
                <a:solidFill>
                  <a:srgbClr val="6B746E"/>
                </a:solidFill>
                <a:latin typeface="Malgun Gothic" pitchFamily="34" charset="0"/>
                <a:ea typeface="Malgun Gothic" pitchFamily="34" charset="-122"/>
                <a:cs typeface="Malgun Gothic" pitchFamily="34" charset="-120"/>
              </a:rPr>
              <a:t>세대</a:t>
            </a:r>
            <a:endParaRPr lang="en-US" sz="1100" dirty="0"/>
          </a:p>
        </p:txBody>
      </p:sp>
      <p:sp>
        <p:nvSpPr>
          <p:cNvPr id="28" name="Shape 25"/>
          <p:cNvSpPr/>
          <p:nvPr/>
        </p:nvSpPr>
        <p:spPr>
          <a:xfrm>
            <a:off x="4709160" y="1755648"/>
            <a:ext cx="7022592" cy="530352"/>
          </a:xfrm>
          <a:prstGeom prst="rect">
            <a:avLst/>
          </a:prstGeom>
          <a:solidFill>
            <a:srgbClr val="F4F6F4"/>
          </a:solidFill>
          <a:ln w="12700">
            <a:solidFill>
              <a:srgbClr val="F4F6F4"/>
            </a:solidFill>
            <a:prstDash val="solid"/>
          </a:ln>
        </p:spPr>
      </p:sp>
      <p:sp>
        <p:nvSpPr>
          <p:cNvPr id="29" name="Text 26"/>
          <p:cNvSpPr txBox="1"/>
          <p:nvPr/>
        </p:nvSpPr>
        <p:spPr>
          <a:xfrm>
            <a:off x="4782312" y="1874520"/>
            <a:ext cx="2368296" cy="310896"/>
          </a:xfrm>
          <a:prstGeom prst="rect">
            <a:avLst/>
          </a:prstGeom>
          <a:noFill/>
          <a:ln/>
        </p:spPr>
        <p:txBody>
          <a:bodyPr wrap="square" lIns="0" tIns="0" rIns="0" bIns="0" rtlCol="0" anchor="t"/>
          <a:lstStyle/>
          <a:p>
            <a:pPr algn="l" indent="0" marL="0">
              <a:buNone/>
            </a:pPr>
            <a:r>
              <a:rPr lang="en-US" sz="1150" b="1" dirty="0">
                <a:solidFill>
                  <a:srgbClr val="1C2622"/>
                </a:solidFill>
                <a:latin typeface="Malgun Gothic" pitchFamily="34" charset="0"/>
                <a:ea typeface="Malgun Gothic" pitchFamily="34" charset="-122"/>
                <a:cs typeface="Malgun Gothic" pitchFamily="34" charset="-120"/>
              </a:rPr>
              <a:t>평화1동  다마67b55b</a:t>
            </a:r>
            <a:endParaRPr lang="en-US" sz="1150" dirty="0"/>
          </a:p>
        </p:txBody>
      </p:sp>
      <p:sp>
        <p:nvSpPr>
          <p:cNvPr id="30" name="Text 27"/>
          <p:cNvSpPr txBox="1"/>
          <p:nvPr/>
        </p:nvSpPr>
        <p:spPr>
          <a:xfrm>
            <a:off x="7296912" y="1874520"/>
            <a:ext cx="813816"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89%</a:t>
            </a:r>
            <a:endParaRPr lang="en-US" sz="1250" dirty="0"/>
          </a:p>
        </p:txBody>
      </p:sp>
      <p:sp>
        <p:nvSpPr>
          <p:cNvPr id="31" name="Text 28"/>
          <p:cNvSpPr txBox="1"/>
          <p:nvPr/>
        </p:nvSpPr>
        <p:spPr>
          <a:xfrm>
            <a:off x="8257032" y="1874520"/>
            <a:ext cx="1088136" cy="310896"/>
          </a:xfrm>
          <a:prstGeom prst="rect">
            <a:avLst/>
          </a:prstGeom>
          <a:noFill/>
          <a:ln/>
        </p:spPr>
        <p:txBody>
          <a:bodyPr wrap="square" lIns="0" tIns="0" rIns="0" bIns="0" rtlCol="0" anchor="t"/>
          <a:lstStyle/>
          <a:p>
            <a:pPr algn="r" indent="0" marL="0">
              <a:buNone/>
            </a:pPr>
            <a:r>
              <a:rPr lang="en-US" sz="1250" b="1" dirty="0">
                <a:solidFill>
                  <a:srgbClr val="1C2622"/>
                </a:solidFill>
                <a:latin typeface="Malgun Gothic" pitchFamily="34" charset="0"/>
                <a:ea typeface="Malgun Gothic" pitchFamily="34" charset="-122"/>
                <a:cs typeface="Malgun Gothic" pitchFamily="34" charset="-120"/>
              </a:rPr>
              <a:t>23.4</a:t>
            </a:r>
            <a:endParaRPr lang="en-US" sz="1250" dirty="0"/>
          </a:p>
        </p:txBody>
      </p:sp>
      <p:sp>
        <p:nvSpPr>
          <p:cNvPr id="32" name="Text 29"/>
          <p:cNvSpPr txBox="1"/>
          <p:nvPr/>
        </p:nvSpPr>
        <p:spPr>
          <a:xfrm>
            <a:off x="9491472" y="1874520"/>
            <a:ext cx="950976" cy="310896"/>
          </a:xfrm>
          <a:prstGeom prst="rect">
            <a:avLst/>
          </a:prstGeom>
          <a:noFill/>
          <a:ln/>
        </p:spPr>
        <p:txBody>
          <a:bodyPr wrap="square" lIns="0" tIns="0" rIns="0" bIns="0" rtlCol="0" anchor="t"/>
          <a:lstStyle/>
          <a:p>
            <a:pPr algn="r" indent="0" marL="0">
              <a:buNone/>
            </a:pPr>
            <a:r>
              <a:rPr lang="en-US" sz="1250" dirty="0">
                <a:solidFill>
                  <a:srgbClr val="B7792F"/>
                </a:solidFill>
                <a:latin typeface="Malgun Gothic" pitchFamily="34" charset="0"/>
                <a:ea typeface="Malgun Gothic" pitchFamily="34" charset="-122"/>
                <a:cs typeface="Malgun Gothic" pitchFamily="34" charset="-120"/>
              </a:rPr>
              <a:t>89.2</a:t>
            </a:r>
            <a:endParaRPr lang="en-US" sz="1250" dirty="0"/>
          </a:p>
        </p:txBody>
      </p:sp>
      <p:sp>
        <p:nvSpPr>
          <p:cNvPr id="33" name="Text 30"/>
          <p:cNvSpPr txBox="1"/>
          <p:nvPr/>
        </p:nvSpPr>
        <p:spPr>
          <a:xfrm>
            <a:off x="10588752" y="1874520"/>
            <a:ext cx="1069848"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3,062</a:t>
            </a:r>
            <a:endParaRPr lang="en-US" sz="1250" dirty="0"/>
          </a:p>
        </p:txBody>
      </p:sp>
      <p:sp>
        <p:nvSpPr>
          <p:cNvPr id="34" name="Text 31"/>
          <p:cNvSpPr txBox="1"/>
          <p:nvPr/>
        </p:nvSpPr>
        <p:spPr>
          <a:xfrm>
            <a:off x="4782312" y="2441448"/>
            <a:ext cx="2368296" cy="310896"/>
          </a:xfrm>
          <a:prstGeom prst="rect">
            <a:avLst/>
          </a:prstGeom>
          <a:noFill/>
          <a:ln/>
        </p:spPr>
        <p:txBody>
          <a:bodyPr wrap="square" lIns="0" tIns="0" rIns="0" bIns="0" rtlCol="0" anchor="t"/>
          <a:lstStyle/>
          <a:p>
            <a:pPr algn="l" indent="0" marL="0">
              <a:buNone/>
            </a:pPr>
            <a:r>
              <a:rPr lang="en-US" sz="1150" b="1" dirty="0">
                <a:solidFill>
                  <a:srgbClr val="1C2622"/>
                </a:solidFill>
                <a:latin typeface="Malgun Gothic" pitchFamily="34" charset="0"/>
                <a:ea typeface="Malgun Gothic" pitchFamily="34" charset="-122"/>
                <a:cs typeface="Malgun Gothic" pitchFamily="34" charset="-120"/>
              </a:rPr>
              <a:t>효자3동  다마65a56a</a:t>
            </a:r>
            <a:endParaRPr lang="en-US" sz="1150" dirty="0"/>
          </a:p>
        </p:txBody>
      </p:sp>
      <p:sp>
        <p:nvSpPr>
          <p:cNvPr id="35" name="Text 32"/>
          <p:cNvSpPr txBox="1"/>
          <p:nvPr/>
        </p:nvSpPr>
        <p:spPr>
          <a:xfrm>
            <a:off x="7296912" y="2441448"/>
            <a:ext cx="813816"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96%</a:t>
            </a:r>
            <a:endParaRPr lang="en-US" sz="1250" dirty="0"/>
          </a:p>
        </p:txBody>
      </p:sp>
      <p:sp>
        <p:nvSpPr>
          <p:cNvPr id="36" name="Text 33"/>
          <p:cNvSpPr txBox="1"/>
          <p:nvPr/>
        </p:nvSpPr>
        <p:spPr>
          <a:xfrm>
            <a:off x="8257032" y="2441448"/>
            <a:ext cx="1088136" cy="310896"/>
          </a:xfrm>
          <a:prstGeom prst="rect">
            <a:avLst/>
          </a:prstGeom>
          <a:noFill/>
          <a:ln/>
        </p:spPr>
        <p:txBody>
          <a:bodyPr wrap="square" lIns="0" tIns="0" rIns="0" bIns="0" rtlCol="0" anchor="t"/>
          <a:lstStyle/>
          <a:p>
            <a:pPr algn="r" indent="0" marL="0">
              <a:buNone/>
            </a:pPr>
            <a:r>
              <a:rPr lang="en-US" sz="1250" b="1" dirty="0">
                <a:solidFill>
                  <a:srgbClr val="1C2622"/>
                </a:solidFill>
                <a:latin typeface="Malgun Gothic" pitchFamily="34" charset="0"/>
                <a:ea typeface="Malgun Gothic" pitchFamily="34" charset="-122"/>
                <a:cs typeface="Malgun Gothic" pitchFamily="34" charset="-120"/>
              </a:rPr>
              <a:t>22.0</a:t>
            </a:r>
            <a:endParaRPr lang="en-US" sz="1250" dirty="0"/>
          </a:p>
        </p:txBody>
      </p:sp>
      <p:sp>
        <p:nvSpPr>
          <p:cNvPr id="37" name="Text 34"/>
          <p:cNvSpPr txBox="1"/>
          <p:nvPr/>
        </p:nvSpPr>
        <p:spPr>
          <a:xfrm>
            <a:off x="9491472" y="2441448"/>
            <a:ext cx="950976" cy="310896"/>
          </a:xfrm>
          <a:prstGeom prst="rect">
            <a:avLst/>
          </a:prstGeom>
          <a:noFill/>
          <a:ln/>
        </p:spPr>
        <p:txBody>
          <a:bodyPr wrap="square" lIns="0" tIns="0" rIns="0" bIns="0" rtlCol="0" anchor="t"/>
          <a:lstStyle/>
          <a:p>
            <a:pPr algn="r" indent="0" marL="0">
              <a:buNone/>
            </a:pPr>
            <a:r>
              <a:rPr lang="en-US" sz="1250" dirty="0">
                <a:solidFill>
                  <a:srgbClr val="B7792F"/>
                </a:solidFill>
                <a:latin typeface="Malgun Gothic" pitchFamily="34" charset="0"/>
                <a:ea typeface="Malgun Gothic" pitchFamily="34" charset="-122"/>
                <a:cs typeface="Malgun Gothic" pitchFamily="34" charset="-120"/>
              </a:rPr>
              <a:t>77.1</a:t>
            </a:r>
            <a:endParaRPr lang="en-US" sz="1250" dirty="0"/>
          </a:p>
        </p:txBody>
      </p:sp>
      <p:sp>
        <p:nvSpPr>
          <p:cNvPr id="38" name="Text 35"/>
          <p:cNvSpPr txBox="1"/>
          <p:nvPr/>
        </p:nvSpPr>
        <p:spPr>
          <a:xfrm>
            <a:off x="10588752" y="2441448"/>
            <a:ext cx="1069848"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2,898</a:t>
            </a:r>
            <a:endParaRPr lang="en-US" sz="1250" dirty="0"/>
          </a:p>
        </p:txBody>
      </p:sp>
      <p:sp>
        <p:nvSpPr>
          <p:cNvPr id="39" name="Shape 36"/>
          <p:cNvSpPr/>
          <p:nvPr/>
        </p:nvSpPr>
        <p:spPr>
          <a:xfrm>
            <a:off x="4709160" y="2889504"/>
            <a:ext cx="7022592" cy="530352"/>
          </a:xfrm>
          <a:prstGeom prst="rect">
            <a:avLst/>
          </a:prstGeom>
          <a:solidFill>
            <a:srgbClr val="F4F6F4"/>
          </a:solidFill>
          <a:ln w="12700">
            <a:solidFill>
              <a:srgbClr val="F4F6F4"/>
            </a:solidFill>
            <a:prstDash val="solid"/>
          </a:ln>
        </p:spPr>
      </p:sp>
      <p:sp>
        <p:nvSpPr>
          <p:cNvPr id="40" name="Text 37"/>
          <p:cNvSpPr txBox="1"/>
          <p:nvPr/>
        </p:nvSpPr>
        <p:spPr>
          <a:xfrm>
            <a:off x="4782312" y="3008376"/>
            <a:ext cx="2368296" cy="310896"/>
          </a:xfrm>
          <a:prstGeom prst="rect">
            <a:avLst/>
          </a:prstGeom>
          <a:noFill/>
          <a:ln/>
        </p:spPr>
        <p:txBody>
          <a:bodyPr wrap="square" lIns="0" tIns="0" rIns="0" bIns="0" rtlCol="0" anchor="t"/>
          <a:lstStyle/>
          <a:p>
            <a:pPr algn="l" indent="0" marL="0">
              <a:buNone/>
            </a:pPr>
            <a:r>
              <a:rPr lang="en-US" sz="1150" b="1" dirty="0">
                <a:solidFill>
                  <a:srgbClr val="1C2622"/>
                </a:solidFill>
                <a:latin typeface="Malgun Gothic" pitchFamily="34" charset="0"/>
                <a:ea typeface="Malgun Gothic" pitchFamily="34" charset="-122"/>
                <a:cs typeface="Malgun Gothic" pitchFamily="34" charset="-120"/>
              </a:rPr>
              <a:t>서신동·덕진동  다마65a60a</a:t>
            </a:r>
            <a:endParaRPr lang="en-US" sz="1150" dirty="0"/>
          </a:p>
        </p:txBody>
      </p:sp>
      <p:sp>
        <p:nvSpPr>
          <p:cNvPr id="41" name="Text 38"/>
          <p:cNvSpPr txBox="1"/>
          <p:nvPr/>
        </p:nvSpPr>
        <p:spPr>
          <a:xfrm>
            <a:off x="7296912" y="3008376"/>
            <a:ext cx="813816"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80%</a:t>
            </a:r>
            <a:endParaRPr lang="en-US" sz="1250" dirty="0"/>
          </a:p>
        </p:txBody>
      </p:sp>
      <p:sp>
        <p:nvSpPr>
          <p:cNvPr id="42" name="Text 39"/>
          <p:cNvSpPr txBox="1"/>
          <p:nvPr/>
        </p:nvSpPr>
        <p:spPr>
          <a:xfrm>
            <a:off x="8257032" y="3008376"/>
            <a:ext cx="1088136" cy="310896"/>
          </a:xfrm>
          <a:prstGeom prst="rect">
            <a:avLst/>
          </a:prstGeom>
          <a:noFill/>
          <a:ln/>
        </p:spPr>
        <p:txBody>
          <a:bodyPr wrap="square" lIns="0" tIns="0" rIns="0" bIns="0" rtlCol="0" anchor="t"/>
          <a:lstStyle/>
          <a:p>
            <a:pPr algn="r" indent="0" marL="0">
              <a:buNone/>
            </a:pPr>
            <a:r>
              <a:rPr lang="en-US" sz="1250" b="1" dirty="0">
                <a:solidFill>
                  <a:srgbClr val="1C2622"/>
                </a:solidFill>
                <a:latin typeface="Malgun Gothic" pitchFamily="34" charset="0"/>
                <a:ea typeface="Malgun Gothic" pitchFamily="34" charset="-122"/>
                <a:cs typeface="Malgun Gothic" pitchFamily="34" charset="-120"/>
              </a:rPr>
              <a:t>21.6</a:t>
            </a:r>
            <a:endParaRPr lang="en-US" sz="1250" dirty="0"/>
          </a:p>
        </p:txBody>
      </p:sp>
      <p:sp>
        <p:nvSpPr>
          <p:cNvPr id="43" name="Text 40"/>
          <p:cNvSpPr txBox="1"/>
          <p:nvPr/>
        </p:nvSpPr>
        <p:spPr>
          <a:xfrm>
            <a:off x="9491472" y="3008376"/>
            <a:ext cx="950976" cy="310896"/>
          </a:xfrm>
          <a:prstGeom prst="rect">
            <a:avLst/>
          </a:prstGeom>
          <a:noFill/>
          <a:ln/>
        </p:spPr>
        <p:txBody>
          <a:bodyPr wrap="square" lIns="0" tIns="0" rIns="0" bIns="0" rtlCol="0" anchor="t"/>
          <a:lstStyle/>
          <a:p>
            <a:pPr algn="r" indent="0" marL="0">
              <a:buNone/>
            </a:pPr>
            <a:r>
              <a:rPr lang="en-US" sz="1250" dirty="0">
                <a:solidFill>
                  <a:srgbClr val="B7792F"/>
                </a:solidFill>
                <a:latin typeface="Malgun Gothic" pitchFamily="34" charset="0"/>
                <a:ea typeface="Malgun Gothic" pitchFamily="34" charset="-122"/>
                <a:cs typeface="Malgun Gothic" pitchFamily="34" charset="-120"/>
              </a:rPr>
              <a:t>67.1</a:t>
            </a:r>
            <a:endParaRPr lang="en-US" sz="1250" dirty="0"/>
          </a:p>
        </p:txBody>
      </p:sp>
      <p:sp>
        <p:nvSpPr>
          <p:cNvPr id="44" name="Text 41"/>
          <p:cNvSpPr txBox="1"/>
          <p:nvPr/>
        </p:nvSpPr>
        <p:spPr>
          <a:xfrm>
            <a:off x="10588752" y="3008376"/>
            <a:ext cx="1069848"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2,814</a:t>
            </a:r>
            <a:endParaRPr lang="en-US" sz="1250" dirty="0"/>
          </a:p>
        </p:txBody>
      </p:sp>
      <p:sp>
        <p:nvSpPr>
          <p:cNvPr id="45" name="Text 42"/>
          <p:cNvSpPr txBox="1"/>
          <p:nvPr/>
        </p:nvSpPr>
        <p:spPr>
          <a:xfrm>
            <a:off x="4782312" y="3575304"/>
            <a:ext cx="2368296" cy="310896"/>
          </a:xfrm>
          <a:prstGeom prst="rect">
            <a:avLst/>
          </a:prstGeom>
          <a:noFill/>
          <a:ln/>
        </p:spPr>
        <p:txBody>
          <a:bodyPr wrap="square" lIns="0" tIns="0" rIns="0" bIns="0" rtlCol="0" anchor="t"/>
          <a:lstStyle/>
          <a:p>
            <a:pPr algn="l" indent="0" marL="0">
              <a:buNone/>
            </a:pPr>
            <a:r>
              <a:rPr lang="en-US" sz="1150" b="1" dirty="0">
                <a:solidFill>
                  <a:srgbClr val="1C2622"/>
                </a:solidFill>
                <a:latin typeface="Malgun Gothic" pitchFamily="34" charset="0"/>
                <a:ea typeface="Malgun Gothic" pitchFamily="34" charset="-122"/>
                <a:cs typeface="Malgun Gothic" pitchFamily="34" charset="-120"/>
              </a:rPr>
              <a:t>서신동  다마65a59b</a:t>
            </a:r>
            <a:endParaRPr lang="en-US" sz="1150" dirty="0"/>
          </a:p>
        </p:txBody>
      </p:sp>
      <p:sp>
        <p:nvSpPr>
          <p:cNvPr id="46" name="Text 43"/>
          <p:cNvSpPr txBox="1"/>
          <p:nvPr/>
        </p:nvSpPr>
        <p:spPr>
          <a:xfrm>
            <a:off x="7296912" y="3575304"/>
            <a:ext cx="813816"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86%</a:t>
            </a:r>
            <a:endParaRPr lang="en-US" sz="1250" dirty="0"/>
          </a:p>
        </p:txBody>
      </p:sp>
      <p:sp>
        <p:nvSpPr>
          <p:cNvPr id="47" name="Text 44"/>
          <p:cNvSpPr txBox="1"/>
          <p:nvPr/>
        </p:nvSpPr>
        <p:spPr>
          <a:xfrm>
            <a:off x="8257032" y="3575304"/>
            <a:ext cx="1088136" cy="310896"/>
          </a:xfrm>
          <a:prstGeom prst="rect">
            <a:avLst/>
          </a:prstGeom>
          <a:noFill/>
          <a:ln/>
        </p:spPr>
        <p:txBody>
          <a:bodyPr wrap="square" lIns="0" tIns="0" rIns="0" bIns="0" rtlCol="0" anchor="t"/>
          <a:lstStyle/>
          <a:p>
            <a:pPr algn="r" indent="0" marL="0">
              <a:buNone/>
            </a:pPr>
            <a:r>
              <a:rPr lang="en-US" sz="1250" b="1" dirty="0">
                <a:solidFill>
                  <a:srgbClr val="1C2622"/>
                </a:solidFill>
                <a:latin typeface="Malgun Gothic" pitchFamily="34" charset="0"/>
                <a:ea typeface="Malgun Gothic" pitchFamily="34" charset="-122"/>
                <a:cs typeface="Malgun Gothic" pitchFamily="34" charset="-120"/>
              </a:rPr>
              <a:t>20.0</a:t>
            </a:r>
            <a:endParaRPr lang="en-US" sz="1250" dirty="0"/>
          </a:p>
        </p:txBody>
      </p:sp>
      <p:sp>
        <p:nvSpPr>
          <p:cNvPr id="48" name="Text 45"/>
          <p:cNvSpPr txBox="1"/>
          <p:nvPr/>
        </p:nvSpPr>
        <p:spPr>
          <a:xfrm>
            <a:off x="9491472" y="3575304"/>
            <a:ext cx="950976" cy="310896"/>
          </a:xfrm>
          <a:prstGeom prst="rect">
            <a:avLst/>
          </a:prstGeom>
          <a:noFill/>
          <a:ln/>
        </p:spPr>
        <p:txBody>
          <a:bodyPr wrap="square" lIns="0" tIns="0" rIns="0" bIns="0" rtlCol="0" anchor="t"/>
          <a:lstStyle/>
          <a:p>
            <a:pPr algn="r" indent="0" marL="0">
              <a:buNone/>
            </a:pPr>
            <a:r>
              <a:rPr lang="en-US" sz="1250" dirty="0">
                <a:solidFill>
                  <a:srgbClr val="B7792F"/>
                </a:solidFill>
                <a:latin typeface="Malgun Gothic" pitchFamily="34" charset="0"/>
                <a:ea typeface="Malgun Gothic" pitchFamily="34" charset="-122"/>
                <a:cs typeface="Malgun Gothic" pitchFamily="34" charset="-120"/>
              </a:rPr>
              <a:t>79.3</a:t>
            </a:r>
            <a:endParaRPr lang="en-US" sz="1250" dirty="0"/>
          </a:p>
        </p:txBody>
      </p:sp>
      <p:sp>
        <p:nvSpPr>
          <p:cNvPr id="49" name="Text 46"/>
          <p:cNvSpPr txBox="1"/>
          <p:nvPr/>
        </p:nvSpPr>
        <p:spPr>
          <a:xfrm>
            <a:off x="10588752" y="3575304"/>
            <a:ext cx="1069848"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3,306</a:t>
            </a:r>
            <a:endParaRPr lang="en-US" sz="1250" dirty="0"/>
          </a:p>
        </p:txBody>
      </p:sp>
      <p:sp>
        <p:nvSpPr>
          <p:cNvPr id="50" name="Shape 47"/>
          <p:cNvSpPr/>
          <p:nvPr/>
        </p:nvSpPr>
        <p:spPr>
          <a:xfrm>
            <a:off x="4709160" y="4023360"/>
            <a:ext cx="7022592" cy="530352"/>
          </a:xfrm>
          <a:prstGeom prst="rect">
            <a:avLst/>
          </a:prstGeom>
          <a:solidFill>
            <a:srgbClr val="F4F6F4"/>
          </a:solidFill>
          <a:ln w="12700">
            <a:solidFill>
              <a:srgbClr val="F4F6F4"/>
            </a:solidFill>
            <a:prstDash val="solid"/>
          </a:ln>
        </p:spPr>
      </p:sp>
      <p:sp>
        <p:nvSpPr>
          <p:cNvPr id="51" name="Text 48"/>
          <p:cNvSpPr txBox="1"/>
          <p:nvPr/>
        </p:nvSpPr>
        <p:spPr>
          <a:xfrm>
            <a:off x="4782312" y="4142232"/>
            <a:ext cx="2368296" cy="310896"/>
          </a:xfrm>
          <a:prstGeom prst="rect">
            <a:avLst/>
          </a:prstGeom>
          <a:noFill/>
          <a:ln/>
        </p:spPr>
        <p:txBody>
          <a:bodyPr wrap="square" lIns="0" tIns="0" rIns="0" bIns="0" rtlCol="0" anchor="t"/>
          <a:lstStyle/>
          <a:p>
            <a:pPr algn="l" indent="0" marL="0">
              <a:buNone/>
            </a:pPr>
            <a:r>
              <a:rPr lang="en-US" sz="1150" b="1" dirty="0">
                <a:solidFill>
                  <a:srgbClr val="1C2622"/>
                </a:solidFill>
                <a:latin typeface="Malgun Gothic" pitchFamily="34" charset="0"/>
                <a:ea typeface="Malgun Gothic" pitchFamily="34" charset="-122"/>
                <a:cs typeface="Malgun Gothic" pitchFamily="34" charset="-120"/>
              </a:rPr>
              <a:t>인후3동  다마69b59b</a:t>
            </a:r>
            <a:endParaRPr lang="en-US" sz="1150" dirty="0"/>
          </a:p>
        </p:txBody>
      </p:sp>
      <p:sp>
        <p:nvSpPr>
          <p:cNvPr id="52" name="Text 49"/>
          <p:cNvSpPr txBox="1"/>
          <p:nvPr/>
        </p:nvSpPr>
        <p:spPr>
          <a:xfrm>
            <a:off x="7296912" y="4142232"/>
            <a:ext cx="813816"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75%</a:t>
            </a:r>
            <a:endParaRPr lang="en-US" sz="1250" dirty="0"/>
          </a:p>
        </p:txBody>
      </p:sp>
      <p:sp>
        <p:nvSpPr>
          <p:cNvPr id="53" name="Text 50"/>
          <p:cNvSpPr txBox="1"/>
          <p:nvPr/>
        </p:nvSpPr>
        <p:spPr>
          <a:xfrm>
            <a:off x="8257032" y="4142232"/>
            <a:ext cx="1088136" cy="310896"/>
          </a:xfrm>
          <a:prstGeom prst="rect">
            <a:avLst/>
          </a:prstGeom>
          <a:noFill/>
          <a:ln/>
        </p:spPr>
        <p:txBody>
          <a:bodyPr wrap="square" lIns="0" tIns="0" rIns="0" bIns="0" rtlCol="0" anchor="t"/>
          <a:lstStyle/>
          <a:p>
            <a:pPr algn="r" indent="0" marL="0">
              <a:buNone/>
            </a:pPr>
            <a:r>
              <a:rPr lang="en-US" sz="1250" b="1" dirty="0">
                <a:solidFill>
                  <a:srgbClr val="1C2622"/>
                </a:solidFill>
                <a:latin typeface="Malgun Gothic" pitchFamily="34" charset="0"/>
                <a:ea typeface="Malgun Gothic" pitchFamily="34" charset="-122"/>
                <a:cs typeface="Malgun Gothic" pitchFamily="34" charset="-120"/>
              </a:rPr>
              <a:t>19.2</a:t>
            </a:r>
            <a:endParaRPr lang="en-US" sz="1250" dirty="0"/>
          </a:p>
        </p:txBody>
      </p:sp>
      <p:sp>
        <p:nvSpPr>
          <p:cNvPr id="54" name="Text 51"/>
          <p:cNvSpPr txBox="1"/>
          <p:nvPr/>
        </p:nvSpPr>
        <p:spPr>
          <a:xfrm>
            <a:off x="9491472" y="4142232"/>
            <a:ext cx="950976" cy="310896"/>
          </a:xfrm>
          <a:prstGeom prst="rect">
            <a:avLst/>
          </a:prstGeom>
          <a:noFill/>
          <a:ln/>
        </p:spPr>
        <p:txBody>
          <a:bodyPr wrap="square" lIns="0" tIns="0" rIns="0" bIns="0" rtlCol="0" anchor="t"/>
          <a:lstStyle/>
          <a:p>
            <a:pPr algn="r" indent="0" marL="0">
              <a:buNone/>
            </a:pPr>
            <a:r>
              <a:rPr lang="en-US" sz="1250" dirty="0">
                <a:solidFill>
                  <a:srgbClr val="B7792F"/>
                </a:solidFill>
                <a:latin typeface="Malgun Gothic" pitchFamily="34" charset="0"/>
                <a:ea typeface="Malgun Gothic" pitchFamily="34" charset="-122"/>
                <a:cs typeface="Malgun Gothic" pitchFamily="34" charset="-120"/>
              </a:rPr>
              <a:t>75.6</a:t>
            </a:r>
            <a:endParaRPr lang="en-US" sz="1250" dirty="0"/>
          </a:p>
        </p:txBody>
      </p:sp>
      <p:sp>
        <p:nvSpPr>
          <p:cNvPr id="55" name="Text 52"/>
          <p:cNvSpPr txBox="1"/>
          <p:nvPr/>
        </p:nvSpPr>
        <p:spPr>
          <a:xfrm>
            <a:off x="10588752" y="4142232"/>
            <a:ext cx="1069848"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2,023</a:t>
            </a:r>
            <a:endParaRPr lang="en-US" sz="1250" dirty="0"/>
          </a:p>
        </p:txBody>
      </p:sp>
      <p:sp>
        <p:nvSpPr>
          <p:cNvPr id="56" name="Shape 53"/>
          <p:cNvSpPr/>
          <p:nvPr/>
        </p:nvSpPr>
        <p:spPr>
          <a:xfrm>
            <a:off x="4709160" y="4709160"/>
            <a:ext cx="7022592" cy="1097280"/>
          </a:xfrm>
          <a:prstGeom prst="roundRect">
            <a:avLst>
              <a:gd name="adj" fmla="val 6667"/>
            </a:avLst>
          </a:prstGeom>
          <a:solidFill>
            <a:srgbClr val="E2EEE8"/>
          </a:solidFill>
          <a:ln w="9525">
            <a:solidFill>
              <a:srgbClr val="D9D7CE"/>
            </a:solidFill>
            <a:prstDash val="solid"/>
          </a:ln>
        </p:spPr>
      </p:sp>
      <p:sp>
        <p:nvSpPr>
          <p:cNvPr id="57" name="Text 54"/>
          <p:cNvSpPr txBox="1"/>
          <p:nvPr/>
        </p:nvSpPr>
        <p:spPr>
          <a:xfrm>
            <a:off x="4937760" y="4709160"/>
            <a:ext cx="6656832" cy="1097280"/>
          </a:xfrm>
          <a:prstGeom prst="rect">
            <a:avLst/>
          </a:prstGeom>
          <a:noFill/>
          <a:ln/>
        </p:spPr>
        <p:txBody>
          <a:bodyPr wrap="square" lIns="0" tIns="0" rIns="0" bIns="0" rtlCol="0" anchor="ctr"/>
          <a:lstStyle/>
          <a:p>
            <a:pPr indent="0" marL="0">
              <a:buNone/>
            </a:pPr>
            <a:r>
              <a:rPr lang="en-US" sz="1400" b="1" dirty="0">
                <a:solidFill>
                  <a:srgbClr val="2F5D50"/>
                </a:solidFill>
                <a:latin typeface="Malgun Gothic" pitchFamily="34" charset="0"/>
                <a:ea typeface="Malgun Gothic" pitchFamily="34" charset="-122"/>
                <a:cs typeface="Malgun Gothic" pitchFamily="34" charset="-120"/>
              </a:rPr>
              <a:t>상위 5곳 합계 106.2GWh/년  →  20% 절감 시 21.2GWh · 약 3,878tCO₂eq/년</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26</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활용 예시 7 · 태양광 사업자</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전력을 가장 많이 쓰는 곳은 어디?</a:t>
            </a:r>
            <a:endParaRPr lang="en-US" sz="2500" dirty="0"/>
          </a:p>
        </p:txBody>
      </p:sp>
      <p:sp>
        <p:nvSpPr>
          <p:cNvPr id="5" name="Shape 3"/>
          <p:cNvSpPr/>
          <p:nvPr/>
        </p:nvSpPr>
        <p:spPr>
          <a:xfrm>
            <a:off x="457200" y="1325880"/>
            <a:ext cx="3931920" cy="4572000"/>
          </a:xfrm>
          <a:prstGeom prst="roundRect">
            <a:avLst>
              <a:gd name="adj" fmla="val 1860"/>
            </a:avLst>
          </a:prstGeom>
          <a:solidFill>
            <a:srgbClr val="F4F6F4"/>
          </a:solidFill>
          <a:ln w="9525">
            <a:solidFill>
              <a:srgbClr val="D9D7CE"/>
            </a:solidFill>
            <a:prstDash val="solid"/>
          </a:ln>
        </p:spPr>
      </p:sp>
      <p:sp>
        <p:nvSpPr>
          <p:cNvPr id="6" name="Text 4"/>
          <p:cNvSpPr txBox="1"/>
          <p:nvPr/>
        </p:nvSpPr>
        <p:spPr>
          <a:xfrm>
            <a:off x="685800" y="1481328"/>
            <a:ext cx="34747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상황</a:t>
            </a:r>
            <a:endParaRPr lang="en-US" sz="1200" dirty="0"/>
          </a:p>
        </p:txBody>
      </p:sp>
      <p:sp>
        <p:nvSpPr>
          <p:cNvPr id="7" name="Text 5"/>
          <p:cNvSpPr txBox="1"/>
          <p:nvPr/>
        </p:nvSpPr>
        <p:spPr>
          <a:xfrm>
            <a:off x="685800" y="1783080"/>
            <a:ext cx="3520440" cy="1051560"/>
          </a:xfrm>
          <a:prstGeom prst="rect">
            <a:avLst/>
          </a:prstGeom>
          <a:noFill/>
          <a:ln/>
        </p:spPr>
        <p:txBody>
          <a:bodyPr wrap="square" lIns="0" tIns="0" rIns="0" bIns="0" rtlCol="0" anchor="t"/>
          <a:lstStyle/>
          <a:p>
            <a:pPr indent="0" marL="0">
              <a:lnSpc>
                <a:spcPct val="112000"/>
              </a:lnSpc>
              <a:buNone/>
            </a:pPr>
            <a:r>
              <a:rPr lang="en-US" sz="1150" dirty="0">
                <a:solidFill>
                  <a:srgbClr val="1C2622"/>
                </a:solidFill>
                <a:latin typeface="Malgun Gothic" pitchFamily="34" charset="0"/>
                <a:ea typeface="Malgun Gothic" pitchFamily="34" charset="-122"/>
                <a:cs typeface="Malgun Gothic" pitchFamily="34" charset="-120"/>
              </a:rPr>
              <a:t>지붕·주차장 태양광 영업 지역을 고른다. 건물 전체 전력(상가·업무·학교·대형 공동주택 포함)이 큰 격자부터 보고, 10% 상쇄에 필요한 설비 규모를 가늠한다.</a:t>
            </a:r>
            <a:endParaRPr lang="en-US" sz="1150" dirty="0"/>
          </a:p>
        </p:txBody>
      </p:sp>
      <p:sp>
        <p:nvSpPr>
          <p:cNvPr id="8" name="Text 6"/>
          <p:cNvSpPr txBox="1"/>
          <p:nvPr/>
        </p:nvSpPr>
        <p:spPr>
          <a:xfrm>
            <a:off x="685800" y="2907792"/>
            <a:ext cx="34747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입력</a:t>
            </a:r>
            <a:endParaRPr lang="en-US" sz="1200" dirty="0"/>
          </a:p>
        </p:txBody>
      </p:sp>
      <p:sp>
        <p:nvSpPr>
          <p:cNvPr id="9" name="Text 7"/>
          <p:cNvSpPr txBox="1"/>
          <p:nvPr/>
        </p:nvSpPr>
        <p:spPr>
          <a:xfrm>
            <a:off x="685800" y="3218688"/>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지표</a:t>
            </a:r>
            <a:endParaRPr lang="en-US" sz="1100" dirty="0"/>
          </a:p>
        </p:txBody>
      </p:sp>
      <p:sp>
        <p:nvSpPr>
          <p:cNvPr id="10" name="Text 8"/>
          <p:cNvSpPr txBox="1"/>
          <p:nvPr/>
        </p:nvSpPr>
        <p:spPr>
          <a:xfrm>
            <a:off x="2103120" y="3218688"/>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건물 전체 연간 전력 (2025)</a:t>
            </a:r>
            <a:endParaRPr lang="en-US" sz="1100" dirty="0"/>
          </a:p>
        </p:txBody>
      </p:sp>
      <p:sp>
        <p:nvSpPr>
          <p:cNvPr id="11" name="Text 9"/>
          <p:cNvSpPr txBox="1"/>
          <p:nvPr/>
        </p:nvSpPr>
        <p:spPr>
          <a:xfrm>
            <a:off x="685800" y="3547872"/>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범위</a:t>
            </a:r>
            <a:endParaRPr lang="en-US" sz="1100" dirty="0"/>
          </a:p>
        </p:txBody>
      </p:sp>
      <p:sp>
        <p:nvSpPr>
          <p:cNvPr id="12" name="Text 10"/>
          <p:cNvSpPr txBox="1"/>
          <p:nvPr/>
        </p:nvSpPr>
        <p:spPr>
          <a:xfrm>
            <a:off x="2103120" y="3547872"/>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전주 644개 격자</a:t>
            </a:r>
            <a:endParaRPr lang="en-US" sz="1100" dirty="0"/>
          </a:p>
        </p:txBody>
      </p:sp>
      <p:sp>
        <p:nvSpPr>
          <p:cNvPr id="13" name="Text 11"/>
          <p:cNvSpPr txBox="1"/>
          <p:nvPr/>
        </p:nvSpPr>
        <p:spPr>
          <a:xfrm>
            <a:off x="685800" y="3877056"/>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목표</a:t>
            </a:r>
            <a:endParaRPr lang="en-US" sz="1100" dirty="0"/>
          </a:p>
        </p:txBody>
      </p:sp>
      <p:sp>
        <p:nvSpPr>
          <p:cNvPr id="14" name="Text 12"/>
          <p:cNvSpPr txBox="1"/>
          <p:nvPr/>
        </p:nvSpPr>
        <p:spPr>
          <a:xfrm>
            <a:off x="2103120" y="3877056"/>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격자 전력의 10% 상쇄</a:t>
            </a:r>
            <a:endParaRPr lang="en-US" sz="1100" dirty="0"/>
          </a:p>
        </p:txBody>
      </p:sp>
      <p:sp>
        <p:nvSpPr>
          <p:cNvPr id="15" name="Text 13"/>
          <p:cNvSpPr txBox="1"/>
          <p:nvPr/>
        </p:nvSpPr>
        <p:spPr>
          <a:xfrm>
            <a:off x="685800" y="4206240"/>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발전량 가정</a:t>
            </a:r>
            <a:endParaRPr lang="en-US" sz="1100" dirty="0"/>
          </a:p>
        </p:txBody>
      </p:sp>
      <p:sp>
        <p:nvSpPr>
          <p:cNvPr id="16" name="Text 14"/>
          <p:cNvSpPr txBox="1"/>
          <p:nvPr/>
        </p:nvSpPr>
        <p:spPr>
          <a:xfrm>
            <a:off x="2103120" y="4206240"/>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kW당 연 1,300kWh</a:t>
            </a:r>
            <a:endParaRPr lang="en-US" sz="1100" dirty="0"/>
          </a:p>
        </p:txBody>
      </p:sp>
      <p:sp>
        <p:nvSpPr>
          <p:cNvPr id="17" name="Shape 15"/>
          <p:cNvSpPr/>
          <p:nvPr/>
        </p:nvSpPr>
        <p:spPr>
          <a:xfrm>
            <a:off x="685800" y="5440680"/>
            <a:ext cx="3474720" cy="310896"/>
          </a:xfrm>
          <a:prstGeom prst="roundRect">
            <a:avLst>
              <a:gd name="adj" fmla="val 17647"/>
            </a:avLst>
          </a:prstGeom>
          <a:solidFill>
            <a:srgbClr val="FFFFFF"/>
          </a:solidFill>
          <a:ln w="12700">
            <a:solidFill>
              <a:srgbClr val="FFFFFF"/>
            </a:solidFill>
            <a:prstDash val="solid"/>
          </a:ln>
        </p:spPr>
      </p:sp>
      <p:sp>
        <p:nvSpPr>
          <p:cNvPr id="18" name="Text 16"/>
          <p:cNvSpPr txBox="1"/>
          <p:nvPr/>
        </p:nvSpPr>
        <p:spPr>
          <a:xfrm>
            <a:off x="685800" y="5440680"/>
            <a:ext cx="3474720" cy="310896"/>
          </a:xfrm>
          <a:prstGeom prst="rect">
            <a:avLst/>
          </a:prstGeom>
          <a:noFill/>
          <a:ln/>
        </p:spPr>
        <p:txBody>
          <a:bodyPr wrap="square" lIns="0" tIns="0" rIns="0" bIns="0" rtlCol="0" anchor="ctr"/>
          <a:lstStyle/>
          <a:p>
            <a:pPr algn="ctr" indent="0" marL="0">
              <a:buNone/>
            </a:pPr>
            <a:r>
              <a:rPr lang="en-US" sz="1050" b="1" dirty="0">
                <a:solidFill>
                  <a:srgbClr val="2F5D50"/>
                </a:solidFill>
                <a:latin typeface="Malgun Gothic" pitchFamily="34" charset="0"/>
                <a:ea typeface="Malgun Gothic" pitchFamily="34" charset="-122"/>
                <a:cs typeface="Malgun Gothic" pitchFamily="34" charset="-120"/>
              </a:rPr>
              <a:t>메뉴: 지도 분석 (건물 전체 에너지)</a:t>
            </a:r>
            <a:endParaRPr lang="en-US" sz="1050" dirty="0"/>
          </a:p>
        </p:txBody>
      </p:sp>
      <p:sp>
        <p:nvSpPr>
          <p:cNvPr id="19" name="Shape 17"/>
          <p:cNvSpPr/>
          <p:nvPr/>
        </p:nvSpPr>
        <p:spPr>
          <a:xfrm>
            <a:off x="457200" y="5989320"/>
            <a:ext cx="11274552" cy="411480"/>
          </a:xfrm>
          <a:prstGeom prst="roundRect">
            <a:avLst>
              <a:gd name="adj" fmla="val 13333"/>
            </a:avLst>
          </a:prstGeom>
          <a:solidFill>
            <a:srgbClr val="1F3A33"/>
          </a:solidFill>
          <a:ln w="12700">
            <a:solidFill>
              <a:srgbClr val="1F3A33"/>
            </a:solidFill>
            <a:prstDash val="solid"/>
          </a:ln>
        </p:spPr>
      </p:sp>
      <p:sp>
        <p:nvSpPr>
          <p:cNvPr id="20" name="Text 18"/>
          <p:cNvSpPr txBox="1"/>
          <p:nvPr/>
        </p:nvSpPr>
        <p:spPr>
          <a:xfrm>
            <a:off x="640080" y="5989320"/>
            <a:ext cx="10972800" cy="411480"/>
          </a:xfrm>
          <a:prstGeom prst="rect">
            <a:avLst/>
          </a:prstGeom>
          <a:noFill/>
          <a:ln/>
        </p:spPr>
        <p:txBody>
          <a:bodyPr wrap="square" lIns="0" tIns="0" rIns="0" bIns="0" rtlCol="0" anchor="ctr"/>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상위 5개 격자가 전주 계측 건물 전력의 8.4% · 한 격자 10% 상쇄에 약 2.5~3.1MW → 대형 건물 많은 격자부터 현장 조사</a:t>
            </a:r>
            <a:endParaRPr lang="en-US" sz="1250" dirty="0"/>
          </a:p>
        </p:txBody>
      </p:sp>
      <p:sp>
        <p:nvSpPr>
          <p:cNvPr id="21" name="Text 19"/>
          <p:cNvSpPr txBox="1"/>
          <p:nvPr/>
        </p:nvSpPr>
        <p:spPr>
          <a:xfrm>
            <a:off x="4572000" y="6473952"/>
            <a:ext cx="715975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건축HUB 계측 지번(단독주택·소규모 공동주택 제외) · 설치 가능 면적은 현장 확인 필요</a:t>
            </a:r>
            <a:endParaRPr lang="en-US" sz="900" dirty="0"/>
          </a:p>
        </p:txBody>
      </p:sp>
      <p:sp>
        <p:nvSpPr>
          <p:cNvPr id="23" name="Text 20"/>
          <p:cNvSpPr txBox="1"/>
          <p:nvPr/>
        </p:nvSpPr>
        <p:spPr>
          <a:xfrm>
            <a:off x="4782312" y="1417320"/>
            <a:ext cx="2240280" cy="274320"/>
          </a:xfrm>
          <a:prstGeom prst="rect">
            <a:avLst/>
          </a:prstGeom>
          <a:noFill/>
          <a:ln/>
        </p:spPr>
        <p:txBody>
          <a:bodyPr wrap="square" lIns="0" tIns="0" rIns="0" bIns="0" rtlCol="0" anchor="t"/>
          <a:lstStyle/>
          <a:p>
            <a:pPr algn="l" indent="0" marL="0">
              <a:buNone/>
            </a:pPr>
            <a:r>
              <a:rPr lang="en-US" sz="1100" b="1" dirty="0">
                <a:solidFill>
                  <a:srgbClr val="6B746E"/>
                </a:solidFill>
                <a:latin typeface="Malgun Gothic" pitchFamily="34" charset="0"/>
                <a:ea typeface="Malgun Gothic" pitchFamily="34" charset="-122"/>
                <a:cs typeface="Malgun Gothic" pitchFamily="34" charset="-120"/>
              </a:rPr>
              <a:t>격자 (행정동)</a:t>
            </a:r>
            <a:endParaRPr lang="en-US" sz="1100" dirty="0"/>
          </a:p>
        </p:txBody>
      </p:sp>
      <p:sp>
        <p:nvSpPr>
          <p:cNvPr id="24" name="Text 21"/>
          <p:cNvSpPr txBox="1"/>
          <p:nvPr/>
        </p:nvSpPr>
        <p:spPr>
          <a:xfrm>
            <a:off x="7114032" y="1417320"/>
            <a:ext cx="1097280" cy="274320"/>
          </a:xfrm>
          <a:prstGeom prst="rect">
            <a:avLst/>
          </a:prstGeom>
          <a:noFill/>
          <a:ln/>
        </p:spPr>
        <p:txBody>
          <a:bodyPr wrap="square" lIns="0" tIns="0" rIns="0" bIns="0" rtlCol="0" anchor="t"/>
          <a:lstStyle/>
          <a:p>
            <a:pPr algn="r" indent="0" marL="0">
              <a:buNone/>
            </a:pPr>
            <a:r>
              <a:rPr lang="en-US" sz="1100" b="1" dirty="0">
                <a:solidFill>
                  <a:srgbClr val="6B746E"/>
                </a:solidFill>
                <a:latin typeface="Malgun Gothic" pitchFamily="34" charset="0"/>
                <a:ea typeface="Malgun Gothic" pitchFamily="34" charset="-122"/>
                <a:cs typeface="Malgun Gothic" pitchFamily="34" charset="-120"/>
              </a:rPr>
              <a:t>전력 GWh</a:t>
            </a:r>
            <a:endParaRPr lang="en-US" sz="1100" dirty="0"/>
          </a:p>
        </p:txBody>
      </p:sp>
      <p:sp>
        <p:nvSpPr>
          <p:cNvPr id="25" name="Text 22"/>
          <p:cNvSpPr txBox="1"/>
          <p:nvPr/>
        </p:nvSpPr>
        <p:spPr>
          <a:xfrm>
            <a:off x="8302752" y="1417320"/>
            <a:ext cx="1097280" cy="274320"/>
          </a:xfrm>
          <a:prstGeom prst="rect">
            <a:avLst/>
          </a:prstGeom>
          <a:noFill/>
          <a:ln/>
        </p:spPr>
        <p:txBody>
          <a:bodyPr wrap="square" lIns="0" tIns="0" rIns="0" bIns="0" rtlCol="0" anchor="t"/>
          <a:lstStyle/>
          <a:p>
            <a:pPr algn="r" indent="0" marL="0">
              <a:buNone/>
            </a:pPr>
            <a:r>
              <a:rPr lang="en-US" sz="1100" b="1" dirty="0">
                <a:solidFill>
                  <a:srgbClr val="6B746E"/>
                </a:solidFill>
                <a:latin typeface="Malgun Gothic" pitchFamily="34" charset="0"/>
                <a:ea typeface="Malgun Gothic" pitchFamily="34" charset="-122"/>
                <a:cs typeface="Malgun Gothic" pitchFamily="34" charset="-120"/>
              </a:rPr>
              <a:t>탄소 t</a:t>
            </a:r>
            <a:endParaRPr lang="en-US" sz="1100" dirty="0"/>
          </a:p>
        </p:txBody>
      </p:sp>
      <p:sp>
        <p:nvSpPr>
          <p:cNvPr id="26" name="Text 23"/>
          <p:cNvSpPr txBox="1"/>
          <p:nvPr/>
        </p:nvSpPr>
        <p:spPr>
          <a:xfrm>
            <a:off x="9491472" y="1417320"/>
            <a:ext cx="1005840" cy="274320"/>
          </a:xfrm>
          <a:prstGeom prst="rect">
            <a:avLst/>
          </a:prstGeom>
          <a:noFill/>
          <a:ln/>
        </p:spPr>
        <p:txBody>
          <a:bodyPr wrap="square" lIns="0" tIns="0" rIns="0" bIns="0" rtlCol="0" anchor="t"/>
          <a:lstStyle/>
          <a:p>
            <a:pPr algn="r" indent="0" marL="0">
              <a:buNone/>
            </a:pPr>
            <a:r>
              <a:rPr lang="en-US" sz="1100" b="1" dirty="0">
                <a:solidFill>
                  <a:srgbClr val="6B746E"/>
                </a:solidFill>
                <a:latin typeface="Malgun Gothic" pitchFamily="34" charset="0"/>
                <a:ea typeface="Malgun Gothic" pitchFamily="34" charset="-122"/>
                <a:cs typeface="Malgun Gothic" pitchFamily="34" charset="-120"/>
              </a:rPr>
              <a:t>계측 지번</a:t>
            </a:r>
            <a:endParaRPr lang="en-US" sz="1100" dirty="0"/>
          </a:p>
        </p:txBody>
      </p:sp>
      <p:sp>
        <p:nvSpPr>
          <p:cNvPr id="27" name="Text 24"/>
          <p:cNvSpPr txBox="1"/>
          <p:nvPr/>
        </p:nvSpPr>
        <p:spPr>
          <a:xfrm>
            <a:off x="10588752" y="1417320"/>
            <a:ext cx="1124712" cy="274320"/>
          </a:xfrm>
          <a:prstGeom prst="rect">
            <a:avLst/>
          </a:prstGeom>
          <a:noFill/>
          <a:ln/>
        </p:spPr>
        <p:txBody>
          <a:bodyPr wrap="square" lIns="0" tIns="0" rIns="0" bIns="0" rtlCol="0" anchor="t"/>
          <a:lstStyle/>
          <a:p>
            <a:pPr algn="r" indent="0" marL="0">
              <a:buNone/>
            </a:pPr>
            <a:r>
              <a:rPr lang="en-US" sz="1100" b="1" dirty="0">
                <a:solidFill>
                  <a:srgbClr val="6B746E"/>
                </a:solidFill>
                <a:latin typeface="Malgun Gothic" pitchFamily="34" charset="0"/>
                <a:ea typeface="Malgun Gothic" pitchFamily="34" charset="-122"/>
                <a:cs typeface="Malgun Gothic" pitchFamily="34" charset="-120"/>
              </a:rPr>
              <a:t>10% 상쇄 kW</a:t>
            </a:r>
            <a:endParaRPr lang="en-US" sz="1100" dirty="0"/>
          </a:p>
        </p:txBody>
      </p:sp>
      <p:sp>
        <p:nvSpPr>
          <p:cNvPr id="28" name="Shape 25"/>
          <p:cNvSpPr/>
          <p:nvPr/>
        </p:nvSpPr>
        <p:spPr>
          <a:xfrm>
            <a:off x="4709160" y="1755648"/>
            <a:ext cx="7022592" cy="530352"/>
          </a:xfrm>
          <a:prstGeom prst="rect">
            <a:avLst/>
          </a:prstGeom>
          <a:solidFill>
            <a:srgbClr val="F4F6F4"/>
          </a:solidFill>
          <a:ln w="12700">
            <a:solidFill>
              <a:srgbClr val="F4F6F4"/>
            </a:solidFill>
            <a:prstDash val="solid"/>
          </a:ln>
        </p:spPr>
      </p:sp>
      <p:sp>
        <p:nvSpPr>
          <p:cNvPr id="29" name="Text 26"/>
          <p:cNvSpPr txBox="1"/>
          <p:nvPr/>
        </p:nvSpPr>
        <p:spPr>
          <a:xfrm>
            <a:off x="4782312" y="1874520"/>
            <a:ext cx="2185416" cy="310896"/>
          </a:xfrm>
          <a:prstGeom prst="rect">
            <a:avLst/>
          </a:prstGeom>
          <a:noFill/>
          <a:ln/>
        </p:spPr>
        <p:txBody>
          <a:bodyPr wrap="square" lIns="0" tIns="0" rIns="0" bIns="0" rtlCol="0" anchor="t"/>
          <a:lstStyle/>
          <a:p>
            <a:pPr algn="l" indent="0" marL="0">
              <a:buNone/>
            </a:pPr>
            <a:r>
              <a:rPr lang="en-US" sz="1150" b="1" dirty="0">
                <a:solidFill>
                  <a:srgbClr val="1C2622"/>
                </a:solidFill>
                <a:latin typeface="Malgun Gothic" pitchFamily="34" charset="0"/>
                <a:ea typeface="Malgun Gothic" pitchFamily="34" charset="-122"/>
                <a:cs typeface="Malgun Gothic" pitchFamily="34" charset="-120"/>
              </a:rPr>
              <a:t>송천2동  다마64a64a</a:t>
            </a:r>
            <a:endParaRPr lang="en-US" sz="1150" dirty="0"/>
          </a:p>
        </p:txBody>
      </p:sp>
      <p:sp>
        <p:nvSpPr>
          <p:cNvPr id="30" name="Text 27"/>
          <p:cNvSpPr txBox="1"/>
          <p:nvPr/>
        </p:nvSpPr>
        <p:spPr>
          <a:xfrm>
            <a:off x="7114032" y="1874520"/>
            <a:ext cx="1042416"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40.6</a:t>
            </a:r>
            <a:endParaRPr lang="en-US" sz="1250" dirty="0"/>
          </a:p>
        </p:txBody>
      </p:sp>
      <p:sp>
        <p:nvSpPr>
          <p:cNvPr id="31" name="Text 28"/>
          <p:cNvSpPr txBox="1"/>
          <p:nvPr/>
        </p:nvSpPr>
        <p:spPr>
          <a:xfrm>
            <a:off x="8302752" y="1874520"/>
            <a:ext cx="1042416"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18,420</a:t>
            </a:r>
            <a:endParaRPr lang="en-US" sz="1250" dirty="0"/>
          </a:p>
        </p:txBody>
      </p:sp>
      <p:sp>
        <p:nvSpPr>
          <p:cNvPr id="32" name="Text 29"/>
          <p:cNvSpPr txBox="1"/>
          <p:nvPr/>
        </p:nvSpPr>
        <p:spPr>
          <a:xfrm>
            <a:off x="9491472" y="1874520"/>
            <a:ext cx="950976"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7</a:t>
            </a:r>
            <a:endParaRPr lang="en-US" sz="1250" dirty="0"/>
          </a:p>
        </p:txBody>
      </p:sp>
      <p:sp>
        <p:nvSpPr>
          <p:cNvPr id="33" name="Text 30"/>
          <p:cNvSpPr txBox="1"/>
          <p:nvPr/>
        </p:nvSpPr>
        <p:spPr>
          <a:xfrm>
            <a:off x="10588752" y="1874520"/>
            <a:ext cx="1069848" cy="310896"/>
          </a:xfrm>
          <a:prstGeom prst="rect">
            <a:avLst/>
          </a:prstGeom>
          <a:noFill/>
          <a:ln/>
        </p:spPr>
        <p:txBody>
          <a:bodyPr wrap="square" lIns="0" tIns="0" rIns="0" bIns="0" rtlCol="0" anchor="t"/>
          <a:lstStyle/>
          <a:p>
            <a:pPr algn="r" indent="0" marL="0">
              <a:buNone/>
            </a:pPr>
            <a:r>
              <a:rPr lang="en-US" sz="1250" b="1" dirty="0">
                <a:solidFill>
                  <a:srgbClr val="1F7A55"/>
                </a:solidFill>
                <a:latin typeface="Malgun Gothic" pitchFamily="34" charset="0"/>
                <a:ea typeface="Malgun Gothic" pitchFamily="34" charset="-122"/>
                <a:cs typeface="Malgun Gothic" pitchFamily="34" charset="-120"/>
              </a:rPr>
              <a:t>3,120</a:t>
            </a:r>
            <a:endParaRPr lang="en-US" sz="1250" dirty="0"/>
          </a:p>
        </p:txBody>
      </p:sp>
      <p:sp>
        <p:nvSpPr>
          <p:cNvPr id="34" name="Text 31"/>
          <p:cNvSpPr txBox="1"/>
          <p:nvPr/>
        </p:nvSpPr>
        <p:spPr>
          <a:xfrm>
            <a:off x="4782312" y="2441448"/>
            <a:ext cx="2185416" cy="310896"/>
          </a:xfrm>
          <a:prstGeom prst="rect">
            <a:avLst/>
          </a:prstGeom>
          <a:noFill/>
          <a:ln/>
        </p:spPr>
        <p:txBody>
          <a:bodyPr wrap="square" lIns="0" tIns="0" rIns="0" bIns="0" rtlCol="0" anchor="t"/>
          <a:lstStyle/>
          <a:p>
            <a:pPr algn="l" indent="0" marL="0">
              <a:buNone/>
            </a:pPr>
            <a:r>
              <a:rPr lang="en-US" sz="1150" b="1" dirty="0">
                <a:solidFill>
                  <a:srgbClr val="1C2622"/>
                </a:solidFill>
                <a:latin typeface="Malgun Gothic" pitchFamily="34" charset="0"/>
                <a:ea typeface="Malgun Gothic" pitchFamily="34" charset="-122"/>
                <a:cs typeface="Malgun Gothic" pitchFamily="34" charset="-120"/>
              </a:rPr>
              <a:t>효자5동  다마64b57b</a:t>
            </a:r>
            <a:endParaRPr lang="en-US" sz="1150" dirty="0"/>
          </a:p>
        </p:txBody>
      </p:sp>
      <p:sp>
        <p:nvSpPr>
          <p:cNvPr id="35" name="Text 32"/>
          <p:cNvSpPr txBox="1"/>
          <p:nvPr/>
        </p:nvSpPr>
        <p:spPr>
          <a:xfrm>
            <a:off x="7114032" y="2441448"/>
            <a:ext cx="1042416"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38.4</a:t>
            </a:r>
            <a:endParaRPr lang="en-US" sz="1250" dirty="0"/>
          </a:p>
        </p:txBody>
      </p:sp>
      <p:sp>
        <p:nvSpPr>
          <p:cNvPr id="36" name="Text 33"/>
          <p:cNvSpPr txBox="1"/>
          <p:nvPr/>
        </p:nvSpPr>
        <p:spPr>
          <a:xfrm>
            <a:off x="8302752" y="2441448"/>
            <a:ext cx="1042416"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17,440</a:t>
            </a:r>
            <a:endParaRPr lang="en-US" sz="1250" dirty="0"/>
          </a:p>
        </p:txBody>
      </p:sp>
      <p:sp>
        <p:nvSpPr>
          <p:cNvPr id="37" name="Text 34"/>
          <p:cNvSpPr txBox="1"/>
          <p:nvPr/>
        </p:nvSpPr>
        <p:spPr>
          <a:xfrm>
            <a:off x="9491472" y="2441448"/>
            <a:ext cx="950976"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111</a:t>
            </a:r>
            <a:endParaRPr lang="en-US" sz="1250" dirty="0"/>
          </a:p>
        </p:txBody>
      </p:sp>
      <p:sp>
        <p:nvSpPr>
          <p:cNvPr id="38" name="Text 35"/>
          <p:cNvSpPr txBox="1"/>
          <p:nvPr/>
        </p:nvSpPr>
        <p:spPr>
          <a:xfrm>
            <a:off x="10588752" y="2441448"/>
            <a:ext cx="1069848" cy="310896"/>
          </a:xfrm>
          <a:prstGeom prst="rect">
            <a:avLst/>
          </a:prstGeom>
          <a:noFill/>
          <a:ln/>
        </p:spPr>
        <p:txBody>
          <a:bodyPr wrap="square" lIns="0" tIns="0" rIns="0" bIns="0" rtlCol="0" anchor="t"/>
          <a:lstStyle/>
          <a:p>
            <a:pPr algn="r" indent="0" marL="0">
              <a:buNone/>
            </a:pPr>
            <a:r>
              <a:rPr lang="en-US" sz="1250" b="1" dirty="0">
                <a:solidFill>
                  <a:srgbClr val="1F7A55"/>
                </a:solidFill>
                <a:latin typeface="Malgun Gothic" pitchFamily="34" charset="0"/>
                <a:ea typeface="Malgun Gothic" pitchFamily="34" charset="-122"/>
                <a:cs typeface="Malgun Gothic" pitchFamily="34" charset="-120"/>
              </a:rPr>
              <a:t>2,954</a:t>
            </a:r>
            <a:endParaRPr lang="en-US" sz="1250" dirty="0"/>
          </a:p>
        </p:txBody>
      </p:sp>
      <p:sp>
        <p:nvSpPr>
          <p:cNvPr id="39" name="Shape 36"/>
          <p:cNvSpPr/>
          <p:nvPr/>
        </p:nvSpPr>
        <p:spPr>
          <a:xfrm>
            <a:off x="4709160" y="2889504"/>
            <a:ext cx="7022592" cy="530352"/>
          </a:xfrm>
          <a:prstGeom prst="rect">
            <a:avLst/>
          </a:prstGeom>
          <a:solidFill>
            <a:srgbClr val="F4F6F4"/>
          </a:solidFill>
          <a:ln w="12700">
            <a:solidFill>
              <a:srgbClr val="F4F6F4"/>
            </a:solidFill>
            <a:prstDash val="solid"/>
          </a:ln>
        </p:spPr>
      </p:sp>
      <p:sp>
        <p:nvSpPr>
          <p:cNvPr id="40" name="Text 37"/>
          <p:cNvSpPr txBox="1"/>
          <p:nvPr/>
        </p:nvSpPr>
        <p:spPr>
          <a:xfrm>
            <a:off x="4782312" y="3008376"/>
            <a:ext cx="2185416" cy="310896"/>
          </a:xfrm>
          <a:prstGeom prst="rect">
            <a:avLst/>
          </a:prstGeom>
          <a:noFill/>
          <a:ln/>
        </p:spPr>
        <p:txBody>
          <a:bodyPr wrap="square" lIns="0" tIns="0" rIns="0" bIns="0" rtlCol="0" anchor="t"/>
          <a:lstStyle/>
          <a:p>
            <a:pPr algn="l" indent="0" marL="0">
              <a:buNone/>
            </a:pPr>
            <a:r>
              <a:rPr lang="en-US" sz="1150" b="1" dirty="0">
                <a:solidFill>
                  <a:srgbClr val="1C2622"/>
                </a:solidFill>
                <a:latin typeface="Malgun Gothic" pitchFamily="34" charset="0"/>
                <a:ea typeface="Malgun Gothic" pitchFamily="34" charset="-122"/>
                <a:cs typeface="Malgun Gothic" pitchFamily="34" charset="-120"/>
              </a:rPr>
              <a:t>혁신동  다마60a60a</a:t>
            </a:r>
            <a:endParaRPr lang="en-US" sz="1150" dirty="0"/>
          </a:p>
        </p:txBody>
      </p:sp>
      <p:sp>
        <p:nvSpPr>
          <p:cNvPr id="41" name="Text 38"/>
          <p:cNvSpPr txBox="1"/>
          <p:nvPr/>
        </p:nvSpPr>
        <p:spPr>
          <a:xfrm>
            <a:off x="7114032" y="3008376"/>
            <a:ext cx="1042416"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34.4</a:t>
            </a:r>
            <a:endParaRPr lang="en-US" sz="1250" dirty="0"/>
          </a:p>
        </p:txBody>
      </p:sp>
      <p:sp>
        <p:nvSpPr>
          <p:cNvPr id="42" name="Text 39"/>
          <p:cNvSpPr txBox="1"/>
          <p:nvPr/>
        </p:nvSpPr>
        <p:spPr>
          <a:xfrm>
            <a:off x="8302752" y="3008376"/>
            <a:ext cx="1042416"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15,643</a:t>
            </a:r>
            <a:endParaRPr lang="en-US" sz="1250" dirty="0"/>
          </a:p>
        </p:txBody>
      </p:sp>
      <p:sp>
        <p:nvSpPr>
          <p:cNvPr id="43" name="Text 40"/>
          <p:cNvSpPr txBox="1"/>
          <p:nvPr/>
        </p:nvSpPr>
        <p:spPr>
          <a:xfrm>
            <a:off x="9491472" y="3008376"/>
            <a:ext cx="950976"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78</a:t>
            </a:r>
            <a:endParaRPr lang="en-US" sz="1250" dirty="0"/>
          </a:p>
        </p:txBody>
      </p:sp>
      <p:sp>
        <p:nvSpPr>
          <p:cNvPr id="44" name="Text 41"/>
          <p:cNvSpPr txBox="1"/>
          <p:nvPr/>
        </p:nvSpPr>
        <p:spPr>
          <a:xfrm>
            <a:off x="10588752" y="3008376"/>
            <a:ext cx="1069848" cy="310896"/>
          </a:xfrm>
          <a:prstGeom prst="rect">
            <a:avLst/>
          </a:prstGeom>
          <a:noFill/>
          <a:ln/>
        </p:spPr>
        <p:txBody>
          <a:bodyPr wrap="square" lIns="0" tIns="0" rIns="0" bIns="0" rtlCol="0" anchor="t"/>
          <a:lstStyle/>
          <a:p>
            <a:pPr algn="r" indent="0" marL="0">
              <a:buNone/>
            </a:pPr>
            <a:r>
              <a:rPr lang="en-US" sz="1250" b="1" dirty="0">
                <a:solidFill>
                  <a:srgbClr val="1F7A55"/>
                </a:solidFill>
                <a:latin typeface="Malgun Gothic" pitchFamily="34" charset="0"/>
                <a:ea typeface="Malgun Gothic" pitchFamily="34" charset="-122"/>
                <a:cs typeface="Malgun Gothic" pitchFamily="34" charset="-120"/>
              </a:rPr>
              <a:t>2,650</a:t>
            </a:r>
            <a:endParaRPr lang="en-US" sz="1250" dirty="0"/>
          </a:p>
        </p:txBody>
      </p:sp>
      <p:sp>
        <p:nvSpPr>
          <p:cNvPr id="45" name="Text 42"/>
          <p:cNvSpPr txBox="1"/>
          <p:nvPr/>
        </p:nvSpPr>
        <p:spPr>
          <a:xfrm>
            <a:off x="4782312" y="3575304"/>
            <a:ext cx="2185416" cy="310896"/>
          </a:xfrm>
          <a:prstGeom prst="rect">
            <a:avLst/>
          </a:prstGeom>
          <a:noFill/>
          <a:ln/>
        </p:spPr>
        <p:txBody>
          <a:bodyPr wrap="square" lIns="0" tIns="0" rIns="0" bIns="0" rtlCol="0" anchor="t"/>
          <a:lstStyle/>
          <a:p>
            <a:pPr algn="l" indent="0" marL="0">
              <a:buNone/>
            </a:pPr>
            <a:r>
              <a:rPr lang="en-US" sz="1150" b="1" dirty="0">
                <a:solidFill>
                  <a:srgbClr val="1C2622"/>
                </a:solidFill>
                <a:latin typeface="Malgun Gothic" pitchFamily="34" charset="0"/>
                <a:ea typeface="Malgun Gothic" pitchFamily="34" charset="-122"/>
                <a:cs typeface="Malgun Gothic" pitchFamily="34" charset="-120"/>
              </a:rPr>
              <a:t>효자5동  다마64a57b</a:t>
            </a:r>
            <a:endParaRPr lang="en-US" sz="1150" dirty="0"/>
          </a:p>
        </p:txBody>
      </p:sp>
      <p:sp>
        <p:nvSpPr>
          <p:cNvPr id="46" name="Text 43"/>
          <p:cNvSpPr txBox="1"/>
          <p:nvPr/>
        </p:nvSpPr>
        <p:spPr>
          <a:xfrm>
            <a:off x="7114032" y="3575304"/>
            <a:ext cx="1042416"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33.0</a:t>
            </a:r>
            <a:endParaRPr lang="en-US" sz="1250" dirty="0"/>
          </a:p>
        </p:txBody>
      </p:sp>
      <p:sp>
        <p:nvSpPr>
          <p:cNvPr id="47" name="Text 44"/>
          <p:cNvSpPr txBox="1"/>
          <p:nvPr/>
        </p:nvSpPr>
        <p:spPr>
          <a:xfrm>
            <a:off x="8302752" y="3575304"/>
            <a:ext cx="1042416"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14,989</a:t>
            </a:r>
            <a:endParaRPr lang="en-US" sz="1250" dirty="0"/>
          </a:p>
        </p:txBody>
      </p:sp>
      <p:sp>
        <p:nvSpPr>
          <p:cNvPr id="48" name="Text 45"/>
          <p:cNvSpPr txBox="1"/>
          <p:nvPr/>
        </p:nvSpPr>
        <p:spPr>
          <a:xfrm>
            <a:off x="9491472" y="3575304"/>
            <a:ext cx="950976"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82</a:t>
            </a:r>
            <a:endParaRPr lang="en-US" sz="1250" dirty="0"/>
          </a:p>
        </p:txBody>
      </p:sp>
      <p:sp>
        <p:nvSpPr>
          <p:cNvPr id="49" name="Text 46"/>
          <p:cNvSpPr txBox="1"/>
          <p:nvPr/>
        </p:nvSpPr>
        <p:spPr>
          <a:xfrm>
            <a:off x="10588752" y="3575304"/>
            <a:ext cx="1069848" cy="310896"/>
          </a:xfrm>
          <a:prstGeom prst="rect">
            <a:avLst/>
          </a:prstGeom>
          <a:noFill/>
          <a:ln/>
        </p:spPr>
        <p:txBody>
          <a:bodyPr wrap="square" lIns="0" tIns="0" rIns="0" bIns="0" rtlCol="0" anchor="t"/>
          <a:lstStyle/>
          <a:p>
            <a:pPr algn="r" indent="0" marL="0">
              <a:buNone/>
            </a:pPr>
            <a:r>
              <a:rPr lang="en-US" sz="1250" b="1" dirty="0">
                <a:solidFill>
                  <a:srgbClr val="1F7A55"/>
                </a:solidFill>
                <a:latin typeface="Malgun Gothic" pitchFamily="34" charset="0"/>
                <a:ea typeface="Malgun Gothic" pitchFamily="34" charset="-122"/>
                <a:cs typeface="Malgun Gothic" pitchFamily="34" charset="-120"/>
              </a:rPr>
              <a:t>2,539</a:t>
            </a:r>
            <a:endParaRPr lang="en-US" sz="1250" dirty="0"/>
          </a:p>
        </p:txBody>
      </p:sp>
      <p:sp>
        <p:nvSpPr>
          <p:cNvPr id="50" name="Shape 47"/>
          <p:cNvSpPr/>
          <p:nvPr/>
        </p:nvSpPr>
        <p:spPr>
          <a:xfrm>
            <a:off x="4709160" y="4023360"/>
            <a:ext cx="7022592" cy="530352"/>
          </a:xfrm>
          <a:prstGeom prst="rect">
            <a:avLst/>
          </a:prstGeom>
          <a:solidFill>
            <a:srgbClr val="F4F6F4"/>
          </a:solidFill>
          <a:ln w="12700">
            <a:solidFill>
              <a:srgbClr val="F4F6F4"/>
            </a:solidFill>
            <a:prstDash val="solid"/>
          </a:ln>
        </p:spPr>
      </p:sp>
      <p:sp>
        <p:nvSpPr>
          <p:cNvPr id="51" name="Text 48"/>
          <p:cNvSpPr txBox="1"/>
          <p:nvPr/>
        </p:nvSpPr>
        <p:spPr>
          <a:xfrm>
            <a:off x="4782312" y="4142232"/>
            <a:ext cx="2185416" cy="310896"/>
          </a:xfrm>
          <a:prstGeom prst="rect">
            <a:avLst/>
          </a:prstGeom>
          <a:noFill/>
          <a:ln/>
        </p:spPr>
        <p:txBody>
          <a:bodyPr wrap="square" lIns="0" tIns="0" rIns="0" bIns="0" rtlCol="0" anchor="t"/>
          <a:lstStyle/>
          <a:p>
            <a:pPr algn="l" indent="0" marL="0">
              <a:buNone/>
            </a:pPr>
            <a:r>
              <a:rPr lang="en-US" sz="1150" b="1" dirty="0">
                <a:solidFill>
                  <a:srgbClr val="1C2622"/>
                </a:solidFill>
                <a:latin typeface="Malgun Gothic" pitchFamily="34" charset="0"/>
                <a:ea typeface="Malgun Gothic" pitchFamily="34" charset="-122"/>
                <a:cs typeface="Malgun Gothic" pitchFamily="34" charset="-120"/>
              </a:rPr>
              <a:t>금암2동  다마67b61a</a:t>
            </a:r>
            <a:endParaRPr lang="en-US" sz="1150" dirty="0"/>
          </a:p>
        </p:txBody>
      </p:sp>
      <p:sp>
        <p:nvSpPr>
          <p:cNvPr id="52" name="Text 49"/>
          <p:cNvSpPr txBox="1"/>
          <p:nvPr/>
        </p:nvSpPr>
        <p:spPr>
          <a:xfrm>
            <a:off x="7114032" y="4142232"/>
            <a:ext cx="1042416"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32.9</a:t>
            </a:r>
            <a:endParaRPr lang="en-US" sz="1250" dirty="0"/>
          </a:p>
        </p:txBody>
      </p:sp>
      <p:sp>
        <p:nvSpPr>
          <p:cNvPr id="53" name="Text 50"/>
          <p:cNvSpPr txBox="1"/>
          <p:nvPr/>
        </p:nvSpPr>
        <p:spPr>
          <a:xfrm>
            <a:off x="8302752" y="4142232"/>
            <a:ext cx="1042416"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14,960</a:t>
            </a:r>
            <a:endParaRPr lang="en-US" sz="1250" dirty="0"/>
          </a:p>
        </p:txBody>
      </p:sp>
      <p:sp>
        <p:nvSpPr>
          <p:cNvPr id="54" name="Text 51"/>
          <p:cNvSpPr txBox="1"/>
          <p:nvPr/>
        </p:nvSpPr>
        <p:spPr>
          <a:xfrm>
            <a:off x="9491472" y="4142232"/>
            <a:ext cx="950976" cy="310896"/>
          </a:xfrm>
          <a:prstGeom prst="rect">
            <a:avLst/>
          </a:prstGeom>
          <a:noFill/>
          <a:ln/>
        </p:spPr>
        <p:txBody>
          <a:bodyPr wrap="square" lIns="0" tIns="0" rIns="0" bIns="0" rtlCol="0" anchor="t"/>
          <a:lstStyle/>
          <a:p>
            <a:pPr algn="r" indent="0" marL="0">
              <a:buNone/>
            </a:pPr>
            <a:r>
              <a:rPr lang="en-US" sz="1250" dirty="0">
                <a:solidFill>
                  <a:srgbClr val="1C2622"/>
                </a:solidFill>
                <a:latin typeface="Malgun Gothic" pitchFamily="34" charset="0"/>
                <a:ea typeface="Malgun Gothic" pitchFamily="34" charset="-122"/>
                <a:cs typeface="Malgun Gothic" pitchFamily="34" charset="-120"/>
              </a:rPr>
              <a:t>9</a:t>
            </a:r>
            <a:endParaRPr lang="en-US" sz="1250" dirty="0"/>
          </a:p>
        </p:txBody>
      </p:sp>
      <p:sp>
        <p:nvSpPr>
          <p:cNvPr id="55" name="Text 52"/>
          <p:cNvSpPr txBox="1"/>
          <p:nvPr/>
        </p:nvSpPr>
        <p:spPr>
          <a:xfrm>
            <a:off x="10588752" y="4142232"/>
            <a:ext cx="1069848" cy="310896"/>
          </a:xfrm>
          <a:prstGeom prst="rect">
            <a:avLst/>
          </a:prstGeom>
          <a:noFill/>
          <a:ln/>
        </p:spPr>
        <p:txBody>
          <a:bodyPr wrap="square" lIns="0" tIns="0" rIns="0" bIns="0" rtlCol="0" anchor="t"/>
          <a:lstStyle/>
          <a:p>
            <a:pPr algn="r" indent="0" marL="0">
              <a:buNone/>
            </a:pPr>
            <a:r>
              <a:rPr lang="en-US" sz="1250" b="1" dirty="0">
                <a:solidFill>
                  <a:srgbClr val="1F7A55"/>
                </a:solidFill>
                <a:latin typeface="Malgun Gothic" pitchFamily="34" charset="0"/>
                <a:ea typeface="Malgun Gothic" pitchFamily="34" charset="-122"/>
                <a:cs typeface="Malgun Gothic" pitchFamily="34" charset="-120"/>
              </a:rPr>
              <a:t>2,534</a:t>
            </a:r>
            <a:endParaRPr lang="en-US" sz="1250" dirty="0"/>
          </a:p>
        </p:txBody>
      </p:sp>
      <p:sp>
        <p:nvSpPr>
          <p:cNvPr id="56" name="Shape 53"/>
          <p:cNvSpPr/>
          <p:nvPr/>
        </p:nvSpPr>
        <p:spPr>
          <a:xfrm>
            <a:off x="4709160" y="4709160"/>
            <a:ext cx="7022592" cy="1097280"/>
          </a:xfrm>
          <a:prstGeom prst="roundRect">
            <a:avLst>
              <a:gd name="adj" fmla="val 6667"/>
            </a:avLst>
          </a:prstGeom>
          <a:solidFill>
            <a:srgbClr val="E2EEE8"/>
          </a:solidFill>
          <a:ln w="9525">
            <a:solidFill>
              <a:srgbClr val="D9D7CE"/>
            </a:solidFill>
            <a:prstDash val="solid"/>
          </a:ln>
        </p:spPr>
      </p:sp>
      <p:sp>
        <p:nvSpPr>
          <p:cNvPr id="57" name="Text 54"/>
          <p:cNvSpPr txBox="1"/>
          <p:nvPr/>
        </p:nvSpPr>
        <p:spPr>
          <a:xfrm>
            <a:off x="4937760" y="4709160"/>
            <a:ext cx="6656832" cy="1097280"/>
          </a:xfrm>
          <a:prstGeom prst="rect">
            <a:avLst/>
          </a:prstGeom>
          <a:noFill/>
          <a:ln/>
        </p:spPr>
        <p:txBody>
          <a:bodyPr wrap="square" lIns="0" tIns="0" rIns="0" bIns="0" rtlCol="0" anchor="ctr"/>
          <a:lstStyle/>
          <a:p>
            <a:pPr indent="0" marL="0">
              <a:lnSpc>
                <a:spcPct val="115000"/>
              </a:lnSpc>
              <a:buNone/>
            </a:pPr>
            <a:r>
              <a:rPr lang="en-US" sz="1200" dirty="0">
                <a:solidFill>
                  <a:srgbClr val="1C2622"/>
                </a:solidFill>
                <a:latin typeface="Malgun Gothic" pitchFamily="34" charset="0"/>
                <a:ea typeface="Malgun Gothic" pitchFamily="34" charset="-122"/>
                <a:cs typeface="Malgun Gothic" pitchFamily="34" charset="-120"/>
              </a:rPr>
              <a:t>전주 계측 건물 전력 2,124GWh/년 중 상위 5개 격자 179GWh (8.4%)</a:t>
            </a:r>
            <a:endParaRPr lang="en-US" sz="1200" dirty="0"/>
          </a:p>
          <a:p>
            <a:pPr indent="0" marL="0">
              <a:lnSpc>
                <a:spcPct val="115000"/>
              </a:lnSpc>
              <a:buNone/>
            </a:pPr>
            <a:r>
              <a:rPr lang="en-US" sz="1200" dirty="0">
                <a:solidFill>
                  <a:srgbClr val="1C2622"/>
                </a:solidFill>
                <a:latin typeface="Malgun Gothic" pitchFamily="34" charset="0"/>
                <a:ea typeface="Malgun Gothic" pitchFamily="34" charset="-122"/>
                <a:cs typeface="Malgun Gothic" pitchFamily="34" charset="-120"/>
              </a:rPr>
              <a:t>지번 수가 적고 전력이 큰 격자(송천2동·금암2동)는 대형 건물 몇 곳이 대부분입니다.</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27</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활용 예시 8 · 관리사무소·자산운용</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우리 단지는 이웃보다 전기를 많이 쓰나?</a:t>
            </a:r>
            <a:endParaRPr lang="en-US" sz="2500" dirty="0"/>
          </a:p>
        </p:txBody>
      </p:sp>
      <p:sp>
        <p:nvSpPr>
          <p:cNvPr id="5" name="Shape 3"/>
          <p:cNvSpPr/>
          <p:nvPr/>
        </p:nvSpPr>
        <p:spPr>
          <a:xfrm>
            <a:off x="457200" y="1325880"/>
            <a:ext cx="3931920" cy="4572000"/>
          </a:xfrm>
          <a:prstGeom prst="roundRect">
            <a:avLst>
              <a:gd name="adj" fmla="val 1860"/>
            </a:avLst>
          </a:prstGeom>
          <a:solidFill>
            <a:srgbClr val="F4F6F4"/>
          </a:solidFill>
          <a:ln w="9525">
            <a:solidFill>
              <a:srgbClr val="D9D7CE"/>
            </a:solidFill>
            <a:prstDash val="solid"/>
          </a:ln>
        </p:spPr>
      </p:sp>
      <p:sp>
        <p:nvSpPr>
          <p:cNvPr id="6" name="Text 4"/>
          <p:cNvSpPr txBox="1"/>
          <p:nvPr/>
        </p:nvSpPr>
        <p:spPr>
          <a:xfrm>
            <a:off x="685800" y="1481328"/>
            <a:ext cx="34747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상황</a:t>
            </a:r>
            <a:endParaRPr lang="en-US" sz="1200" dirty="0"/>
          </a:p>
        </p:txBody>
      </p:sp>
      <p:sp>
        <p:nvSpPr>
          <p:cNvPr id="7" name="Text 5"/>
          <p:cNvSpPr txBox="1"/>
          <p:nvPr/>
        </p:nvSpPr>
        <p:spPr>
          <a:xfrm>
            <a:off x="685800" y="1783080"/>
            <a:ext cx="3520440" cy="1051560"/>
          </a:xfrm>
          <a:prstGeom prst="rect">
            <a:avLst/>
          </a:prstGeom>
          <a:noFill/>
          <a:ln/>
        </p:spPr>
        <p:txBody>
          <a:bodyPr wrap="square" lIns="0" tIns="0" rIns="0" bIns="0" rtlCol="0" anchor="t"/>
          <a:lstStyle/>
          <a:p>
            <a:pPr indent="0" marL="0">
              <a:lnSpc>
                <a:spcPct val="112000"/>
              </a:lnSpc>
              <a:buNone/>
            </a:pPr>
            <a:r>
              <a:rPr lang="en-US" sz="1150" dirty="0">
                <a:solidFill>
                  <a:srgbClr val="1C2622"/>
                </a:solidFill>
                <a:latin typeface="Malgun Gothic" pitchFamily="34" charset="0"/>
                <a:ea typeface="Malgun Gothic" pitchFamily="34" charset="-122"/>
                <a:cs typeface="Malgun Gothic" pitchFamily="34" charset="-120"/>
              </a:rPr>
              <a:t>가상의 A단지(500세대)는 세대당 연 전력이 5,500kWh. 전주 공동주택 격자들과 비교해 절약 캠페인·공용부 설비 교체의 우선순위를 정하려 한다.</a:t>
            </a:r>
            <a:endParaRPr lang="en-US" sz="1150" dirty="0"/>
          </a:p>
        </p:txBody>
      </p:sp>
      <p:sp>
        <p:nvSpPr>
          <p:cNvPr id="8" name="Text 6"/>
          <p:cNvSpPr txBox="1"/>
          <p:nvPr/>
        </p:nvSpPr>
        <p:spPr>
          <a:xfrm>
            <a:off x="685800" y="2907792"/>
            <a:ext cx="34747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입력</a:t>
            </a:r>
            <a:endParaRPr lang="en-US" sz="1200" dirty="0"/>
          </a:p>
        </p:txBody>
      </p:sp>
      <p:sp>
        <p:nvSpPr>
          <p:cNvPr id="9" name="Text 7"/>
          <p:cNvSpPr txBox="1"/>
          <p:nvPr/>
        </p:nvSpPr>
        <p:spPr>
          <a:xfrm>
            <a:off x="685800" y="3218688"/>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비교 대상</a:t>
            </a:r>
            <a:endParaRPr lang="en-US" sz="1100" dirty="0"/>
          </a:p>
        </p:txBody>
      </p:sp>
      <p:sp>
        <p:nvSpPr>
          <p:cNvPr id="10" name="Text 8"/>
          <p:cNvSpPr txBox="1"/>
          <p:nvPr/>
        </p:nvSpPr>
        <p:spPr>
          <a:xfrm>
            <a:off x="2103120" y="3218688"/>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전주 공동주택 격자 141곳 (2025)</a:t>
            </a:r>
            <a:endParaRPr lang="en-US" sz="1100" dirty="0"/>
          </a:p>
        </p:txBody>
      </p:sp>
      <p:sp>
        <p:nvSpPr>
          <p:cNvPr id="11" name="Text 9"/>
          <p:cNvSpPr txBox="1"/>
          <p:nvPr/>
        </p:nvSpPr>
        <p:spPr>
          <a:xfrm>
            <a:off x="685800" y="3547872"/>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지표</a:t>
            </a:r>
            <a:endParaRPr lang="en-US" sz="1100" dirty="0"/>
          </a:p>
        </p:txBody>
      </p:sp>
      <p:sp>
        <p:nvSpPr>
          <p:cNvPr id="12" name="Text 10"/>
          <p:cNvSpPr txBox="1"/>
          <p:nvPr/>
        </p:nvSpPr>
        <p:spPr>
          <a:xfrm>
            <a:off x="2103120" y="3547872"/>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세대당 연간 전력</a:t>
            </a:r>
            <a:endParaRPr lang="en-US" sz="1100" dirty="0"/>
          </a:p>
        </p:txBody>
      </p:sp>
      <p:sp>
        <p:nvSpPr>
          <p:cNvPr id="13" name="Text 11"/>
          <p:cNvSpPr txBox="1"/>
          <p:nvPr/>
        </p:nvSpPr>
        <p:spPr>
          <a:xfrm>
            <a:off x="685800" y="3877056"/>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A단지 (가상)</a:t>
            </a:r>
            <a:endParaRPr lang="en-US" sz="1100" dirty="0"/>
          </a:p>
        </p:txBody>
      </p:sp>
      <p:sp>
        <p:nvSpPr>
          <p:cNvPr id="14" name="Text 12"/>
          <p:cNvSpPr txBox="1"/>
          <p:nvPr/>
        </p:nvSpPr>
        <p:spPr>
          <a:xfrm>
            <a:off x="2103120" y="3877056"/>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5,500kWh/세대 · 500세대</a:t>
            </a:r>
            <a:endParaRPr lang="en-US" sz="1100" dirty="0"/>
          </a:p>
        </p:txBody>
      </p:sp>
      <p:sp>
        <p:nvSpPr>
          <p:cNvPr id="15" name="Text 13"/>
          <p:cNvSpPr txBox="1"/>
          <p:nvPr/>
        </p:nvSpPr>
        <p:spPr>
          <a:xfrm>
            <a:off x="685800" y="4206240"/>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목표</a:t>
            </a:r>
            <a:endParaRPr lang="en-US" sz="1100" dirty="0"/>
          </a:p>
        </p:txBody>
      </p:sp>
      <p:sp>
        <p:nvSpPr>
          <p:cNvPr id="16" name="Text 14"/>
          <p:cNvSpPr txBox="1"/>
          <p:nvPr/>
        </p:nvSpPr>
        <p:spPr>
          <a:xfrm>
            <a:off x="2103120" y="4206240"/>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전주 중앙값 수준</a:t>
            </a:r>
            <a:endParaRPr lang="en-US" sz="1100" dirty="0"/>
          </a:p>
        </p:txBody>
      </p:sp>
      <p:sp>
        <p:nvSpPr>
          <p:cNvPr id="17" name="Shape 15"/>
          <p:cNvSpPr/>
          <p:nvPr/>
        </p:nvSpPr>
        <p:spPr>
          <a:xfrm>
            <a:off x="685800" y="5440680"/>
            <a:ext cx="3474720" cy="310896"/>
          </a:xfrm>
          <a:prstGeom prst="roundRect">
            <a:avLst>
              <a:gd name="adj" fmla="val 17647"/>
            </a:avLst>
          </a:prstGeom>
          <a:solidFill>
            <a:srgbClr val="FFFFFF"/>
          </a:solidFill>
          <a:ln w="12700">
            <a:solidFill>
              <a:srgbClr val="FFFFFF"/>
            </a:solidFill>
            <a:prstDash val="solid"/>
          </a:ln>
        </p:spPr>
      </p:sp>
      <p:sp>
        <p:nvSpPr>
          <p:cNvPr id="18" name="Text 16"/>
          <p:cNvSpPr txBox="1"/>
          <p:nvPr/>
        </p:nvSpPr>
        <p:spPr>
          <a:xfrm>
            <a:off x="685800" y="5440680"/>
            <a:ext cx="3474720" cy="310896"/>
          </a:xfrm>
          <a:prstGeom prst="rect">
            <a:avLst/>
          </a:prstGeom>
          <a:noFill/>
          <a:ln/>
        </p:spPr>
        <p:txBody>
          <a:bodyPr wrap="square" lIns="0" tIns="0" rIns="0" bIns="0" rtlCol="0" anchor="ctr"/>
          <a:lstStyle/>
          <a:p>
            <a:pPr algn="ctr" indent="0" marL="0">
              <a:buNone/>
            </a:pPr>
            <a:r>
              <a:rPr lang="en-US" sz="1050" b="1" dirty="0">
                <a:solidFill>
                  <a:srgbClr val="2F5D50"/>
                </a:solidFill>
                <a:latin typeface="Malgun Gothic" pitchFamily="34" charset="0"/>
                <a:ea typeface="Malgun Gothic" pitchFamily="34" charset="-122"/>
                <a:cs typeface="Malgun Gothic" pitchFamily="34" charset="-120"/>
              </a:rPr>
              <a:t>메뉴: 지도 분석 · 대시보드</a:t>
            </a:r>
            <a:endParaRPr lang="en-US" sz="1050" dirty="0"/>
          </a:p>
        </p:txBody>
      </p:sp>
      <p:sp>
        <p:nvSpPr>
          <p:cNvPr id="19" name="Shape 17"/>
          <p:cNvSpPr/>
          <p:nvPr/>
        </p:nvSpPr>
        <p:spPr>
          <a:xfrm>
            <a:off x="457200" y="5989320"/>
            <a:ext cx="11274552" cy="411480"/>
          </a:xfrm>
          <a:prstGeom prst="roundRect">
            <a:avLst>
              <a:gd name="adj" fmla="val 13333"/>
            </a:avLst>
          </a:prstGeom>
          <a:solidFill>
            <a:srgbClr val="1F3A33"/>
          </a:solidFill>
          <a:ln w="12700">
            <a:solidFill>
              <a:srgbClr val="1F3A33"/>
            </a:solidFill>
            <a:prstDash val="solid"/>
          </a:ln>
        </p:spPr>
      </p:sp>
      <p:sp>
        <p:nvSpPr>
          <p:cNvPr id="20" name="Text 18"/>
          <p:cNvSpPr txBox="1"/>
          <p:nvPr/>
        </p:nvSpPr>
        <p:spPr>
          <a:xfrm>
            <a:off x="640080" y="5989320"/>
            <a:ext cx="10972800" cy="411480"/>
          </a:xfrm>
          <a:prstGeom prst="rect">
            <a:avLst/>
          </a:prstGeom>
          <a:noFill/>
          <a:ln/>
        </p:spPr>
        <p:txBody>
          <a:bodyPr wrap="square" lIns="0" tIns="0" rIns="0" bIns="0" rtlCol="0" anchor="ctr"/>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A단지는 상위 25%(5,297kWh 초과) → 중앙값(4,476kWh)까지 낮추면 연 512MWh, 약 233t 절감</a:t>
            </a:r>
            <a:endParaRPr lang="en-US" sz="1250" dirty="0"/>
          </a:p>
        </p:txBody>
      </p:sp>
      <p:sp>
        <p:nvSpPr>
          <p:cNvPr id="21" name="Text 19"/>
          <p:cNvSpPr txBox="1"/>
          <p:nvPr/>
        </p:nvSpPr>
        <p:spPr>
          <a:xfrm>
            <a:off x="4572000" y="6473952"/>
            <a:ext cx="715975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격자 단위 분포(공동주택 지번, 공용 포함) · A단지는 설명용 가상 값</a:t>
            </a:r>
            <a:endParaRPr lang="en-US" sz="900" dirty="0"/>
          </a:p>
        </p:txBody>
      </p:sp>
      <p:graphicFrame>
        <p:nvGraphicFramePr>
          <p:cNvPr id="23" name="Chart 0" descr=""/>
          <p:cNvGraphicFramePr/>
          <p:nvPr/>
        </p:nvGraphicFramePr>
        <p:xfrm>
          <a:off x="4709160" y="1325880"/>
          <a:ext cx="7022592" cy="45262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28</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활용 예시 9 · 디벨로퍼·지자체 성과 평가</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대규모 개발 뒤, 기존 단지 사용량은 늘었나?</a:t>
            </a:r>
            <a:endParaRPr lang="en-US" sz="2500" dirty="0"/>
          </a:p>
        </p:txBody>
      </p:sp>
      <p:sp>
        <p:nvSpPr>
          <p:cNvPr id="5" name="Shape 3"/>
          <p:cNvSpPr/>
          <p:nvPr/>
        </p:nvSpPr>
        <p:spPr>
          <a:xfrm>
            <a:off x="457200" y="1325880"/>
            <a:ext cx="3931920" cy="4572000"/>
          </a:xfrm>
          <a:prstGeom prst="roundRect">
            <a:avLst>
              <a:gd name="adj" fmla="val 1860"/>
            </a:avLst>
          </a:prstGeom>
          <a:solidFill>
            <a:srgbClr val="F4F6F4"/>
          </a:solidFill>
          <a:ln w="9525">
            <a:solidFill>
              <a:srgbClr val="D9D7CE"/>
            </a:solidFill>
            <a:prstDash val="solid"/>
          </a:ln>
        </p:spPr>
      </p:sp>
      <p:sp>
        <p:nvSpPr>
          <p:cNvPr id="6" name="Text 4"/>
          <p:cNvSpPr txBox="1"/>
          <p:nvPr/>
        </p:nvSpPr>
        <p:spPr>
          <a:xfrm>
            <a:off x="685800" y="1481328"/>
            <a:ext cx="34747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상황</a:t>
            </a:r>
            <a:endParaRPr lang="en-US" sz="1200" dirty="0"/>
          </a:p>
        </p:txBody>
      </p:sp>
      <p:sp>
        <p:nvSpPr>
          <p:cNvPr id="7" name="Text 5"/>
          <p:cNvSpPr txBox="1"/>
          <p:nvPr/>
        </p:nvSpPr>
        <p:spPr>
          <a:xfrm>
            <a:off x="685800" y="1783080"/>
            <a:ext cx="3520440" cy="1051560"/>
          </a:xfrm>
          <a:prstGeom prst="rect">
            <a:avLst/>
          </a:prstGeom>
          <a:noFill/>
          <a:ln/>
        </p:spPr>
        <p:txBody>
          <a:bodyPr wrap="square" lIns="0" tIns="0" rIns="0" bIns="0" rtlCol="0" anchor="t"/>
          <a:lstStyle/>
          <a:p>
            <a:pPr indent="0" marL="0">
              <a:lnSpc>
                <a:spcPct val="112000"/>
              </a:lnSpc>
              <a:buNone/>
            </a:pPr>
            <a:r>
              <a:rPr lang="en-US" sz="1150" dirty="0">
                <a:solidFill>
                  <a:srgbClr val="1C2622"/>
                </a:solidFill>
                <a:latin typeface="Malgun Gothic" pitchFamily="34" charset="0"/>
                <a:ea typeface="Malgun Gothic" pitchFamily="34" charset="-122"/>
                <a:cs typeface="Malgun Gothic" pitchFamily="34" charset="-120"/>
              </a:rPr>
              <a:t>전주 반경 4km 구역에 2023년 새 단지가 준공됐다. 개발 전(2021~22)과 후(2024~25)의 공동주택 전력을 비교해 개발 영향과 사업 성과를 평가한다.</a:t>
            </a:r>
            <a:endParaRPr lang="en-US" sz="1150" dirty="0"/>
          </a:p>
        </p:txBody>
      </p:sp>
      <p:sp>
        <p:nvSpPr>
          <p:cNvPr id="8" name="Text 6"/>
          <p:cNvSpPr txBox="1"/>
          <p:nvPr/>
        </p:nvSpPr>
        <p:spPr>
          <a:xfrm>
            <a:off x="685800" y="2907792"/>
            <a:ext cx="34747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입력</a:t>
            </a:r>
            <a:endParaRPr lang="en-US" sz="1200" dirty="0"/>
          </a:p>
        </p:txBody>
      </p:sp>
      <p:sp>
        <p:nvSpPr>
          <p:cNvPr id="9" name="Text 7"/>
          <p:cNvSpPr txBox="1"/>
          <p:nvPr/>
        </p:nvSpPr>
        <p:spPr>
          <a:xfrm>
            <a:off x="685800" y="3218688"/>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구역</a:t>
            </a:r>
            <a:endParaRPr lang="en-US" sz="1100" dirty="0"/>
          </a:p>
        </p:txBody>
      </p:sp>
      <p:sp>
        <p:nvSpPr>
          <p:cNvPr id="10" name="Text 8"/>
          <p:cNvSpPr txBox="1"/>
          <p:nvPr/>
        </p:nvSpPr>
        <p:spPr>
          <a:xfrm>
            <a:off x="2103120" y="3218688"/>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전주 반경 4km</a:t>
            </a:r>
            <a:endParaRPr lang="en-US" sz="1100" dirty="0"/>
          </a:p>
        </p:txBody>
      </p:sp>
      <p:sp>
        <p:nvSpPr>
          <p:cNvPr id="11" name="Text 9"/>
          <p:cNvSpPr txBox="1"/>
          <p:nvPr/>
        </p:nvSpPr>
        <p:spPr>
          <a:xfrm>
            <a:off x="685800" y="3547872"/>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사건 연도</a:t>
            </a:r>
            <a:endParaRPr lang="en-US" sz="1100" dirty="0"/>
          </a:p>
        </p:txBody>
      </p:sp>
      <p:sp>
        <p:nvSpPr>
          <p:cNvPr id="12" name="Text 10"/>
          <p:cNvSpPr txBox="1"/>
          <p:nvPr/>
        </p:nvSpPr>
        <p:spPr>
          <a:xfrm>
            <a:off x="2103120" y="3547872"/>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2023년 준공 (2단지, 663세대)</a:t>
            </a:r>
            <a:endParaRPr lang="en-US" sz="1100" dirty="0"/>
          </a:p>
        </p:txBody>
      </p:sp>
      <p:sp>
        <p:nvSpPr>
          <p:cNvPr id="13" name="Text 11"/>
          <p:cNvSpPr txBox="1"/>
          <p:nvPr/>
        </p:nvSpPr>
        <p:spPr>
          <a:xfrm>
            <a:off x="685800" y="3877056"/>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전 · 후</a:t>
            </a:r>
            <a:endParaRPr lang="en-US" sz="1100" dirty="0"/>
          </a:p>
        </p:txBody>
      </p:sp>
      <p:sp>
        <p:nvSpPr>
          <p:cNvPr id="14" name="Text 12"/>
          <p:cNvSpPr txBox="1"/>
          <p:nvPr/>
        </p:nvSpPr>
        <p:spPr>
          <a:xfrm>
            <a:off x="2103120" y="3877056"/>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2021~22 · 2024~25</a:t>
            </a:r>
            <a:endParaRPr lang="en-US" sz="1100" dirty="0"/>
          </a:p>
        </p:txBody>
      </p:sp>
      <p:sp>
        <p:nvSpPr>
          <p:cNvPr id="15" name="Text 13"/>
          <p:cNvSpPr txBox="1"/>
          <p:nvPr/>
        </p:nvSpPr>
        <p:spPr>
          <a:xfrm>
            <a:off x="685800" y="4206240"/>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비교 방법</a:t>
            </a:r>
            <a:endParaRPr lang="en-US" sz="1100" dirty="0"/>
          </a:p>
        </p:txBody>
      </p:sp>
      <p:sp>
        <p:nvSpPr>
          <p:cNvPr id="16" name="Text 14"/>
          <p:cNvSpPr txBox="1"/>
          <p:nvPr/>
        </p:nvSpPr>
        <p:spPr>
          <a:xfrm>
            <a:off x="2103120" y="4206240"/>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두 기간 모두 보고한 같은 단지</a:t>
            </a:r>
            <a:endParaRPr lang="en-US" sz="1100" dirty="0"/>
          </a:p>
        </p:txBody>
      </p:sp>
      <p:sp>
        <p:nvSpPr>
          <p:cNvPr id="17" name="Shape 15"/>
          <p:cNvSpPr/>
          <p:nvPr/>
        </p:nvSpPr>
        <p:spPr>
          <a:xfrm>
            <a:off x="685800" y="5440680"/>
            <a:ext cx="3474720" cy="310896"/>
          </a:xfrm>
          <a:prstGeom prst="roundRect">
            <a:avLst>
              <a:gd name="adj" fmla="val 17647"/>
            </a:avLst>
          </a:prstGeom>
          <a:solidFill>
            <a:srgbClr val="FFFFFF"/>
          </a:solidFill>
          <a:ln w="12700">
            <a:solidFill>
              <a:srgbClr val="FFFFFF"/>
            </a:solidFill>
            <a:prstDash val="solid"/>
          </a:ln>
        </p:spPr>
      </p:sp>
      <p:sp>
        <p:nvSpPr>
          <p:cNvPr id="18" name="Text 16"/>
          <p:cNvSpPr txBox="1"/>
          <p:nvPr/>
        </p:nvSpPr>
        <p:spPr>
          <a:xfrm>
            <a:off x="685800" y="5440680"/>
            <a:ext cx="3474720" cy="310896"/>
          </a:xfrm>
          <a:prstGeom prst="rect">
            <a:avLst/>
          </a:prstGeom>
          <a:noFill/>
          <a:ln/>
        </p:spPr>
        <p:txBody>
          <a:bodyPr wrap="square" lIns="0" tIns="0" rIns="0" bIns="0" rtlCol="0" anchor="ctr"/>
          <a:lstStyle/>
          <a:p>
            <a:pPr algn="ctr" indent="0" marL="0">
              <a:buNone/>
            </a:pPr>
            <a:r>
              <a:rPr lang="en-US" sz="1050" b="1" dirty="0">
                <a:solidFill>
                  <a:srgbClr val="2F5D50"/>
                </a:solidFill>
                <a:latin typeface="Malgun Gothic" pitchFamily="34" charset="0"/>
                <a:ea typeface="Malgun Gothic" pitchFamily="34" charset="-122"/>
                <a:cs typeface="Malgun Gothic" pitchFamily="34" charset="-120"/>
              </a:rPr>
              <a:t>메뉴: 지역 시뮬레이션 → 개발 전후</a:t>
            </a:r>
            <a:endParaRPr lang="en-US" sz="1050" dirty="0"/>
          </a:p>
        </p:txBody>
      </p:sp>
      <p:sp>
        <p:nvSpPr>
          <p:cNvPr id="19" name="Shape 17"/>
          <p:cNvSpPr/>
          <p:nvPr/>
        </p:nvSpPr>
        <p:spPr>
          <a:xfrm>
            <a:off x="457200" y="5989320"/>
            <a:ext cx="11274552" cy="411480"/>
          </a:xfrm>
          <a:prstGeom prst="roundRect">
            <a:avLst>
              <a:gd name="adj" fmla="val 13333"/>
            </a:avLst>
          </a:prstGeom>
          <a:solidFill>
            <a:srgbClr val="1F3A33"/>
          </a:solidFill>
          <a:ln w="12700">
            <a:solidFill>
              <a:srgbClr val="1F3A33"/>
            </a:solidFill>
            <a:prstDash val="solid"/>
          </a:ln>
        </p:spPr>
      </p:sp>
      <p:sp>
        <p:nvSpPr>
          <p:cNvPr id="20" name="Text 18"/>
          <p:cNvSpPr txBox="1"/>
          <p:nvPr/>
        </p:nvSpPr>
        <p:spPr>
          <a:xfrm>
            <a:off x="640080" y="5989320"/>
            <a:ext cx="10972800" cy="411480"/>
          </a:xfrm>
          <a:prstGeom prst="rect">
            <a:avLst/>
          </a:prstGeom>
          <a:noFill/>
          <a:ln/>
        </p:spPr>
        <p:txBody>
          <a:bodyPr wrap="square" lIns="0" tIns="0" rIns="0" bIns="0" rtlCol="0" anchor="ctr"/>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합계만 보면 +56.3%지만, 같은 103개 단지는 +4.8% → 증가 대부분은 K-apt 보고 단지가 늘어난 효과</a:t>
            </a:r>
            <a:endParaRPr lang="en-US" sz="1250" dirty="0"/>
          </a:p>
        </p:txBody>
      </p:sp>
      <p:sp>
        <p:nvSpPr>
          <p:cNvPr id="21" name="Text 19"/>
          <p:cNvSpPr txBox="1"/>
          <p:nvPr/>
        </p:nvSpPr>
        <p:spPr>
          <a:xfrm>
            <a:off x="4572000" y="6473952"/>
            <a:ext cx="715975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전력은 K-apt 관리비 한 출처 · 보고 단지 2022년 115곳 → 2025년 173곳</a:t>
            </a:r>
            <a:endParaRPr lang="en-US" sz="900" dirty="0"/>
          </a:p>
        </p:txBody>
      </p:sp>
      <p:graphicFrame>
        <p:nvGraphicFramePr>
          <p:cNvPr id="23" name="Chart 0" descr=""/>
          <p:cNvGraphicFramePr/>
          <p:nvPr/>
        </p:nvGraphicFramePr>
        <p:xfrm>
          <a:off x="4709160" y="1325880"/>
          <a:ext cx="4480560" cy="4526280"/>
        </p:xfrm>
        <a:graphic xmlns:a="http://schemas.openxmlformats.org/drawingml/2006/main">
          <a:graphicData uri="http://schemas.openxmlformats.org/drawingml/2006/chart">
            <c:chart xmlns:c="http://schemas.openxmlformats.org/drawingml/2006/chart" r:id="rId1"/>
          </a:graphicData>
        </a:graphic>
      </p:graphicFrame>
      <p:sp>
        <p:nvSpPr>
          <p:cNvPr id="24" name="Text 20"/>
          <p:cNvSpPr txBox="1"/>
          <p:nvPr/>
        </p:nvSpPr>
        <p:spPr>
          <a:xfrm>
            <a:off x="9418320" y="1737360"/>
            <a:ext cx="2331720" cy="640080"/>
          </a:xfrm>
          <a:prstGeom prst="rect">
            <a:avLst/>
          </a:prstGeom>
          <a:noFill/>
          <a:ln/>
        </p:spPr>
        <p:txBody>
          <a:bodyPr wrap="square" lIns="0" tIns="0" rIns="0" bIns="0" rtlCol="0" anchor="t"/>
          <a:lstStyle/>
          <a:p>
            <a:pPr indent="0" marL="0">
              <a:buNone/>
            </a:pPr>
            <a:r>
              <a:rPr lang="en-US" sz="3000" b="1" dirty="0">
                <a:solidFill>
                  <a:srgbClr val="B42318"/>
                </a:solidFill>
                <a:latin typeface="Malgun Gothic" pitchFamily="34" charset="0"/>
                <a:ea typeface="Malgun Gothic" pitchFamily="34" charset="-122"/>
                <a:cs typeface="Malgun Gothic" pitchFamily="34" charset="-120"/>
              </a:rPr>
              <a:t>+56.3%</a:t>
            </a:r>
            <a:endParaRPr lang="en-US" sz="3000" dirty="0"/>
          </a:p>
        </p:txBody>
      </p:sp>
      <p:sp>
        <p:nvSpPr>
          <p:cNvPr id="25" name="Text 21"/>
          <p:cNvSpPr txBox="1"/>
          <p:nvPr/>
        </p:nvSpPr>
        <p:spPr>
          <a:xfrm>
            <a:off x="9418320" y="2423160"/>
            <a:ext cx="2331720" cy="54864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구역 합계 (보고 단지 증가 포함)</a:t>
            </a:r>
            <a:endParaRPr lang="en-US" sz="1100" dirty="0"/>
          </a:p>
        </p:txBody>
      </p:sp>
      <p:sp>
        <p:nvSpPr>
          <p:cNvPr id="26" name="Text 22"/>
          <p:cNvSpPr txBox="1"/>
          <p:nvPr/>
        </p:nvSpPr>
        <p:spPr>
          <a:xfrm>
            <a:off x="9418320" y="3291840"/>
            <a:ext cx="2331720" cy="640080"/>
          </a:xfrm>
          <a:prstGeom prst="rect">
            <a:avLst/>
          </a:prstGeom>
          <a:noFill/>
          <a:ln/>
        </p:spPr>
        <p:txBody>
          <a:bodyPr wrap="square" lIns="0" tIns="0" rIns="0" bIns="0" rtlCol="0" anchor="t"/>
          <a:lstStyle/>
          <a:p>
            <a:pPr indent="0" marL="0">
              <a:buNone/>
            </a:pPr>
            <a:r>
              <a:rPr lang="en-US" sz="3000" b="1" dirty="0">
                <a:solidFill>
                  <a:srgbClr val="1F7A55"/>
                </a:solidFill>
                <a:latin typeface="Malgun Gothic" pitchFamily="34" charset="0"/>
                <a:ea typeface="Malgun Gothic" pitchFamily="34" charset="-122"/>
                <a:cs typeface="Malgun Gothic" pitchFamily="34" charset="-120"/>
              </a:rPr>
              <a:t>+4.8%</a:t>
            </a:r>
            <a:endParaRPr lang="en-US" sz="3000" dirty="0"/>
          </a:p>
        </p:txBody>
      </p:sp>
      <p:sp>
        <p:nvSpPr>
          <p:cNvPr id="27" name="Text 23"/>
          <p:cNvSpPr txBox="1"/>
          <p:nvPr/>
        </p:nvSpPr>
        <p:spPr>
          <a:xfrm>
            <a:off x="9418320" y="3977640"/>
            <a:ext cx="2331720" cy="54864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같은 단지끼리 (실제 사용 변화)</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29</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활용 예시 10 · 광역 에너지 정책·지역 에너지공사</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도내 어느 시·군의 건물 전력이 늘었나?</a:t>
            </a:r>
            <a:endParaRPr lang="en-US" sz="2500" dirty="0"/>
          </a:p>
        </p:txBody>
      </p:sp>
      <p:sp>
        <p:nvSpPr>
          <p:cNvPr id="5" name="Shape 3"/>
          <p:cNvSpPr/>
          <p:nvPr/>
        </p:nvSpPr>
        <p:spPr>
          <a:xfrm>
            <a:off x="457200" y="1325880"/>
            <a:ext cx="3931920" cy="4572000"/>
          </a:xfrm>
          <a:prstGeom prst="roundRect">
            <a:avLst>
              <a:gd name="adj" fmla="val 1860"/>
            </a:avLst>
          </a:prstGeom>
          <a:solidFill>
            <a:srgbClr val="F4F6F4"/>
          </a:solidFill>
          <a:ln w="9525">
            <a:solidFill>
              <a:srgbClr val="D9D7CE"/>
            </a:solidFill>
            <a:prstDash val="solid"/>
          </a:ln>
        </p:spPr>
      </p:sp>
      <p:sp>
        <p:nvSpPr>
          <p:cNvPr id="6" name="Text 4"/>
          <p:cNvSpPr txBox="1"/>
          <p:nvPr/>
        </p:nvSpPr>
        <p:spPr>
          <a:xfrm>
            <a:off x="685800" y="1481328"/>
            <a:ext cx="34747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상황</a:t>
            </a:r>
            <a:endParaRPr lang="en-US" sz="1200" dirty="0"/>
          </a:p>
        </p:txBody>
      </p:sp>
      <p:sp>
        <p:nvSpPr>
          <p:cNvPr id="7" name="Text 5"/>
          <p:cNvSpPr txBox="1"/>
          <p:nvPr/>
        </p:nvSpPr>
        <p:spPr>
          <a:xfrm>
            <a:off x="685800" y="1783080"/>
            <a:ext cx="3520440" cy="1051560"/>
          </a:xfrm>
          <a:prstGeom prst="rect">
            <a:avLst/>
          </a:prstGeom>
          <a:noFill/>
          <a:ln/>
        </p:spPr>
        <p:txBody>
          <a:bodyPr wrap="square" lIns="0" tIns="0" rIns="0" bIns="0" rtlCol="0" anchor="t"/>
          <a:lstStyle/>
          <a:p>
            <a:pPr indent="0" marL="0">
              <a:lnSpc>
                <a:spcPct val="112000"/>
              </a:lnSpc>
              <a:buNone/>
            </a:pPr>
            <a:r>
              <a:rPr lang="en-US" sz="1150" dirty="0">
                <a:solidFill>
                  <a:srgbClr val="1C2622"/>
                </a:solidFill>
                <a:latin typeface="Malgun Gothic" pitchFamily="34" charset="0"/>
                <a:ea typeface="Malgun Gothic" pitchFamily="34" charset="-122"/>
                <a:cs typeface="Malgun Gothic" pitchFamily="34" charset="-120"/>
              </a:rPr>
              <a:t>전북 14개 시·군 중 효율 지원 사업을 먼저 할 곳을 고른다. 한전 판매량으로 2018년 대비 건물 전력 증감률과 가구당 주택용 전력을 비교한다.</a:t>
            </a:r>
            <a:endParaRPr lang="en-US" sz="1150" dirty="0"/>
          </a:p>
        </p:txBody>
      </p:sp>
      <p:sp>
        <p:nvSpPr>
          <p:cNvPr id="8" name="Text 6"/>
          <p:cNvSpPr txBox="1"/>
          <p:nvPr/>
        </p:nvSpPr>
        <p:spPr>
          <a:xfrm>
            <a:off x="685800" y="2907792"/>
            <a:ext cx="34747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입력</a:t>
            </a:r>
            <a:endParaRPr lang="en-US" sz="1200" dirty="0"/>
          </a:p>
        </p:txBody>
      </p:sp>
      <p:sp>
        <p:nvSpPr>
          <p:cNvPr id="9" name="Text 7"/>
          <p:cNvSpPr txBox="1"/>
          <p:nvPr/>
        </p:nvSpPr>
        <p:spPr>
          <a:xfrm>
            <a:off x="685800" y="3218688"/>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지역</a:t>
            </a:r>
            <a:endParaRPr lang="en-US" sz="1100" dirty="0"/>
          </a:p>
        </p:txBody>
      </p:sp>
      <p:sp>
        <p:nvSpPr>
          <p:cNvPr id="10" name="Text 8"/>
          <p:cNvSpPr txBox="1"/>
          <p:nvPr/>
        </p:nvSpPr>
        <p:spPr>
          <a:xfrm>
            <a:off x="2103120" y="3218688"/>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전북 14개 시·군</a:t>
            </a:r>
            <a:endParaRPr lang="en-US" sz="1100" dirty="0"/>
          </a:p>
        </p:txBody>
      </p:sp>
      <p:sp>
        <p:nvSpPr>
          <p:cNvPr id="11" name="Text 9"/>
          <p:cNvSpPr txBox="1"/>
          <p:nvPr/>
        </p:nvSpPr>
        <p:spPr>
          <a:xfrm>
            <a:off x="685800" y="3547872"/>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지표 1</a:t>
            </a:r>
            <a:endParaRPr lang="en-US" sz="1100" dirty="0"/>
          </a:p>
        </p:txBody>
      </p:sp>
      <p:sp>
        <p:nvSpPr>
          <p:cNvPr id="12" name="Text 10"/>
          <p:cNvSpPr txBox="1"/>
          <p:nvPr/>
        </p:nvSpPr>
        <p:spPr>
          <a:xfrm>
            <a:off x="2103120" y="3547872"/>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건물 전력 증감 (2018→2025)</a:t>
            </a:r>
            <a:endParaRPr lang="en-US" sz="1100" dirty="0"/>
          </a:p>
        </p:txBody>
      </p:sp>
      <p:sp>
        <p:nvSpPr>
          <p:cNvPr id="13" name="Text 11"/>
          <p:cNvSpPr txBox="1"/>
          <p:nvPr/>
        </p:nvSpPr>
        <p:spPr>
          <a:xfrm>
            <a:off x="685800" y="3877056"/>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지표 2</a:t>
            </a:r>
            <a:endParaRPr lang="en-US" sz="1100" dirty="0"/>
          </a:p>
        </p:txBody>
      </p:sp>
      <p:sp>
        <p:nvSpPr>
          <p:cNvPr id="14" name="Text 12"/>
          <p:cNvSpPr txBox="1"/>
          <p:nvPr/>
        </p:nvSpPr>
        <p:spPr>
          <a:xfrm>
            <a:off x="2103120" y="3877056"/>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가구당 주택용 전력 (2025)</a:t>
            </a:r>
            <a:endParaRPr lang="en-US" sz="1100" dirty="0"/>
          </a:p>
        </p:txBody>
      </p:sp>
      <p:sp>
        <p:nvSpPr>
          <p:cNvPr id="15" name="Text 13"/>
          <p:cNvSpPr txBox="1"/>
          <p:nvPr/>
        </p:nvSpPr>
        <p:spPr>
          <a:xfrm>
            <a:off x="685800" y="4206240"/>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참고</a:t>
            </a:r>
            <a:endParaRPr lang="en-US" sz="1100" dirty="0"/>
          </a:p>
        </p:txBody>
      </p:sp>
      <p:sp>
        <p:nvSpPr>
          <p:cNvPr id="16" name="Text 14"/>
          <p:cNvSpPr txBox="1"/>
          <p:nvPr/>
        </p:nvSpPr>
        <p:spPr>
          <a:xfrm>
            <a:off x="2103120" y="4206240"/>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온실가스 건물 등 (2018→2023)</a:t>
            </a:r>
            <a:endParaRPr lang="en-US" sz="1100" dirty="0"/>
          </a:p>
        </p:txBody>
      </p:sp>
      <p:sp>
        <p:nvSpPr>
          <p:cNvPr id="17" name="Shape 15"/>
          <p:cNvSpPr/>
          <p:nvPr/>
        </p:nvSpPr>
        <p:spPr>
          <a:xfrm>
            <a:off x="685800" y="5440680"/>
            <a:ext cx="3474720" cy="310896"/>
          </a:xfrm>
          <a:prstGeom prst="roundRect">
            <a:avLst>
              <a:gd name="adj" fmla="val 17647"/>
            </a:avLst>
          </a:prstGeom>
          <a:solidFill>
            <a:srgbClr val="FFFFFF"/>
          </a:solidFill>
          <a:ln w="12700">
            <a:solidFill>
              <a:srgbClr val="FFFFFF"/>
            </a:solidFill>
            <a:prstDash val="solid"/>
          </a:ln>
        </p:spPr>
      </p:sp>
      <p:sp>
        <p:nvSpPr>
          <p:cNvPr id="18" name="Text 16"/>
          <p:cNvSpPr txBox="1"/>
          <p:nvPr/>
        </p:nvSpPr>
        <p:spPr>
          <a:xfrm>
            <a:off x="685800" y="5440680"/>
            <a:ext cx="3474720" cy="310896"/>
          </a:xfrm>
          <a:prstGeom prst="rect">
            <a:avLst/>
          </a:prstGeom>
          <a:noFill/>
          <a:ln/>
        </p:spPr>
        <p:txBody>
          <a:bodyPr wrap="square" lIns="0" tIns="0" rIns="0" bIns="0" rtlCol="0" anchor="ctr"/>
          <a:lstStyle/>
          <a:p>
            <a:pPr algn="ctr" indent="0" marL="0">
              <a:buNone/>
            </a:pPr>
            <a:r>
              <a:rPr lang="en-US" sz="1050" b="1" dirty="0">
                <a:solidFill>
                  <a:srgbClr val="2F5D50"/>
                </a:solidFill>
                <a:latin typeface="Malgun Gothic" pitchFamily="34" charset="0"/>
                <a:ea typeface="Malgun Gothic" pitchFamily="34" charset="-122"/>
                <a:cs typeface="Malgun Gothic" pitchFamily="34" charset="-120"/>
              </a:rPr>
              <a:t>메뉴: 지도 분석 → 전국 → 전북</a:t>
            </a:r>
            <a:endParaRPr lang="en-US" sz="1050" dirty="0"/>
          </a:p>
        </p:txBody>
      </p:sp>
      <p:sp>
        <p:nvSpPr>
          <p:cNvPr id="19" name="Shape 17"/>
          <p:cNvSpPr/>
          <p:nvPr/>
        </p:nvSpPr>
        <p:spPr>
          <a:xfrm>
            <a:off x="457200" y="5989320"/>
            <a:ext cx="11274552" cy="411480"/>
          </a:xfrm>
          <a:prstGeom prst="roundRect">
            <a:avLst>
              <a:gd name="adj" fmla="val 13333"/>
            </a:avLst>
          </a:prstGeom>
          <a:solidFill>
            <a:srgbClr val="1F3A33"/>
          </a:solidFill>
          <a:ln w="12700">
            <a:solidFill>
              <a:srgbClr val="1F3A33"/>
            </a:solidFill>
            <a:prstDash val="solid"/>
          </a:ln>
        </p:spPr>
      </p:sp>
      <p:sp>
        <p:nvSpPr>
          <p:cNvPr id="20" name="Text 18"/>
          <p:cNvSpPr txBox="1"/>
          <p:nvPr/>
        </p:nvSpPr>
        <p:spPr>
          <a:xfrm>
            <a:off x="640080" y="5989320"/>
            <a:ext cx="10972800" cy="411480"/>
          </a:xfrm>
          <a:prstGeom prst="rect">
            <a:avLst/>
          </a:prstGeom>
          <a:noFill/>
          <a:ln/>
        </p:spPr>
        <p:txBody>
          <a:bodyPr wrap="square" lIns="0" tIns="0" rIns="0" bIns="0" rtlCol="0" anchor="ctr"/>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건물 전력은 모든 시·군에서 늘었고(+4.6~+22.3%), 완주군·순창군이 가장 큼 → 증가율 상위 지역부터 수요관리 사업</a:t>
            </a:r>
            <a:endParaRPr lang="en-US" sz="1250" dirty="0"/>
          </a:p>
        </p:txBody>
      </p:sp>
      <p:sp>
        <p:nvSpPr>
          <p:cNvPr id="21" name="Text 19"/>
          <p:cNvSpPr txBox="1"/>
          <p:nvPr/>
        </p:nvSpPr>
        <p:spPr>
          <a:xfrm>
            <a:off x="4572000" y="6473952"/>
            <a:ext cx="715975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같은 기간 온실가스 건물 등은 -22.9~-12.4% (2018→2023): 전력 배출계수 하락 영향이 큼</a:t>
            </a:r>
            <a:endParaRPr lang="en-US" sz="900" dirty="0"/>
          </a:p>
        </p:txBody>
      </p:sp>
      <p:graphicFrame>
        <p:nvGraphicFramePr>
          <p:cNvPr id="23" name="Chart 0" descr=""/>
          <p:cNvGraphicFramePr/>
          <p:nvPr/>
        </p:nvGraphicFramePr>
        <p:xfrm>
          <a:off x="4709160" y="1325880"/>
          <a:ext cx="4206240" cy="4526280"/>
        </p:xfrm>
        <a:graphic xmlns:a="http://schemas.openxmlformats.org/drawingml/2006/main">
          <a:graphicData uri="http://schemas.openxmlformats.org/drawingml/2006/chart">
            <c:chart xmlns:c="http://schemas.openxmlformats.org/drawingml/2006/chart" r:id="rId1"/>
          </a:graphicData>
        </a:graphic>
      </p:graphicFrame>
      <p:sp>
        <p:nvSpPr>
          <p:cNvPr id="24" name="Text 20"/>
          <p:cNvSpPr txBox="1"/>
          <p:nvPr/>
        </p:nvSpPr>
        <p:spPr>
          <a:xfrm>
            <a:off x="9144000" y="1371600"/>
            <a:ext cx="2606040" cy="274320"/>
          </a:xfrm>
          <a:prstGeom prst="rect">
            <a:avLst/>
          </a:prstGeom>
          <a:noFill/>
          <a:ln/>
        </p:spPr>
        <p:txBody>
          <a:bodyPr wrap="square" lIns="0" tIns="0" rIns="0" bIns="0" rtlCol="0" anchor="t"/>
          <a:lstStyle/>
          <a:p>
            <a:pPr indent="0" marL="0">
              <a:buNone/>
            </a:pPr>
            <a:r>
              <a:rPr lang="en-US" sz="1150" b="1" dirty="0">
                <a:solidFill>
                  <a:srgbClr val="2F5D50"/>
                </a:solidFill>
                <a:latin typeface="Malgun Gothic" pitchFamily="34" charset="0"/>
                <a:ea typeface="Malgun Gothic" pitchFamily="34" charset="-122"/>
                <a:cs typeface="Malgun Gothic" pitchFamily="34" charset="-120"/>
              </a:rPr>
              <a:t>가구당 주택용 전력 (2025, kWh)</a:t>
            </a:r>
            <a:endParaRPr lang="en-US" sz="1150" dirty="0"/>
          </a:p>
        </p:txBody>
      </p:sp>
      <p:sp>
        <p:nvSpPr>
          <p:cNvPr id="25" name="Text 21"/>
          <p:cNvSpPr txBox="1"/>
          <p:nvPr/>
        </p:nvSpPr>
        <p:spPr>
          <a:xfrm>
            <a:off x="9144000" y="1737360"/>
            <a:ext cx="1463040" cy="320040"/>
          </a:xfrm>
          <a:prstGeom prst="rect">
            <a:avLst/>
          </a:prstGeom>
          <a:noFill/>
          <a:ln/>
        </p:spPr>
        <p:txBody>
          <a:bodyPr wrap="square" lIns="0" tIns="0" rIns="0" bIns="0" rtlCol="0" anchor="t"/>
          <a:lstStyle/>
          <a:p>
            <a:pPr indent="0" marL="0">
              <a:buNone/>
            </a:pPr>
            <a:r>
              <a:rPr lang="en-US" sz="1200" b="1" dirty="0">
                <a:solidFill>
                  <a:srgbClr val="1C2622"/>
                </a:solidFill>
                <a:latin typeface="Malgun Gothic" pitchFamily="34" charset="0"/>
                <a:ea typeface="Malgun Gothic" pitchFamily="34" charset="-122"/>
                <a:cs typeface="Malgun Gothic" pitchFamily="34" charset="-120"/>
              </a:rPr>
              <a:t>전주시</a:t>
            </a:r>
            <a:endParaRPr lang="en-US" sz="1200" dirty="0"/>
          </a:p>
        </p:txBody>
      </p:sp>
      <p:sp>
        <p:nvSpPr>
          <p:cNvPr id="26" name="Text 22"/>
          <p:cNvSpPr txBox="1"/>
          <p:nvPr/>
        </p:nvSpPr>
        <p:spPr>
          <a:xfrm>
            <a:off x="10607040" y="1737360"/>
            <a:ext cx="1097280" cy="320040"/>
          </a:xfrm>
          <a:prstGeom prst="rect">
            <a:avLst/>
          </a:prstGeom>
          <a:noFill/>
          <a:ln/>
        </p:spPr>
        <p:txBody>
          <a:bodyPr wrap="square" lIns="0" tIns="0" rIns="0" bIns="0" rtlCol="0" anchor="t"/>
          <a:lstStyle/>
          <a:p>
            <a:pPr algn="r" indent="0" marL="0">
              <a:buNone/>
            </a:pPr>
            <a:r>
              <a:rPr lang="en-US" sz="1250" b="1" dirty="0">
                <a:solidFill>
                  <a:srgbClr val="2F5D50"/>
                </a:solidFill>
                <a:latin typeface="Malgun Gothic" pitchFamily="34" charset="0"/>
                <a:ea typeface="Malgun Gothic" pitchFamily="34" charset="-122"/>
                <a:cs typeface="Malgun Gothic" pitchFamily="34" charset="-120"/>
              </a:rPr>
              <a:t>3,894</a:t>
            </a:r>
            <a:endParaRPr lang="en-US" sz="1250" dirty="0"/>
          </a:p>
        </p:txBody>
      </p:sp>
      <p:sp>
        <p:nvSpPr>
          <p:cNvPr id="27" name="Text 23"/>
          <p:cNvSpPr txBox="1"/>
          <p:nvPr/>
        </p:nvSpPr>
        <p:spPr>
          <a:xfrm>
            <a:off x="9144000" y="2194560"/>
            <a:ext cx="1463040" cy="320040"/>
          </a:xfrm>
          <a:prstGeom prst="rect">
            <a:avLst/>
          </a:prstGeom>
          <a:noFill/>
          <a:ln/>
        </p:spPr>
        <p:txBody>
          <a:bodyPr wrap="square" lIns="0" tIns="0" rIns="0" bIns="0" rtlCol="0" anchor="t"/>
          <a:lstStyle/>
          <a:p>
            <a:pPr indent="0" marL="0">
              <a:buNone/>
            </a:pPr>
            <a:r>
              <a:rPr lang="en-US" sz="1200" b="1" dirty="0">
                <a:solidFill>
                  <a:srgbClr val="1C2622"/>
                </a:solidFill>
                <a:latin typeface="Malgun Gothic" pitchFamily="34" charset="0"/>
                <a:ea typeface="Malgun Gothic" pitchFamily="34" charset="-122"/>
                <a:cs typeface="Malgun Gothic" pitchFamily="34" charset="-120"/>
              </a:rPr>
              <a:t>군산시</a:t>
            </a:r>
            <a:endParaRPr lang="en-US" sz="1200" dirty="0"/>
          </a:p>
        </p:txBody>
      </p:sp>
      <p:sp>
        <p:nvSpPr>
          <p:cNvPr id="28" name="Text 24"/>
          <p:cNvSpPr txBox="1"/>
          <p:nvPr/>
        </p:nvSpPr>
        <p:spPr>
          <a:xfrm>
            <a:off x="10607040" y="2194560"/>
            <a:ext cx="1097280" cy="320040"/>
          </a:xfrm>
          <a:prstGeom prst="rect">
            <a:avLst/>
          </a:prstGeom>
          <a:noFill/>
          <a:ln/>
        </p:spPr>
        <p:txBody>
          <a:bodyPr wrap="square" lIns="0" tIns="0" rIns="0" bIns="0" rtlCol="0" anchor="t"/>
          <a:lstStyle/>
          <a:p>
            <a:pPr algn="r" indent="0" marL="0">
              <a:buNone/>
            </a:pPr>
            <a:r>
              <a:rPr lang="en-US" sz="1250" b="1" dirty="0">
                <a:solidFill>
                  <a:srgbClr val="2F5D50"/>
                </a:solidFill>
                <a:latin typeface="Malgun Gothic" pitchFamily="34" charset="0"/>
                <a:ea typeface="Malgun Gothic" pitchFamily="34" charset="-122"/>
                <a:cs typeface="Malgun Gothic" pitchFamily="34" charset="-120"/>
              </a:rPr>
              <a:t>3,829</a:t>
            </a:r>
            <a:endParaRPr lang="en-US" sz="1250" dirty="0"/>
          </a:p>
        </p:txBody>
      </p:sp>
      <p:sp>
        <p:nvSpPr>
          <p:cNvPr id="29" name="Text 25"/>
          <p:cNvSpPr txBox="1"/>
          <p:nvPr/>
        </p:nvSpPr>
        <p:spPr>
          <a:xfrm>
            <a:off x="9144000" y="2651760"/>
            <a:ext cx="1463040" cy="320040"/>
          </a:xfrm>
          <a:prstGeom prst="rect">
            <a:avLst/>
          </a:prstGeom>
          <a:noFill/>
          <a:ln/>
        </p:spPr>
        <p:txBody>
          <a:bodyPr wrap="square" lIns="0" tIns="0" rIns="0" bIns="0" rtlCol="0" anchor="t"/>
          <a:lstStyle/>
          <a:p>
            <a:pPr indent="0" marL="0">
              <a:buNone/>
            </a:pPr>
            <a:r>
              <a:rPr lang="en-US" sz="1200" b="1" dirty="0">
                <a:solidFill>
                  <a:srgbClr val="1C2622"/>
                </a:solidFill>
                <a:latin typeface="Malgun Gothic" pitchFamily="34" charset="0"/>
                <a:ea typeface="Malgun Gothic" pitchFamily="34" charset="-122"/>
                <a:cs typeface="Malgun Gothic" pitchFamily="34" charset="-120"/>
              </a:rPr>
              <a:t>익산시</a:t>
            </a:r>
            <a:endParaRPr lang="en-US" sz="1200" dirty="0"/>
          </a:p>
        </p:txBody>
      </p:sp>
      <p:sp>
        <p:nvSpPr>
          <p:cNvPr id="30" name="Text 26"/>
          <p:cNvSpPr txBox="1"/>
          <p:nvPr/>
        </p:nvSpPr>
        <p:spPr>
          <a:xfrm>
            <a:off x="10607040" y="2651760"/>
            <a:ext cx="1097280" cy="320040"/>
          </a:xfrm>
          <a:prstGeom prst="rect">
            <a:avLst/>
          </a:prstGeom>
          <a:noFill/>
          <a:ln/>
        </p:spPr>
        <p:txBody>
          <a:bodyPr wrap="square" lIns="0" tIns="0" rIns="0" bIns="0" rtlCol="0" anchor="t"/>
          <a:lstStyle/>
          <a:p>
            <a:pPr algn="r" indent="0" marL="0">
              <a:buNone/>
            </a:pPr>
            <a:r>
              <a:rPr lang="en-US" sz="1250" b="1" dirty="0">
                <a:solidFill>
                  <a:srgbClr val="2F5D50"/>
                </a:solidFill>
                <a:latin typeface="Malgun Gothic" pitchFamily="34" charset="0"/>
                <a:ea typeface="Malgun Gothic" pitchFamily="34" charset="-122"/>
                <a:cs typeface="Malgun Gothic" pitchFamily="34" charset="-120"/>
              </a:rPr>
              <a:t>3,607</a:t>
            </a:r>
            <a:endParaRPr lang="en-US" sz="1250" dirty="0"/>
          </a:p>
        </p:txBody>
      </p:sp>
      <p:sp>
        <p:nvSpPr>
          <p:cNvPr id="31" name="Text 27"/>
          <p:cNvSpPr txBox="1"/>
          <p:nvPr/>
        </p:nvSpPr>
        <p:spPr>
          <a:xfrm>
            <a:off x="9144000" y="3108960"/>
            <a:ext cx="2560320" cy="320040"/>
          </a:xfrm>
          <a:prstGeom prst="rect">
            <a:avLst/>
          </a:prstGeom>
          <a:noFill/>
          <a:ln/>
        </p:spPr>
        <p:txBody>
          <a:bodyPr wrap="square" lIns="0" tIns="0" rIns="0" bIns="0" rtlCol="0" anchor="t"/>
          <a:lstStyle/>
          <a:p>
            <a:pPr algn="ctr" indent="0" marL="0">
              <a:buNone/>
            </a:pPr>
            <a:r>
              <a:rPr lang="en-US" sz="1200" dirty="0">
                <a:solidFill>
                  <a:srgbClr val="6B746E"/>
                </a:solidFill>
                <a:latin typeface="Malgun Gothic" pitchFamily="34" charset="0"/>
                <a:ea typeface="Malgun Gothic" pitchFamily="34" charset="-122"/>
                <a:cs typeface="Malgun Gothic" pitchFamily="34" charset="-120"/>
              </a:rPr>
              <a:t>⋮</a:t>
            </a:r>
            <a:endParaRPr lang="en-US" sz="1200" dirty="0"/>
          </a:p>
        </p:txBody>
      </p:sp>
      <p:sp>
        <p:nvSpPr>
          <p:cNvPr id="32" name="Text 28"/>
          <p:cNvSpPr txBox="1"/>
          <p:nvPr/>
        </p:nvSpPr>
        <p:spPr>
          <a:xfrm>
            <a:off x="9144000" y="3566160"/>
            <a:ext cx="1463040" cy="320040"/>
          </a:xfrm>
          <a:prstGeom prst="rect">
            <a:avLst/>
          </a:prstGeom>
          <a:noFill/>
          <a:ln/>
        </p:spPr>
        <p:txBody>
          <a:bodyPr wrap="square" lIns="0" tIns="0" rIns="0" bIns="0" rtlCol="0" anchor="t"/>
          <a:lstStyle/>
          <a:p>
            <a:pPr indent="0" marL="0">
              <a:buNone/>
            </a:pPr>
            <a:r>
              <a:rPr lang="en-US" sz="1200" b="1" dirty="0">
                <a:solidFill>
                  <a:srgbClr val="1C2622"/>
                </a:solidFill>
                <a:latin typeface="Malgun Gothic" pitchFamily="34" charset="0"/>
                <a:ea typeface="Malgun Gothic" pitchFamily="34" charset="-122"/>
                <a:cs typeface="Malgun Gothic" pitchFamily="34" charset="-120"/>
              </a:rPr>
              <a:t>진안군</a:t>
            </a:r>
            <a:endParaRPr lang="en-US" sz="1200" dirty="0"/>
          </a:p>
        </p:txBody>
      </p:sp>
      <p:sp>
        <p:nvSpPr>
          <p:cNvPr id="33" name="Text 29"/>
          <p:cNvSpPr txBox="1"/>
          <p:nvPr/>
        </p:nvSpPr>
        <p:spPr>
          <a:xfrm>
            <a:off x="10607040" y="3566160"/>
            <a:ext cx="1097280" cy="320040"/>
          </a:xfrm>
          <a:prstGeom prst="rect">
            <a:avLst/>
          </a:prstGeom>
          <a:noFill/>
          <a:ln/>
        </p:spPr>
        <p:txBody>
          <a:bodyPr wrap="square" lIns="0" tIns="0" rIns="0" bIns="0" rtlCol="0" anchor="t"/>
          <a:lstStyle/>
          <a:p>
            <a:pPr algn="r" indent="0" marL="0">
              <a:buNone/>
            </a:pPr>
            <a:r>
              <a:rPr lang="en-US" sz="1250" b="1" dirty="0">
                <a:solidFill>
                  <a:srgbClr val="2F5D50"/>
                </a:solidFill>
                <a:latin typeface="Malgun Gothic" pitchFamily="34" charset="0"/>
                <a:ea typeface="Malgun Gothic" pitchFamily="34" charset="-122"/>
                <a:cs typeface="Malgun Gothic" pitchFamily="34" charset="-120"/>
              </a:rPr>
              <a:t>2,779</a:t>
            </a:r>
            <a:endParaRPr lang="en-US" sz="1250" dirty="0"/>
          </a:p>
        </p:txBody>
      </p:sp>
      <p:sp>
        <p:nvSpPr>
          <p:cNvPr id="34" name="Text 30"/>
          <p:cNvSpPr txBox="1"/>
          <p:nvPr/>
        </p:nvSpPr>
        <p:spPr>
          <a:xfrm>
            <a:off x="9144000" y="4023360"/>
            <a:ext cx="1463040" cy="320040"/>
          </a:xfrm>
          <a:prstGeom prst="rect">
            <a:avLst/>
          </a:prstGeom>
          <a:noFill/>
          <a:ln/>
        </p:spPr>
        <p:txBody>
          <a:bodyPr wrap="square" lIns="0" tIns="0" rIns="0" bIns="0" rtlCol="0" anchor="t"/>
          <a:lstStyle/>
          <a:p>
            <a:pPr indent="0" marL="0">
              <a:buNone/>
            </a:pPr>
            <a:r>
              <a:rPr lang="en-US" sz="1200" b="1" dirty="0">
                <a:solidFill>
                  <a:srgbClr val="1C2622"/>
                </a:solidFill>
                <a:latin typeface="Malgun Gothic" pitchFamily="34" charset="0"/>
                <a:ea typeface="Malgun Gothic" pitchFamily="34" charset="-122"/>
                <a:cs typeface="Malgun Gothic" pitchFamily="34" charset="-120"/>
              </a:rPr>
              <a:t>장수군</a:t>
            </a:r>
            <a:endParaRPr lang="en-US" sz="1200" dirty="0"/>
          </a:p>
        </p:txBody>
      </p:sp>
      <p:sp>
        <p:nvSpPr>
          <p:cNvPr id="35" name="Text 31"/>
          <p:cNvSpPr txBox="1"/>
          <p:nvPr/>
        </p:nvSpPr>
        <p:spPr>
          <a:xfrm>
            <a:off x="10607040" y="4023360"/>
            <a:ext cx="1097280" cy="320040"/>
          </a:xfrm>
          <a:prstGeom prst="rect">
            <a:avLst/>
          </a:prstGeom>
          <a:noFill/>
          <a:ln/>
        </p:spPr>
        <p:txBody>
          <a:bodyPr wrap="square" lIns="0" tIns="0" rIns="0" bIns="0" rtlCol="0" anchor="t"/>
          <a:lstStyle/>
          <a:p>
            <a:pPr algn="r" indent="0" marL="0">
              <a:buNone/>
            </a:pPr>
            <a:r>
              <a:rPr lang="en-US" sz="1250" b="1" dirty="0">
                <a:solidFill>
                  <a:srgbClr val="2F5D50"/>
                </a:solidFill>
                <a:latin typeface="Malgun Gothic" pitchFamily="34" charset="0"/>
                <a:ea typeface="Malgun Gothic" pitchFamily="34" charset="-122"/>
                <a:cs typeface="Malgun Gothic" pitchFamily="34" charset="-120"/>
              </a:rPr>
              <a:t>2,726</a:t>
            </a:r>
            <a:endParaRPr lang="en-US" sz="1250" dirty="0"/>
          </a:p>
        </p:txBody>
      </p:sp>
      <p:sp>
        <p:nvSpPr>
          <p:cNvPr id="36" name="Text 32"/>
          <p:cNvSpPr txBox="1"/>
          <p:nvPr/>
        </p:nvSpPr>
        <p:spPr>
          <a:xfrm>
            <a:off x="9144000" y="4480560"/>
            <a:ext cx="1463040" cy="320040"/>
          </a:xfrm>
          <a:prstGeom prst="rect">
            <a:avLst/>
          </a:prstGeom>
          <a:noFill/>
          <a:ln/>
        </p:spPr>
        <p:txBody>
          <a:bodyPr wrap="square" lIns="0" tIns="0" rIns="0" bIns="0" rtlCol="0" anchor="t"/>
          <a:lstStyle/>
          <a:p>
            <a:pPr indent="0" marL="0">
              <a:buNone/>
            </a:pPr>
            <a:r>
              <a:rPr lang="en-US" sz="1200" b="1" dirty="0">
                <a:solidFill>
                  <a:srgbClr val="1C2622"/>
                </a:solidFill>
                <a:latin typeface="Malgun Gothic" pitchFamily="34" charset="0"/>
                <a:ea typeface="Malgun Gothic" pitchFamily="34" charset="-122"/>
                <a:cs typeface="Malgun Gothic" pitchFamily="34" charset="-120"/>
              </a:rPr>
              <a:t>임실군</a:t>
            </a:r>
            <a:endParaRPr lang="en-US" sz="1200" dirty="0"/>
          </a:p>
        </p:txBody>
      </p:sp>
      <p:sp>
        <p:nvSpPr>
          <p:cNvPr id="37" name="Text 33"/>
          <p:cNvSpPr txBox="1"/>
          <p:nvPr/>
        </p:nvSpPr>
        <p:spPr>
          <a:xfrm>
            <a:off x="10607040" y="4480560"/>
            <a:ext cx="1097280" cy="320040"/>
          </a:xfrm>
          <a:prstGeom prst="rect">
            <a:avLst/>
          </a:prstGeom>
          <a:noFill/>
          <a:ln/>
        </p:spPr>
        <p:txBody>
          <a:bodyPr wrap="square" lIns="0" tIns="0" rIns="0" bIns="0" rtlCol="0" anchor="t"/>
          <a:lstStyle/>
          <a:p>
            <a:pPr algn="r" indent="0" marL="0">
              <a:buNone/>
            </a:pPr>
            <a:r>
              <a:rPr lang="en-US" sz="1250" b="1" dirty="0">
                <a:solidFill>
                  <a:srgbClr val="2F5D50"/>
                </a:solidFill>
                <a:latin typeface="Malgun Gothic" pitchFamily="34" charset="0"/>
                <a:ea typeface="Malgun Gothic" pitchFamily="34" charset="-122"/>
                <a:cs typeface="Malgun Gothic" pitchFamily="34" charset="-120"/>
              </a:rPr>
              <a:t>2,623</a:t>
            </a:r>
            <a:endParaRPr lang="en-US" sz="1250" dirty="0"/>
          </a:p>
        </p:txBody>
      </p:sp>
      <p:sp>
        <p:nvSpPr>
          <p:cNvPr id="38" name="Text 34"/>
          <p:cNvSpPr txBox="1"/>
          <p:nvPr/>
        </p:nvSpPr>
        <p:spPr>
          <a:xfrm>
            <a:off x="9144000" y="5029200"/>
            <a:ext cx="2606040" cy="548640"/>
          </a:xfrm>
          <a:prstGeom prst="rect">
            <a:avLst/>
          </a:prstGeom>
          <a:noFill/>
          <a:ln/>
        </p:spPr>
        <p:txBody>
          <a:bodyPr wrap="square" lIns="0" tIns="0" rIns="0" bIns="0" rtlCol="0" anchor="t"/>
          <a:lstStyle/>
          <a:p>
            <a:pPr indent="0" marL="0">
              <a:buNone/>
            </a:pPr>
            <a:r>
              <a:rPr lang="en-US" sz="1050" dirty="0">
                <a:solidFill>
                  <a:srgbClr val="505B55"/>
                </a:solidFill>
                <a:latin typeface="Malgun Gothic" pitchFamily="34" charset="0"/>
                <a:ea typeface="Malgun Gothic" pitchFamily="34" charset="-122"/>
                <a:cs typeface="Malgun Gothic" pitchFamily="34" charset="-120"/>
              </a:rPr>
              <a:t>도시는 가구당 사용이 많고, 산간 군은 적습니다.</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소개와 활용 · 30</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활용 예시 11 · 도시가스사·설계사무소</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500" b="1" dirty="0">
                <a:solidFill>
                  <a:srgbClr val="1C2622"/>
                </a:solidFill>
                <a:latin typeface="Malgun Gothic" pitchFamily="34" charset="0"/>
                <a:ea typeface="Malgun Gothic" pitchFamily="34" charset="-122"/>
                <a:cs typeface="Malgun Gothic" pitchFamily="34" charset="-120"/>
              </a:rPr>
              <a:t>난방방식에 따라 가스 수요는 얼마나 다를까?</a:t>
            </a:r>
            <a:endParaRPr lang="en-US" sz="2500" dirty="0"/>
          </a:p>
        </p:txBody>
      </p:sp>
      <p:sp>
        <p:nvSpPr>
          <p:cNvPr id="5" name="Shape 3"/>
          <p:cNvSpPr/>
          <p:nvPr/>
        </p:nvSpPr>
        <p:spPr>
          <a:xfrm>
            <a:off x="457200" y="1325880"/>
            <a:ext cx="3931920" cy="4572000"/>
          </a:xfrm>
          <a:prstGeom prst="roundRect">
            <a:avLst>
              <a:gd name="adj" fmla="val 1860"/>
            </a:avLst>
          </a:prstGeom>
          <a:solidFill>
            <a:srgbClr val="F4F6F4"/>
          </a:solidFill>
          <a:ln w="9525">
            <a:solidFill>
              <a:srgbClr val="D9D7CE"/>
            </a:solidFill>
            <a:prstDash val="solid"/>
          </a:ln>
        </p:spPr>
      </p:sp>
      <p:sp>
        <p:nvSpPr>
          <p:cNvPr id="6" name="Text 4"/>
          <p:cNvSpPr txBox="1"/>
          <p:nvPr/>
        </p:nvSpPr>
        <p:spPr>
          <a:xfrm>
            <a:off x="685800" y="1481328"/>
            <a:ext cx="34747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상황</a:t>
            </a:r>
            <a:endParaRPr lang="en-US" sz="1200" dirty="0"/>
          </a:p>
        </p:txBody>
      </p:sp>
      <p:sp>
        <p:nvSpPr>
          <p:cNvPr id="7" name="Text 5"/>
          <p:cNvSpPr txBox="1"/>
          <p:nvPr/>
        </p:nvSpPr>
        <p:spPr>
          <a:xfrm>
            <a:off x="685800" y="1783080"/>
            <a:ext cx="3520440" cy="1051560"/>
          </a:xfrm>
          <a:prstGeom prst="rect">
            <a:avLst/>
          </a:prstGeom>
          <a:noFill/>
          <a:ln/>
        </p:spPr>
        <p:txBody>
          <a:bodyPr wrap="square" lIns="0" tIns="0" rIns="0" bIns="0" rtlCol="0" anchor="t"/>
          <a:lstStyle/>
          <a:p>
            <a:pPr indent="0" marL="0">
              <a:lnSpc>
                <a:spcPct val="112000"/>
              </a:lnSpc>
              <a:buNone/>
            </a:pPr>
            <a:r>
              <a:rPr lang="en-US" sz="1150" dirty="0">
                <a:solidFill>
                  <a:srgbClr val="1C2622"/>
                </a:solidFill>
                <a:latin typeface="Malgun Gothic" pitchFamily="34" charset="0"/>
                <a:ea typeface="Malgun Gothic" pitchFamily="34" charset="-122"/>
                <a:cs typeface="Malgun Gothic" pitchFamily="34" charset="-120"/>
              </a:rPr>
              <a:t>수원에 연면적 8.5만㎡(약 1,000세대) 단지를 계획. 지역난방이면 도시가스는 취사 정도만 쓰고, 개별난방이면 난방까지 가스로 한다. 공급사와 설계사가 수요를 미리 본다.</a:t>
            </a:r>
            <a:endParaRPr lang="en-US" sz="1150" dirty="0"/>
          </a:p>
        </p:txBody>
      </p:sp>
      <p:sp>
        <p:nvSpPr>
          <p:cNvPr id="8" name="Text 6"/>
          <p:cNvSpPr txBox="1"/>
          <p:nvPr/>
        </p:nvSpPr>
        <p:spPr>
          <a:xfrm>
            <a:off x="685800" y="2907792"/>
            <a:ext cx="347472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입력</a:t>
            </a:r>
            <a:endParaRPr lang="en-US" sz="1200" dirty="0"/>
          </a:p>
        </p:txBody>
      </p:sp>
      <p:sp>
        <p:nvSpPr>
          <p:cNvPr id="9" name="Text 7"/>
          <p:cNvSpPr txBox="1"/>
          <p:nvPr/>
        </p:nvSpPr>
        <p:spPr>
          <a:xfrm>
            <a:off x="685800" y="3218688"/>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지역</a:t>
            </a:r>
            <a:endParaRPr lang="en-US" sz="1100" dirty="0"/>
          </a:p>
        </p:txBody>
      </p:sp>
      <p:sp>
        <p:nvSpPr>
          <p:cNvPr id="10" name="Text 8"/>
          <p:cNvSpPr txBox="1"/>
          <p:nvPr/>
        </p:nvSpPr>
        <p:spPr>
          <a:xfrm>
            <a:off x="2103120" y="3218688"/>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수원시 공동주택 (2025)</a:t>
            </a:r>
            <a:endParaRPr lang="en-US" sz="1100" dirty="0"/>
          </a:p>
        </p:txBody>
      </p:sp>
      <p:sp>
        <p:nvSpPr>
          <p:cNvPr id="11" name="Text 9"/>
          <p:cNvSpPr txBox="1"/>
          <p:nvPr/>
        </p:nvSpPr>
        <p:spPr>
          <a:xfrm>
            <a:off x="685800" y="3547872"/>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지역난방 단지</a:t>
            </a:r>
            <a:endParaRPr lang="en-US" sz="1100" dirty="0"/>
          </a:p>
        </p:txBody>
      </p:sp>
      <p:sp>
        <p:nvSpPr>
          <p:cNvPr id="12" name="Text 10"/>
          <p:cNvSpPr txBox="1"/>
          <p:nvPr/>
        </p:nvSpPr>
        <p:spPr>
          <a:xfrm>
            <a:off x="2103120" y="3547872"/>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258곳 · 가스 원단위 중앙값</a:t>
            </a:r>
            <a:endParaRPr lang="en-US" sz="1100" dirty="0"/>
          </a:p>
        </p:txBody>
      </p:sp>
      <p:sp>
        <p:nvSpPr>
          <p:cNvPr id="13" name="Text 11"/>
          <p:cNvSpPr txBox="1"/>
          <p:nvPr/>
        </p:nvSpPr>
        <p:spPr>
          <a:xfrm>
            <a:off x="685800" y="3877056"/>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개별난방 단지</a:t>
            </a:r>
            <a:endParaRPr lang="en-US" sz="1100" dirty="0"/>
          </a:p>
        </p:txBody>
      </p:sp>
      <p:sp>
        <p:nvSpPr>
          <p:cNvPr id="14" name="Text 12"/>
          <p:cNvSpPr txBox="1"/>
          <p:nvPr/>
        </p:nvSpPr>
        <p:spPr>
          <a:xfrm>
            <a:off x="2103120" y="3877056"/>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188곳 · 가스 원단위 중앙값</a:t>
            </a:r>
            <a:endParaRPr lang="en-US" sz="1100" dirty="0"/>
          </a:p>
        </p:txBody>
      </p:sp>
      <p:sp>
        <p:nvSpPr>
          <p:cNvPr id="15" name="Text 13"/>
          <p:cNvSpPr txBox="1"/>
          <p:nvPr/>
        </p:nvSpPr>
        <p:spPr>
          <a:xfrm>
            <a:off x="685800" y="4206240"/>
            <a:ext cx="1417320" cy="292608"/>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계획 연면적</a:t>
            </a:r>
            <a:endParaRPr lang="en-US" sz="1100" dirty="0"/>
          </a:p>
        </p:txBody>
      </p:sp>
      <p:sp>
        <p:nvSpPr>
          <p:cNvPr id="16" name="Text 14"/>
          <p:cNvSpPr txBox="1"/>
          <p:nvPr/>
        </p:nvSpPr>
        <p:spPr>
          <a:xfrm>
            <a:off x="2103120" y="4206240"/>
            <a:ext cx="2148840" cy="292608"/>
          </a:xfrm>
          <a:prstGeom prst="rect">
            <a:avLst/>
          </a:prstGeom>
          <a:noFill/>
          <a:ln/>
        </p:spPr>
        <p:txBody>
          <a:bodyPr wrap="square" lIns="0" tIns="0" rIns="0" bIns="0" rtlCol="0" anchor="t"/>
          <a:lstStyle/>
          <a:p>
            <a:pPr indent="0" marL="0">
              <a:buNone/>
            </a:pPr>
            <a:r>
              <a:rPr lang="en-US" sz="1100" b="1" dirty="0">
                <a:solidFill>
                  <a:srgbClr val="1C2622"/>
                </a:solidFill>
                <a:latin typeface="Malgun Gothic" pitchFamily="34" charset="0"/>
                <a:ea typeface="Malgun Gothic" pitchFamily="34" charset="-122"/>
                <a:cs typeface="Malgun Gothic" pitchFamily="34" charset="-120"/>
              </a:rPr>
              <a:t>85,000㎡</a:t>
            </a:r>
            <a:endParaRPr lang="en-US" sz="1100" dirty="0"/>
          </a:p>
        </p:txBody>
      </p:sp>
      <p:sp>
        <p:nvSpPr>
          <p:cNvPr id="17" name="Shape 15"/>
          <p:cNvSpPr/>
          <p:nvPr/>
        </p:nvSpPr>
        <p:spPr>
          <a:xfrm>
            <a:off x="685800" y="5440680"/>
            <a:ext cx="3474720" cy="310896"/>
          </a:xfrm>
          <a:prstGeom prst="roundRect">
            <a:avLst>
              <a:gd name="adj" fmla="val 17647"/>
            </a:avLst>
          </a:prstGeom>
          <a:solidFill>
            <a:srgbClr val="FFFFFF"/>
          </a:solidFill>
          <a:ln w="12700">
            <a:solidFill>
              <a:srgbClr val="FFFFFF"/>
            </a:solidFill>
            <a:prstDash val="solid"/>
          </a:ln>
        </p:spPr>
      </p:sp>
      <p:sp>
        <p:nvSpPr>
          <p:cNvPr id="18" name="Text 16"/>
          <p:cNvSpPr txBox="1"/>
          <p:nvPr/>
        </p:nvSpPr>
        <p:spPr>
          <a:xfrm>
            <a:off x="685800" y="5440680"/>
            <a:ext cx="3474720" cy="310896"/>
          </a:xfrm>
          <a:prstGeom prst="rect">
            <a:avLst/>
          </a:prstGeom>
          <a:noFill/>
          <a:ln/>
        </p:spPr>
        <p:txBody>
          <a:bodyPr wrap="square" lIns="0" tIns="0" rIns="0" bIns="0" rtlCol="0" anchor="ctr"/>
          <a:lstStyle/>
          <a:p>
            <a:pPr algn="ctr" indent="0" marL="0">
              <a:buNone/>
            </a:pPr>
            <a:r>
              <a:rPr lang="en-US" sz="1050" b="1" dirty="0">
                <a:solidFill>
                  <a:srgbClr val="2F5D50"/>
                </a:solidFill>
                <a:latin typeface="Malgun Gothic" pitchFamily="34" charset="0"/>
                <a:ea typeface="Malgun Gothic" pitchFamily="34" charset="-122"/>
                <a:cs typeface="Malgun Gothic" pitchFamily="34" charset="-120"/>
              </a:rPr>
              <a:t>메뉴: 지도 분석 · 모델 (난방방식)</a:t>
            </a:r>
            <a:endParaRPr lang="en-US" sz="1050" dirty="0"/>
          </a:p>
        </p:txBody>
      </p:sp>
      <p:sp>
        <p:nvSpPr>
          <p:cNvPr id="19" name="Shape 17"/>
          <p:cNvSpPr/>
          <p:nvPr/>
        </p:nvSpPr>
        <p:spPr>
          <a:xfrm>
            <a:off x="457200" y="5989320"/>
            <a:ext cx="11274552" cy="411480"/>
          </a:xfrm>
          <a:prstGeom prst="roundRect">
            <a:avLst>
              <a:gd name="adj" fmla="val 13333"/>
            </a:avLst>
          </a:prstGeom>
          <a:solidFill>
            <a:srgbClr val="1F3A33"/>
          </a:solidFill>
          <a:ln w="12700">
            <a:solidFill>
              <a:srgbClr val="1F3A33"/>
            </a:solidFill>
            <a:prstDash val="solid"/>
          </a:ln>
        </p:spPr>
      </p:sp>
      <p:sp>
        <p:nvSpPr>
          <p:cNvPr id="20" name="Text 18"/>
          <p:cNvSpPr txBox="1"/>
          <p:nvPr/>
        </p:nvSpPr>
        <p:spPr>
          <a:xfrm>
            <a:off x="640080" y="5989320"/>
            <a:ext cx="10972800" cy="411480"/>
          </a:xfrm>
          <a:prstGeom prst="rect">
            <a:avLst/>
          </a:prstGeom>
          <a:noFill/>
          <a:ln/>
        </p:spPr>
        <p:txBody>
          <a:bodyPr wrap="square" lIns="0" tIns="0" rIns="0" bIns="0" rtlCol="0" anchor="ctr"/>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지역난방이면 연 약 0.26GWh, 개별난방이면 약 6.1GWh로 약 24배 → 배관 용량·공급 계약 규모가 달라짐</a:t>
            </a:r>
            <a:endParaRPr lang="en-US" sz="1250" dirty="0"/>
          </a:p>
        </p:txBody>
      </p:sp>
      <p:sp>
        <p:nvSpPr>
          <p:cNvPr id="21" name="Text 19"/>
          <p:cNvSpPr txBox="1"/>
          <p:nvPr/>
        </p:nvSpPr>
        <p:spPr>
          <a:xfrm>
            <a:off x="4572000" y="6473952"/>
            <a:ext cx="715975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지역난방 열은 지역난방 사업자가 따로 공급: 열의 탄소는 이 도구에 아직 없음 (탄소 비교에 쓰지 말 것)</a:t>
            </a:r>
            <a:endParaRPr lang="en-US" sz="900" dirty="0"/>
          </a:p>
        </p:txBody>
      </p:sp>
      <p:graphicFrame>
        <p:nvGraphicFramePr>
          <p:cNvPr id="23" name="Chart 0" descr=""/>
          <p:cNvGraphicFramePr/>
          <p:nvPr/>
        </p:nvGraphicFramePr>
        <p:xfrm>
          <a:off x="4709160" y="1325880"/>
          <a:ext cx="3840480" cy="4526280"/>
        </p:xfrm>
        <a:graphic xmlns:a="http://schemas.openxmlformats.org/drawingml/2006/main">
          <a:graphicData uri="http://schemas.openxmlformats.org/drawingml/2006/chart">
            <c:chart xmlns:c="http://schemas.openxmlformats.org/drawingml/2006/chart" r:id="rId1"/>
          </a:graphicData>
        </a:graphic>
      </p:graphicFrame>
      <p:sp>
        <p:nvSpPr>
          <p:cNvPr id="24" name="Text 20"/>
          <p:cNvSpPr txBox="1"/>
          <p:nvPr/>
        </p:nvSpPr>
        <p:spPr>
          <a:xfrm>
            <a:off x="8823960" y="1554480"/>
            <a:ext cx="2926080" cy="548640"/>
          </a:xfrm>
          <a:prstGeom prst="rect">
            <a:avLst/>
          </a:prstGeom>
          <a:noFill/>
          <a:ln/>
        </p:spPr>
        <p:txBody>
          <a:bodyPr wrap="square" lIns="0" tIns="0" rIns="0" bIns="0" rtlCol="0" anchor="t"/>
          <a:lstStyle/>
          <a:p>
            <a:pPr indent="0" marL="0">
              <a:buNone/>
            </a:pPr>
            <a:r>
              <a:rPr lang="en-US" sz="2400" b="1" dirty="0">
                <a:solidFill>
                  <a:srgbClr val="3D6FB8"/>
                </a:solidFill>
                <a:latin typeface="Malgun Gothic" pitchFamily="34" charset="0"/>
                <a:ea typeface="Malgun Gothic" pitchFamily="34" charset="-122"/>
                <a:cs typeface="Malgun Gothic" pitchFamily="34" charset="-120"/>
              </a:rPr>
              <a:t>0.26 GWh</a:t>
            </a:r>
            <a:endParaRPr lang="en-US" sz="2400" dirty="0"/>
          </a:p>
        </p:txBody>
      </p:sp>
      <p:sp>
        <p:nvSpPr>
          <p:cNvPr id="25" name="Text 21"/>
          <p:cNvSpPr txBox="1"/>
          <p:nvPr/>
        </p:nvSpPr>
        <p:spPr>
          <a:xfrm>
            <a:off x="8823960" y="2148840"/>
            <a:ext cx="2926080" cy="36576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지역난방 단지 연 가스</a:t>
            </a:r>
            <a:endParaRPr lang="en-US" sz="1100" dirty="0"/>
          </a:p>
        </p:txBody>
      </p:sp>
      <p:sp>
        <p:nvSpPr>
          <p:cNvPr id="26" name="Text 22"/>
          <p:cNvSpPr txBox="1"/>
          <p:nvPr/>
        </p:nvSpPr>
        <p:spPr>
          <a:xfrm>
            <a:off x="8823960" y="2880360"/>
            <a:ext cx="2926080" cy="548640"/>
          </a:xfrm>
          <a:prstGeom prst="rect">
            <a:avLst/>
          </a:prstGeom>
          <a:noFill/>
          <a:ln/>
        </p:spPr>
        <p:txBody>
          <a:bodyPr wrap="square" lIns="0" tIns="0" rIns="0" bIns="0" rtlCol="0" anchor="t"/>
          <a:lstStyle/>
          <a:p>
            <a:pPr indent="0" marL="0">
              <a:buNone/>
            </a:pPr>
            <a:r>
              <a:rPr lang="en-US" sz="2400" b="1" dirty="0">
                <a:solidFill>
                  <a:srgbClr val="D9913A"/>
                </a:solidFill>
                <a:latin typeface="Malgun Gothic" pitchFamily="34" charset="0"/>
                <a:ea typeface="Malgun Gothic" pitchFamily="34" charset="-122"/>
                <a:cs typeface="Malgun Gothic" pitchFamily="34" charset="-120"/>
              </a:rPr>
              <a:t>6.1 GWh</a:t>
            </a:r>
            <a:endParaRPr lang="en-US" sz="2400" dirty="0"/>
          </a:p>
        </p:txBody>
      </p:sp>
      <p:sp>
        <p:nvSpPr>
          <p:cNvPr id="27" name="Text 23"/>
          <p:cNvSpPr txBox="1"/>
          <p:nvPr/>
        </p:nvSpPr>
        <p:spPr>
          <a:xfrm>
            <a:off x="8823960" y="3474720"/>
            <a:ext cx="2926080" cy="36576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개별난방 단지 연 가스</a:t>
            </a:r>
            <a:endParaRPr lang="en-US" sz="1100" dirty="0"/>
          </a:p>
        </p:txBody>
      </p:sp>
      <p:sp>
        <p:nvSpPr>
          <p:cNvPr id="28" name="Text 24"/>
          <p:cNvSpPr txBox="1"/>
          <p:nvPr/>
        </p:nvSpPr>
        <p:spPr>
          <a:xfrm>
            <a:off x="8823960" y="4206240"/>
            <a:ext cx="2926080" cy="548640"/>
          </a:xfrm>
          <a:prstGeom prst="rect">
            <a:avLst/>
          </a:prstGeom>
          <a:noFill/>
          <a:ln/>
        </p:spPr>
        <p:txBody>
          <a:bodyPr wrap="square" lIns="0" tIns="0" rIns="0" bIns="0" rtlCol="0" anchor="t"/>
          <a:lstStyle/>
          <a:p>
            <a:pPr indent="0" marL="0">
              <a:buNone/>
            </a:pPr>
            <a:r>
              <a:rPr lang="en-US" sz="2400" b="1" dirty="0">
                <a:solidFill>
                  <a:srgbClr val="1C2622"/>
                </a:solidFill>
                <a:latin typeface="Malgun Gothic" pitchFamily="34" charset="0"/>
                <a:ea typeface="Malgun Gothic" pitchFamily="34" charset="-122"/>
                <a:cs typeface="Malgun Gothic" pitchFamily="34" charset="-120"/>
              </a:rPr>
              <a:t>약 24배</a:t>
            </a:r>
            <a:endParaRPr lang="en-US" sz="2400" dirty="0"/>
          </a:p>
        </p:txBody>
      </p:sp>
      <p:sp>
        <p:nvSpPr>
          <p:cNvPr id="29" name="Text 25"/>
          <p:cNvSpPr txBox="1"/>
          <p:nvPr/>
        </p:nvSpPr>
        <p:spPr>
          <a:xfrm>
            <a:off x="8823960" y="4800600"/>
            <a:ext cx="2926080" cy="36576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같은 연면적 8.5만㎡ 기준</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F3A33"/>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8FB0A3"/>
                </a:solidFill>
                <a:latin typeface="Malgun Gothic" pitchFamily="34" charset="0"/>
                <a:ea typeface="Malgun Gothic" pitchFamily="34" charset="-122"/>
                <a:cs typeface="Malgun Gothic" pitchFamily="34" charset="-120"/>
              </a:rPr>
              <a:t>Carbon Urban DSS 소개와 활용 · 31</a:t>
            </a:r>
            <a:endParaRPr lang="en-US" sz="900" dirty="0"/>
          </a:p>
        </p:txBody>
      </p:sp>
      <p:sp>
        <p:nvSpPr>
          <p:cNvPr id="3" name="Text 1"/>
          <p:cNvSpPr txBox="1"/>
          <p:nvPr/>
        </p:nvSpPr>
        <p:spPr>
          <a:xfrm>
            <a:off x="548640" y="822960"/>
            <a:ext cx="4572000" cy="320040"/>
          </a:xfrm>
          <a:prstGeom prst="rect">
            <a:avLst/>
          </a:prstGeom>
          <a:noFill/>
          <a:ln/>
        </p:spPr>
        <p:txBody>
          <a:bodyPr wrap="square" lIns="0" tIns="0" rIns="0" bIns="0" rtlCol="0" anchor="t"/>
          <a:lstStyle/>
          <a:p>
            <a:pPr indent="0" marL="0">
              <a:buNone/>
            </a:pPr>
            <a:r>
              <a:rPr lang="en-US" sz="1400" b="1" dirty="0">
                <a:solidFill>
                  <a:srgbClr val="A9C7BA"/>
                </a:solidFill>
                <a:latin typeface="Malgun Gothic" pitchFamily="34" charset="0"/>
                <a:ea typeface="Malgun Gothic" pitchFamily="34" charset="-122"/>
                <a:cs typeface="Malgun Gothic" pitchFamily="34" charset="-120"/>
              </a:rPr>
              <a:t>정리</a:t>
            </a:r>
            <a:endParaRPr lang="en-US" sz="1400" dirty="0"/>
          </a:p>
        </p:txBody>
      </p:sp>
      <p:sp>
        <p:nvSpPr>
          <p:cNvPr id="4" name="Text 2"/>
          <p:cNvSpPr txBox="1"/>
          <p:nvPr/>
        </p:nvSpPr>
        <p:spPr>
          <a:xfrm>
            <a:off x="548640" y="1234440"/>
            <a:ext cx="10058400" cy="1463040"/>
          </a:xfrm>
          <a:prstGeom prst="rect">
            <a:avLst/>
          </a:prstGeom>
          <a:noFill/>
          <a:ln/>
        </p:spPr>
        <p:txBody>
          <a:bodyPr wrap="square" lIns="0" tIns="0" rIns="0" bIns="0" rtlCol="0" anchor="t"/>
          <a:lstStyle/>
          <a:p>
            <a:pPr indent="0" marL="0">
              <a:lnSpc>
                <a:spcPct val="110000"/>
              </a:lnSpc>
              <a:buNone/>
            </a:pPr>
            <a:r>
              <a:rPr lang="en-US" sz="3400" b="1" dirty="0">
                <a:solidFill>
                  <a:srgbClr val="FFFFFF"/>
                </a:solidFill>
                <a:latin typeface="Malgun Gothic" pitchFamily="34" charset="0"/>
                <a:ea typeface="Malgun Gothic" pitchFamily="34" charset="-122"/>
                <a:cs typeface="Malgun Gothic" pitchFamily="34" charset="-120"/>
              </a:rPr>
              <a:t>공공데이터로,</a:t>
            </a:r>
            <a:endParaRPr lang="en-US" sz="3400" dirty="0"/>
          </a:p>
          <a:p>
            <a:pPr indent="0" marL="0">
              <a:lnSpc>
                <a:spcPct val="110000"/>
              </a:lnSpc>
              <a:buNone/>
            </a:pPr>
            <a:r>
              <a:rPr lang="en-US" sz="3400" b="1" dirty="0">
                <a:solidFill>
                  <a:srgbClr val="FFFFFF"/>
                </a:solidFill>
                <a:latin typeface="Malgun Gothic" pitchFamily="34" charset="0"/>
                <a:ea typeface="Malgun Gothic" pitchFamily="34" charset="-122"/>
                <a:cs typeface="Malgun Gothic" pitchFamily="34" charset="-120"/>
              </a:rPr>
              <a:t>근거가 붙은 숫자로 판단합니다</a:t>
            </a:r>
            <a:endParaRPr lang="en-US" sz="3400" dirty="0"/>
          </a:p>
        </p:txBody>
      </p:sp>
      <p:sp>
        <p:nvSpPr>
          <p:cNvPr id="5" name="Shape 3"/>
          <p:cNvSpPr/>
          <p:nvPr/>
        </p:nvSpPr>
        <p:spPr>
          <a:xfrm>
            <a:off x="548640" y="3017520"/>
            <a:ext cx="1097280" cy="384048"/>
          </a:xfrm>
          <a:prstGeom prst="roundRect">
            <a:avLst>
              <a:gd name="adj" fmla="val 14286"/>
            </a:avLst>
          </a:prstGeom>
          <a:solidFill>
            <a:srgbClr val="2F5D50"/>
          </a:solidFill>
          <a:ln w="12700">
            <a:solidFill>
              <a:srgbClr val="2F5D50"/>
            </a:solidFill>
            <a:prstDash val="solid"/>
          </a:ln>
        </p:spPr>
      </p:sp>
      <p:sp>
        <p:nvSpPr>
          <p:cNvPr id="6" name="Text 4"/>
          <p:cNvSpPr txBox="1"/>
          <p:nvPr/>
        </p:nvSpPr>
        <p:spPr>
          <a:xfrm>
            <a:off x="548640" y="3017520"/>
            <a:ext cx="109728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만든 것</a:t>
            </a:r>
            <a:endParaRPr lang="en-US" sz="1250" dirty="0"/>
          </a:p>
        </p:txBody>
      </p:sp>
      <p:sp>
        <p:nvSpPr>
          <p:cNvPr id="7" name="Text 5"/>
          <p:cNvSpPr txBox="1"/>
          <p:nvPr/>
        </p:nvSpPr>
        <p:spPr>
          <a:xfrm>
            <a:off x="1874520" y="3081528"/>
            <a:ext cx="9784080" cy="502920"/>
          </a:xfrm>
          <a:prstGeom prst="rect">
            <a:avLst/>
          </a:prstGeom>
          <a:noFill/>
          <a:ln/>
        </p:spPr>
        <p:txBody>
          <a:bodyPr wrap="square" lIns="0" tIns="0" rIns="0" bIns="0" rtlCol="0" anchor="t"/>
          <a:lstStyle/>
          <a:p>
            <a:pPr indent="0" marL="0">
              <a:buNone/>
            </a:pPr>
            <a:r>
              <a:rPr lang="en-US" sz="1400" dirty="0">
                <a:solidFill>
                  <a:srgbClr val="FFFFFF"/>
                </a:solidFill>
                <a:latin typeface="Malgun Gothic" pitchFamily="34" charset="0"/>
                <a:ea typeface="Malgun Gothic" pitchFamily="34" charset="-122"/>
                <a:cs typeface="Malgun Gothic" pitchFamily="34" charset="-120"/>
              </a:rPr>
              <a:t>전국 → 시·군·구 → 500m 격자·읍면동 지도, 계획안·지역 시뮬레이션, 근거가 붙은 보고서</a:t>
            </a:r>
            <a:endParaRPr lang="en-US" sz="1400" dirty="0"/>
          </a:p>
        </p:txBody>
      </p:sp>
      <p:sp>
        <p:nvSpPr>
          <p:cNvPr id="8" name="Shape 6"/>
          <p:cNvSpPr/>
          <p:nvPr/>
        </p:nvSpPr>
        <p:spPr>
          <a:xfrm>
            <a:off x="548640" y="3675888"/>
            <a:ext cx="1097280" cy="384048"/>
          </a:xfrm>
          <a:prstGeom prst="roundRect">
            <a:avLst>
              <a:gd name="adj" fmla="val 14286"/>
            </a:avLst>
          </a:prstGeom>
          <a:solidFill>
            <a:srgbClr val="2F5D50"/>
          </a:solidFill>
          <a:ln w="12700">
            <a:solidFill>
              <a:srgbClr val="2F5D50"/>
            </a:solidFill>
            <a:prstDash val="solid"/>
          </a:ln>
        </p:spPr>
      </p:sp>
      <p:sp>
        <p:nvSpPr>
          <p:cNvPr id="9" name="Text 7"/>
          <p:cNvSpPr txBox="1"/>
          <p:nvPr/>
        </p:nvSpPr>
        <p:spPr>
          <a:xfrm>
            <a:off x="548640" y="3675888"/>
            <a:ext cx="109728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데이터</a:t>
            </a:r>
            <a:endParaRPr lang="en-US" sz="1250" dirty="0"/>
          </a:p>
        </p:txBody>
      </p:sp>
      <p:sp>
        <p:nvSpPr>
          <p:cNvPr id="10" name="Text 8"/>
          <p:cNvSpPr txBox="1"/>
          <p:nvPr/>
        </p:nvSpPr>
        <p:spPr>
          <a:xfrm>
            <a:off x="1874520" y="3739896"/>
            <a:ext cx="9784080" cy="502920"/>
          </a:xfrm>
          <a:prstGeom prst="rect">
            <a:avLst/>
          </a:prstGeom>
          <a:noFill/>
          <a:ln/>
        </p:spPr>
        <p:txBody>
          <a:bodyPr wrap="square" lIns="0" tIns="0" rIns="0" bIns="0" rtlCol="0" anchor="t"/>
          <a:lstStyle/>
          <a:p>
            <a:pPr indent="0" marL="0">
              <a:buNone/>
            </a:pPr>
            <a:r>
              <a:rPr lang="en-US" sz="1400" dirty="0">
                <a:solidFill>
                  <a:srgbClr val="FFFFFF"/>
                </a:solidFill>
                <a:latin typeface="Malgun Gothic" pitchFamily="34" charset="0"/>
                <a:ea typeface="Malgun Gothic" pitchFamily="34" charset="-122"/>
                <a:cs typeface="Malgun Gothic" pitchFamily="34" charset="-120"/>
              </a:rPr>
              <a:t>전국 공식 통계(한전·인벤토리·통계청) + 지역 상세(건물 계량 에너지·대장·용도지역)</a:t>
            </a:r>
            <a:endParaRPr lang="en-US" sz="1400" dirty="0"/>
          </a:p>
        </p:txBody>
      </p:sp>
      <p:sp>
        <p:nvSpPr>
          <p:cNvPr id="11" name="Shape 9"/>
          <p:cNvSpPr/>
          <p:nvPr/>
        </p:nvSpPr>
        <p:spPr>
          <a:xfrm>
            <a:off x="548640" y="4334256"/>
            <a:ext cx="1097280" cy="384048"/>
          </a:xfrm>
          <a:prstGeom prst="roundRect">
            <a:avLst>
              <a:gd name="adj" fmla="val 14286"/>
            </a:avLst>
          </a:prstGeom>
          <a:solidFill>
            <a:srgbClr val="2F5D50"/>
          </a:solidFill>
          <a:ln w="12700">
            <a:solidFill>
              <a:srgbClr val="2F5D50"/>
            </a:solidFill>
            <a:prstDash val="solid"/>
          </a:ln>
        </p:spPr>
      </p:sp>
      <p:sp>
        <p:nvSpPr>
          <p:cNvPr id="12" name="Text 10"/>
          <p:cNvSpPr txBox="1"/>
          <p:nvPr/>
        </p:nvSpPr>
        <p:spPr>
          <a:xfrm>
            <a:off x="548640" y="4334256"/>
            <a:ext cx="109728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활용</a:t>
            </a:r>
            <a:endParaRPr lang="en-US" sz="1250" dirty="0"/>
          </a:p>
        </p:txBody>
      </p:sp>
      <p:sp>
        <p:nvSpPr>
          <p:cNvPr id="13" name="Text 11"/>
          <p:cNvSpPr txBox="1"/>
          <p:nvPr/>
        </p:nvSpPr>
        <p:spPr>
          <a:xfrm>
            <a:off x="1874520" y="4398264"/>
            <a:ext cx="9784080" cy="502920"/>
          </a:xfrm>
          <a:prstGeom prst="rect">
            <a:avLst/>
          </a:prstGeom>
          <a:noFill/>
          <a:ln/>
        </p:spPr>
        <p:txBody>
          <a:bodyPr wrap="square" lIns="0" tIns="0" rIns="0" bIns="0" rtlCol="0" anchor="t"/>
          <a:lstStyle/>
          <a:p>
            <a:pPr indent="0" marL="0">
              <a:buNone/>
            </a:pPr>
            <a:r>
              <a:rPr lang="en-US" sz="1400" dirty="0">
                <a:solidFill>
                  <a:srgbClr val="FFFFFF"/>
                </a:solidFill>
                <a:latin typeface="Malgun Gothic" pitchFamily="34" charset="0"/>
                <a:ea typeface="Malgun Gothic" pitchFamily="34" charset="-122"/>
                <a:cs typeface="Malgun Gothic" pitchFamily="34" charset="-120"/>
              </a:rPr>
              <a:t>계획안 비교·용도지역 상한·수요 예측·감축 목표·리모델링·태양광·전후 평가·전국 비교</a:t>
            </a:r>
            <a:endParaRPr lang="en-US" sz="1400" dirty="0"/>
          </a:p>
        </p:txBody>
      </p:sp>
      <p:sp>
        <p:nvSpPr>
          <p:cNvPr id="14" name="Shape 12"/>
          <p:cNvSpPr/>
          <p:nvPr/>
        </p:nvSpPr>
        <p:spPr>
          <a:xfrm>
            <a:off x="548640" y="4992624"/>
            <a:ext cx="1097280" cy="384048"/>
          </a:xfrm>
          <a:prstGeom prst="roundRect">
            <a:avLst>
              <a:gd name="adj" fmla="val 14286"/>
            </a:avLst>
          </a:prstGeom>
          <a:solidFill>
            <a:srgbClr val="2F5D50"/>
          </a:solidFill>
          <a:ln w="12700">
            <a:solidFill>
              <a:srgbClr val="2F5D50"/>
            </a:solidFill>
            <a:prstDash val="solid"/>
          </a:ln>
        </p:spPr>
      </p:sp>
      <p:sp>
        <p:nvSpPr>
          <p:cNvPr id="15" name="Text 13"/>
          <p:cNvSpPr txBox="1"/>
          <p:nvPr/>
        </p:nvSpPr>
        <p:spPr>
          <a:xfrm>
            <a:off x="548640" y="4992624"/>
            <a:ext cx="109728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다음</a:t>
            </a:r>
            <a:endParaRPr lang="en-US" sz="1250" dirty="0"/>
          </a:p>
        </p:txBody>
      </p:sp>
      <p:sp>
        <p:nvSpPr>
          <p:cNvPr id="16" name="Text 14"/>
          <p:cNvSpPr txBox="1"/>
          <p:nvPr/>
        </p:nvSpPr>
        <p:spPr>
          <a:xfrm>
            <a:off x="1874520" y="5056632"/>
            <a:ext cx="9784080" cy="502920"/>
          </a:xfrm>
          <a:prstGeom prst="rect">
            <a:avLst/>
          </a:prstGeom>
          <a:noFill/>
          <a:ln/>
        </p:spPr>
        <p:txBody>
          <a:bodyPr wrap="square" lIns="0" tIns="0" rIns="0" bIns="0" rtlCol="0" anchor="t"/>
          <a:lstStyle/>
          <a:p>
            <a:pPr indent="0" marL="0">
              <a:buNone/>
            </a:pPr>
            <a:r>
              <a:rPr lang="en-US" sz="1400" dirty="0">
                <a:solidFill>
                  <a:srgbClr val="FFFFFF"/>
                </a:solidFill>
                <a:latin typeface="Malgun Gothic" pitchFamily="34" charset="0"/>
                <a:ea typeface="Malgun Gothic" pitchFamily="34" charset="-122"/>
                <a:cs typeface="Malgun Gothic" pitchFamily="34" charset="-120"/>
              </a:rPr>
              <a:t>K-apt 과거 자료 마저 받기, 지역난방 열·가스 발열량 기준 확보, 상세 지역 늘리기</a:t>
            </a:r>
            <a:endParaRPr lang="en-US" sz="1400" dirty="0"/>
          </a:p>
        </p:txBody>
      </p:sp>
      <p:sp>
        <p:nvSpPr>
          <p:cNvPr id="17" name="Text 15"/>
          <p:cNvSpPr txBox="1"/>
          <p:nvPr/>
        </p:nvSpPr>
        <p:spPr>
          <a:xfrm>
            <a:off x="8503920" y="5669280"/>
            <a:ext cx="3200400" cy="548640"/>
          </a:xfrm>
          <a:prstGeom prst="rect">
            <a:avLst/>
          </a:prstGeom>
          <a:noFill/>
          <a:ln/>
        </p:spPr>
        <p:txBody>
          <a:bodyPr wrap="square" lIns="0" tIns="0" rIns="0" bIns="0" rtlCol="0" anchor="t"/>
          <a:lstStyle/>
          <a:p>
            <a:pPr algn="r" indent="0" marL="0">
              <a:buNone/>
            </a:pPr>
            <a:r>
              <a:rPr lang="en-US" sz="2600" b="1" dirty="0">
                <a:solidFill>
                  <a:srgbClr val="FFFFFF"/>
                </a:solidFill>
                <a:latin typeface="Malgun Gothic" pitchFamily="34" charset="0"/>
                <a:ea typeface="Malgun Gothic" pitchFamily="34" charset="-122"/>
                <a:cs typeface="Malgun Gothic" pitchFamily="34" charset="-120"/>
              </a:rPr>
              <a:t>감사합니다</a:t>
            </a:r>
            <a:endParaRPr lang="en-US" sz="2600" dirty="0"/>
          </a:p>
        </p:txBody>
      </p:sp>
      <p:sp>
        <p:nvSpPr>
          <p:cNvPr id="18" name="Text 16"/>
          <p:cNvSpPr txBox="1"/>
          <p:nvPr/>
        </p:nvSpPr>
        <p:spPr>
          <a:xfrm>
            <a:off x="548640" y="5852160"/>
            <a:ext cx="7772400" cy="320040"/>
          </a:xfrm>
          <a:prstGeom prst="rect">
            <a:avLst/>
          </a:prstGeom>
          <a:noFill/>
          <a:ln/>
        </p:spPr>
        <p:txBody>
          <a:bodyPr wrap="square" lIns="0" tIns="0" rIns="0" bIns="0" rtlCol="0" anchor="t"/>
          <a:lstStyle/>
          <a:p>
            <a:pPr indent="0" marL="0">
              <a:buNone/>
            </a:pPr>
            <a:r>
              <a:rPr lang="en-US" sz="1200" dirty="0">
                <a:solidFill>
                  <a:srgbClr val="A9C7BA"/>
                </a:solidFill>
                <a:latin typeface="Malgun Gothic" pitchFamily="34" charset="0"/>
                <a:ea typeface="Malgun Gothic" pitchFamily="34" charset="-122"/>
                <a:cs typeface="Malgun Gothic" pitchFamily="34" charset="-120"/>
              </a:rPr>
              <a:t>자세히: docs/USAGE.md · docs/ACCURACY.md · docs/NATIONWIDE_DATA.md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Carbon Urban DSS 소개와 활용</dc:title>
  <dc:subject>PptxGenJS Presentation</dc:subject>
  <dc:creator>Carbon Urban DSS 팀</dc:creator>
  <cp:lastModifiedBy>Carbon Urban DSS 팀</cp:lastModifiedBy>
  <cp:revision>1</cp:revision>
  <dcterms:created xsi:type="dcterms:W3CDTF">2026-10-01T09:32:33Z</dcterms:created>
  <dcterms:modified xsi:type="dcterms:W3CDTF">2026-10-01T09:32:33Z</dcterms:modified>
</cp:coreProperties>
</file>